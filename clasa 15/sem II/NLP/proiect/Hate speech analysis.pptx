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Maven Pro" panose="020B0604020202020204" charset="0"/>
      <p:regular r:id="rId13"/>
      <p:bold r:id="rId14"/>
    </p:embeddedFont>
    <p:embeddedFont>
      <p:font typeface="Nunito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3" d="100"/>
          <a:sy n="203" d="100"/>
        </p:scale>
        <p:origin x="59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820436e0f_0_20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4820436e0f_0_20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4820436e0f_0_2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4820436e0f_0_2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4820436e0f_0_2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4820436e0f_0_2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820436e0f_0_20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4820436e0f_0_20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820436e0f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4820436e0f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4820436e0f_0_2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4820436e0f_0_2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4820436e0f_0_2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4820436e0f_0_2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4833e4f84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4833e4f84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482f49682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482f49682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tweets_hate_speech_detec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084650"/>
            <a:ext cx="37479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HATE SPEECH ANALYSIS</a:t>
            </a:r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824000" y="2957550"/>
            <a:ext cx="3747900" cy="14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Carpineanu Alexandru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Cuciureanu Dragos-Adrian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Grigorescu Stefan-Dumitru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Gruia Gabriel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Vasile George-Cristian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CUPRINS</a:t>
            </a:r>
            <a:endParaRPr/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Alegerea dataset-ului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Tehnici de preprocesare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Extragerea feature-urilor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Modele de clasificatori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Rezultate notabile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State of the Art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Alegerea dataset-ului</a:t>
            </a:r>
            <a:endParaRPr/>
          </a:p>
        </p:txBody>
      </p:sp>
      <p:sp>
        <p:nvSpPr>
          <p:cNvPr id="290" name="Google Shape;290;p15"/>
          <p:cNvSpPr txBox="1">
            <a:spLocks noGrp="1"/>
          </p:cNvSpPr>
          <p:nvPr>
            <p:ph type="body" idx="1"/>
          </p:nvPr>
        </p:nvSpPr>
        <p:spPr>
          <a:xfrm>
            <a:off x="1303800" y="1641400"/>
            <a:ext cx="7030500" cy="29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Pentru acest task de procesare si clasificare a textelor, am ales dataset-ul </a:t>
            </a:r>
            <a:r>
              <a:rPr lang="en" u="sng">
                <a:solidFill>
                  <a:schemeClr val="hlink"/>
                </a:solidFill>
                <a:hlinkClick r:id="rId3"/>
              </a:rPr>
              <a:t>tweets_hate_speech_detection</a:t>
            </a:r>
            <a:r>
              <a:rPr lang="en"/>
              <a:t> de pe platforma HuggingFace.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Acest dataset contine </a:t>
            </a:r>
            <a:r>
              <a:rPr lang="en" i="1"/>
              <a:t>31.962</a:t>
            </a:r>
            <a:r>
              <a:rPr lang="en"/>
              <a:t> de sample-uri obtinute prin API-ul Twitter si adnotate, structurate ca </a:t>
            </a:r>
            <a:r>
              <a:rPr lang="en" i="1"/>
              <a:t>.csv</a:t>
            </a:r>
            <a:r>
              <a:rPr lang="en"/>
              <a:t> astfel: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b="1"/>
              <a:t>id</a:t>
            </a:r>
            <a:endParaRPr sz="1200"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b="1"/>
              <a:t>text</a:t>
            </a:r>
            <a:endParaRPr sz="1200" b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b="1"/>
              <a:t>label </a:t>
            </a:r>
            <a:r>
              <a:rPr lang="en" sz="1200"/>
              <a:t>  (</a:t>
            </a:r>
            <a:r>
              <a:rPr lang="en" sz="1200" b="1"/>
              <a:t>0</a:t>
            </a:r>
            <a:r>
              <a:rPr lang="en" sz="1200"/>
              <a:t> : non-hateful, </a:t>
            </a:r>
            <a:r>
              <a:rPr lang="en" sz="1200" b="1"/>
              <a:t>1</a:t>
            </a:r>
            <a:r>
              <a:rPr lang="en" sz="1200"/>
              <a:t> : hateful)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Exemplu: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145,0,so blessed to have worked with sa's best leading ladies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83,1,how the #altright uses insecurity to lure men into #whitesupremacy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Tehnici de preprocesare</a:t>
            </a:r>
            <a:endParaRPr/>
          </a:p>
        </p:txBody>
      </p:sp>
      <p:sp>
        <p:nvSpPr>
          <p:cNvPr id="296" name="Google Shape;296;p16"/>
          <p:cNvSpPr txBox="1">
            <a:spLocks noGrp="1"/>
          </p:cNvSpPr>
          <p:nvPr>
            <p:ph type="body" idx="1"/>
          </p:nvPr>
        </p:nvSpPr>
        <p:spPr>
          <a:xfrm>
            <a:off x="763975" y="1701900"/>
            <a:ext cx="42132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Tehnici de preprocesare utilizare:</a:t>
            </a:r>
            <a:endParaRPr sz="14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hyperlink</a:t>
            </a:r>
            <a:r>
              <a:rPr lang="en" sz="1200"/>
              <a:t>-urilor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referintelor la useri</a:t>
            </a:r>
            <a:r>
              <a:rPr lang="en" sz="1200"/>
              <a:t>   (‘@username’)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hashtag</a:t>
            </a:r>
            <a:r>
              <a:rPr lang="en" sz="1200"/>
              <a:t>-urilor   (‘#obama’ -&gt; ‘obama’)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literelor repetate</a:t>
            </a:r>
            <a:r>
              <a:rPr lang="en" sz="1200"/>
              <a:t>   (‘goooood’ -&gt; ‘good’)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cifrelor</a:t>
            </a:r>
            <a:endParaRPr sz="1200" i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semnelor de punctuatie</a:t>
            </a:r>
            <a:endParaRPr sz="1200" i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spatiilor   </a:t>
            </a:r>
            <a:r>
              <a:rPr lang="en" sz="1200"/>
              <a:t>(space, tab, newline)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eliminarea </a:t>
            </a:r>
            <a:r>
              <a:rPr lang="en" sz="1200" i="1"/>
              <a:t>stopwords   </a:t>
            </a:r>
            <a:r>
              <a:rPr lang="en" sz="1200"/>
              <a:t>(‘and’, ‘the’, ‘of’ etc.)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aducerea caracterelor la </a:t>
            </a:r>
            <a:r>
              <a:rPr lang="en" sz="1200" i="1"/>
              <a:t>encoding UTF-8</a:t>
            </a:r>
            <a:endParaRPr sz="1200" i="1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i="1"/>
              <a:t>lematizarea </a:t>
            </a:r>
            <a:r>
              <a:rPr lang="en" sz="1200"/>
              <a:t>cuvintelor   (‘abducting’ -&gt; ‘abduct’)</a:t>
            </a:r>
            <a:endParaRPr sz="1200"/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 b="36664"/>
          <a:stretch/>
        </p:blipFill>
        <p:spPr>
          <a:xfrm>
            <a:off x="6125450" y="1595700"/>
            <a:ext cx="2208900" cy="1216800"/>
          </a:xfrm>
          <a:prstGeom prst="roundRect">
            <a:avLst>
              <a:gd name="adj" fmla="val 2819"/>
            </a:avLst>
          </a:prstGeom>
          <a:noFill/>
          <a:ln>
            <a:noFill/>
          </a:ln>
        </p:spPr>
      </p:pic>
      <p:pic>
        <p:nvPicPr>
          <p:cNvPr id="298" name="Google Shape;298;p16"/>
          <p:cNvPicPr preferRelativeResize="0"/>
          <p:nvPr/>
        </p:nvPicPr>
        <p:blipFill rotWithShape="1">
          <a:blip r:embed="rId4">
            <a:alphaModFix/>
          </a:blip>
          <a:srcRect b="36768"/>
          <a:stretch/>
        </p:blipFill>
        <p:spPr>
          <a:xfrm>
            <a:off x="6125538" y="3300613"/>
            <a:ext cx="2208900" cy="1262400"/>
          </a:xfrm>
          <a:prstGeom prst="roundRect">
            <a:avLst>
              <a:gd name="adj" fmla="val 3259"/>
            </a:avLst>
          </a:prstGeom>
          <a:noFill/>
          <a:ln>
            <a:noFill/>
          </a:ln>
        </p:spPr>
      </p:pic>
      <p:sp>
        <p:nvSpPr>
          <p:cNvPr id="299" name="Google Shape;299;p16"/>
          <p:cNvSpPr txBox="1"/>
          <p:nvPr/>
        </p:nvSpPr>
        <p:spPr>
          <a:xfrm>
            <a:off x="6773474" y="1226400"/>
            <a:ext cx="91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Initial text</a:t>
            </a:r>
            <a:endParaRPr sz="1200" b="1" i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6773475" y="2931325"/>
            <a:ext cx="91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Clean text</a:t>
            </a:r>
            <a:endParaRPr sz="1200" b="1" i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Extragerea feature-urilor</a:t>
            </a:r>
            <a:endParaRPr/>
          </a:p>
        </p:txBody>
      </p:sp>
      <p:sp>
        <p:nvSpPr>
          <p:cNvPr id="306" name="Google Shape;306;p17"/>
          <p:cNvSpPr txBox="1">
            <a:spLocks noGrp="1"/>
          </p:cNvSpPr>
          <p:nvPr>
            <p:ph type="body" idx="1"/>
          </p:nvPr>
        </p:nvSpPr>
        <p:spPr>
          <a:xfrm>
            <a:off x="1089200" y="1990050"/>
            <a:ext cx="36450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</a:t>
            </a:r>
            <a:r>
              <a:rPr lang="en"/>
              <a:t>erm </a:t>
            </a:r>
            <a:r>
              <a:rPr lang="en" b="1"/>
              <a:t>f</a:t>
            </a:r>
            <a:r>
              <a:rPr lang="en"/>
              <a:t>requency </a:t>
            </a:r>
            <a:r>
              <a:rPr lang="en" b="1"/>
              <a:t>-</a:t>
            </a:r>
            <a:r>
              <a:rPr lang="en"/>
              <a:t> </a:t>
            </a:r>
            <a:r>
              <a:rPr lang="en" b="1"/>
              <a:t>I</a:t>
            </a:r>
            <a:r>
              <a:rPr lang="en"/>
              <a:t>nverse </a:t>
            </a:r>
            <a:r>
              <a:rPr lang="en" b="1"/>
              <a:t>d</a:t>
            </a:r>
            <a:r>
              <a:rPr lang="en"/>
              <a:t>ocument </a:t>
            </a:r>
            <a:r>
              <a:rPr lang="en" b="1"/>
              <a:t>f</a:t>
            </a:r>
            <a:r>
              <a:rPr lang="en"/>
              <a:t>requency este un mod de extragere a feature-urilor ce evalueaza importanta fiecarui cuvant din corpus, in relatie cu numarul sau de aparitii in fiecare document.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Spre exemplu, cuvinte precum ‘the’ sau ‘is’ au o importanta mult mai mica fata de ‘blacklives’ intr-un corpus de hate-speech.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Tf-Idf nu ia in considerare contextul in care regasim cuvintele in propozitie.</a:t>
            </a:r>
            <a:endParaRPr/>
          </a:p>
        </p:txBody>
      </p:sp>
      <p:sp>
        <p:nvSpPr>
          <p:cNvPr id="307" name="Google Shape;307;p17"/>
          <p:cNvSpPr txBox="1">
            <a:spLocks noGrp="1"/>
          </p:cNvSpPr>
          <p:nvPr>
            <p:ph type="body" idx="2"/>
          </p:nvPr>
        </p:nvSpPr>
        <p:spPr>
          <a:xfrm>
            <a:off x="4903650" y="1989925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</a:t>
            </a:r>
            <a:r>
              <a:rPr lang="en"/>
              <a:t>ontinuous </a:t>
            </a:r>
            <a:r>
              <a:rPr lang="en" b="1"/>
              <a:t>B</a:t>
            </a:r>
            <a:r>
              <a:rPr lang="en"/>
              <a:t>ag </a:t>
            </a:r>
            <a:r>
              <a:rPr lang="en" b="1"/>
              <a:t>o</a:t>
            </a:r>
            <a:r>
              <a:rPr lang="en"/>
              <a:t>f </a:t>
            </a:r>
            <a:r>
              <a:rPr lang="en" b="1"/>
              <a:t>W</a:t>
            </a:r>
            <a:r>
              <a:rPr lang="en"/>
              <a:t>ords este o metoda de extragere a feature-urilor ce utilizeaza o retea neuronala pre-antrenata cu 2 layere, care reconstruieste contextul cuvintelor primite ca input dupa vectorii creati in urma antrenarii.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Aceasta ajusteaza n-vectorii, astfel incat cuvintele gasite in contexte similare apar apropiate unele de altele in spatiul vectorial creat la antrenare.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2291875" y="1497650"/>
            <a:ext cx="764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Tf-Idf</a:t>
            </a:r>
            <a:endParaRPr sz="17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6195900" y="1497650"/>
            <a:ext cx="846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CBoW</a:t>
            </a:r>
            <a:endParaRPr sz="17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Modele de clasificatori</a:t>
            </a:r>
            <a:endParaRPr/>
          </a:p>
        </p:txBody>
      </p:sp>
      <p:sp>
        <p:nvSpPr>
          <p:cNvPr id="315" name="Google Shape;315;p18"/>
          <p:cNvSpPr txBox="1">
            <a:spLocks noGrp="1"/>
          </p:cNvSpPr>
          <p:nvPr>
            <p:ph type="body" idx="1"/>
          </p:nvPr>
        </p:nvSpPr>
        <p:spPr>
          <a:xfrm>
            <a:off x="1303800" y="1597875"/>
            <a:ext cx="7030500" cy="30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Multinomial Naive Bayes</a:t>
            </a:r>
            <a:r>
              <a:rPr lang="en" sz="1400" dirty="0"/>
              <a:t>	   			best f1: 62%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Ridge Classifier</a:t>
            </a:r>
            <a:r>
              <a:rPr lang="en" sz="1400" dirty="0"/>
              <a:t>   					best f1: 86%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SVC </a:t>
            </a:r>
            <a:r>
              <a:rPr lang="en" sz="1400" dirty="0"/>
              <a:t>(cu kernel ’rbf’)	   			best f1: 83%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Linear SVC</a:t>
            </a:r>
            <a:r>
              <a:rPr lang="en" sz="1400" dirty="0"/>
              <a:t>   					best f1: </a:t>
            </a:r>
            <a:r>
              <a:rPr lang="en" sz="1400" b="1" dirty="0"/>
              <a:t>88</a:t>
            </a:r>
            <a:r>
              <a:rPr lang="en" sz="1400" dirty="0"/>
              <a:t>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Gradient Boosting Classifier</a:t>
            </a:r>
            <a:r>
              <a:rPr lang="en" sz="1400" dirty="0"/>
              <a:t>   			best f1: 79%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MLP Classifier</a:t>
            </a:r>
            <a:r>
              <a:rPr lang="en" sz="1400" dirty="0"/>
              <a:t>					best f1: </a:t>
            </a:r>
            <a:r>
              <a:rPr lang="en" sz="1400" b="1" dirty="0"/>
              <a:t>88</a:t>
            </a:r>
            <a:r>
              <a:rPr lang="en" sz="1400" dirty="0"/>
              <a:t>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XGBoost</a:t>
            </a:r>
            <a:r>
              <a:rPr lang="en" sz="1400" dirty="0"/>
              <a:t>					best f1: 84%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dirty="0"/>
              <a:t>5 modele </a:t>
            </a:r>
            <a:r>
              <a:rPr lang="en" sz="1400" b="1" dirty="0"/>
              <a:t>BERT </a:t>
            </a:r>
            <a:r>
              <a:rPr lang="en" sz="1400" dirty="0"/>
              <a:t>preantrenate				best f1: 70%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Deep neural network</a:t>
            </a:r>
            <a:r>
              <a:rPr lang="en" sz="1400" dirty="0"/>
              <a:t> (antrenata pe 100 de epoci)		best f1: </a:t>
            </a:r>
            <a:r>
              <a:rPr lang="en" sz="1400" b="1" dirty="0"/>
              <a:t>83</a:t>
            </a:r>
            <a:r>
              <a:rPr lang="en" sz="1400" dirty="0"/>
              <a:t>%</a:t>
            </a: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Rezultate notabile</a:t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 rotWithShape="1">
          <a:blip r:embed="rId3">
            <a:alphaModFix/>
          </a:blip>
          <a:srcRect r="1283"/>
          <a:stretch/>
        </p:blipFill>
        <p:spPr>
          <a:xfrm>
            <a:off x="1444950" y="2526375"/>
            <a:ext cx="2801700" cy="2332200"/>
          </a:xfrm>
          <a:prstGeom prst="roundRect">
            <a:avLst>
              <a:gd name="adj" fmla="val 1775"/>
            </a:avLst>
          </a:prstGeom>
          <a:noFill/>
          <a:ln>
            <a:noFill/>
          </a:ln>
        </p:spPr>
      </p:pic>
      <p:pic>
        <p:nvPicPr>
          <p:cNvPr id="322" name="Google Shape;322;p19"/>
          <p:cNvPicPr preferRelativeResize="0"/>
          <p:nvPr/>
        </p:nvPicPr>
        <p:blipFill rotWithShape="1">
          <a:blip r:embed="rId4">
            <a:alphaModFix/>
          </a:blip>
          <a:srcRect r="1283"/>
          <a:stretch/>
        </p:blipFill>
        <p:spPr>
          <a:xfrm>
            <a:off x="4897250" y="2526375"/>
            <a:ext cx="2813700" cy="2332200"/>
          </a:xfrm>
          <a:prstGeom prst="roundRect">
            <a:avLst>
              <a:gd name="adj" fmla="val 1666"/>
            </a:avLst>
          </a:prstGeom>
          <a:noFill/>
          <a:ln>
            <a:noFill/>
          </a:ln>
        </p:spPr>
      </p:pic>
      <p:pic>
        <p:nvPicPr>
          <p:cNvPr id="323" name="Google Shape;32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350" y="1514025"/>
            <a:ext cx="2076600" cy="864900"/>
          </a:xfrm>
          <a:prstGeom prst="roundRect">
            <a:avLst>
              <a:gd name="adj" fmla="val 4795"/>
            </a:avLst>
          </a:prstGeom>
          <a:noFill/>
          <a:ln>
            <a:noFill/>
          </a:ln>
        </p:spPr>
      </p:pic>
      <p:pic>
        <p:nvPicPr>
          <p:cNvPr id="324" name="Google Shape;32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70250" y="1514025"/>
            <a:ext cx="2076600" cy="864900"/>
          </a:xfrm>
          <a:prstGeom prst="roundRect">
            <a:avLst>
              <a:gd name="adj" fmla="val 4856"/>
            </a:avLst>
          </a:prstGeom>
          <a:noFill/>
          <a:ln>
            <a:noFill/>
          </a:ln>
        </p:spPr>
      </p:pic>
      <p:cxnSp>
        <p:nvCxnSpPr>
          <p:cNvPr id="325" name="Google Shape;325;p19"/>
          <p:cNvCxnSpPr/>
          <p:nvPr/>
        </p:nvCxnSpPr>
        <p:spPr>
          <a:xfrm>
            <a:off x="4572000" y="1388050"/>
            <a:ext cx="0" cy="35604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19"/>
          <p:cNvSpPr txBox="1"/>
          <p:nvPr/>
        </p:nvSpPr>
        <p:spPr>
          <a:xfrm>
            <a:off x="1410350" y="1596975"/>
            <a:ext cx="75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Linear</a:t>
            </a:r>
            <a:br>
              <a:rPr lang="en" b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b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SVC</a:t>
            </a:r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5019050" y="1746413"/>
            <a:ext cx="6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MLP</a:t>
            </a:r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State of the Art</a:t>
            </a:r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body" idx="1"/>
          </p:nvPr>
        </p:nvSpPr>
        <p:spPr>
          <a:xfrm>
            <a:off x="1584600" y="1367225"/>
            <a:ext cx="6468900" cy="15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Pentru clasificarea datelor, am folosit un model Deep Neural Network, layerele fiind de natura 300 x 128 x 128 x 2 (300 fiind dimensiunea unui feature, iar 2 este pentru outputul binar: hate, non-hate).</a:t>
            </a:r>
            <a:endParaRPr sz="1200" dirty="0"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/>
              <a:t>Am folosit functia Adam pentru optimizarea modelului cu learning_rate = 0.001 si CrossEntropyLoss.</a:t>
            </a:r>
            <a:endParaRPr sz="1200" dirty="0"/>
          </a:p>
        </p:txBody>
      </p:sp>
      <p:pic>
        <p:nvPicPr>
          <p:cNvPr id="334" name="Google Shape;3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450" y="2892538"/>
            <a:ext cx="2416500" cy="1978500"/>
          </a:xfrm>
          <a:prstGeom prst="roundRect">
            <a:avLst>
              <a:gd name="adj" fmla="val 1748"/>
            </a:avLst>
          </a:prstGeom>
          <a:noFill/>
          <a:ln>
            <a:noFill/>
          </a:ln>
        </p:spPr>
      </p:pic>
      <p:pic>
        <p:nvPicPr>
          <p:cNvPr id="335" name="Google Shape;3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275" y="3291912"/>
            <a:ext cx="2607300" cy="1179600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Reprezentare</a:t>
            </a:r>
            <a:endParaRPr/>
          </a:p>
        </p:txBody>
      </p:sp>
      <p:pic>
        <p:nvPicPr>
          <p:cNvPr id="341" name="Google Shape;3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925" y="1597875"/>
            <a:ext cx="7162255" cy="324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Observatii</a:t>
            </a:r>
            <a:endParaRPr/>
          </a:p>
        </p:txBody>
      </p:sp>
      <p:sp>
        <p:nvSpPr>
          <p:cNvPr id="347" name="Google Shape;347;p22"/>
          <p:cNvSpPr txBox="1">
            <a:spLocks noGrp="1"/>
          </p:cNvSpPr>
          <p:nvPr>
            <p:ph type="body" idx="1"/>
          </p:nvPr>
        </p:nvSpPr>
        <p:spPr>
          <a:xfrm>
            <a:off x="1929600" y="1916600"/>
            <a:ext cx="57789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Utilizarea</a:t>
            </a:r>
            <a:r>
              <a:rPr lang="en" sz="1600" i="1"/>
              <a:t> n-gramelor</a:t>
            </a:r>
            <a:r>
              <a:rPr lang="en" sz="1600"/>
              <a:t> în TF-IDF a crescut semnificativ performanța modelelor, cu </a:t>
            </a:r>
            <a:r>
              <a:rPr lang="en" sz="1600" b="1"/>
              <a:t>~6%</a:t>
            </a:r>
            <a:endParaRPr sz="16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457200" algn="l" rt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" sz="1600"/>
              <a:t>Păstrarea conținutului </a:t>
            </a:r>
            <a:r>
              <a:rPr lang="en" sz="1600" i="1"/>
              <a:t>hashtag</a:t>
            </a:r>
            <a:r>
              <a:rPr lang="en" sz="1600"/>
              <a:t>-urilor în TF-IDF a adus o îmbunătățire de </a:t>
            </a:r>
            <a:r>
              <a:rPr lang="en" sz="1600" b="1"/>
              <a:t>~5%</a:t>
            </a:r>
            <a:r>
              <a:rPr lang="en" sz="1600"/>
              <a:t> în majoritatea modelelor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562</Words>
  <Application>Microsoft Office PowerPoint</Application>
  <PresentationFormat>On-screen Show (16:9)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Maven Pro</vt:lpstr>
      <vt:lpstr>Arial</vt:lpstr>
      <vt:lpstr>Nunito</vt:lpstr>
      <vt:lpstr>Momentum</vt:lpstr>
      <vt:lpstr>HATE SPEECH ANALYSIS</vt:lpstr>
      <vt:lpstr>CUPRINS</vt:lpstr>
      <vt:lpstr>Alegerea dataset-ului</vt:lpstr>
      <vt:lpstr>2. Tehnici de preprocesare</vt:lpstr>
      <vt:lpstr>3. Extragerea feature-urilor</vt:lpstr>
      <vt:lpstr>4. Modele de clasificatori</vt:lpstr>
      <vt:lpstr>5. Rezultate notabile</vt:lpstr>
      <vt:lpstr>6. State of the Art</vt:lpstr>
      <vt:lpstr>Reprezentare</vt:lpstr>
      <vt:lpstr>Observatii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HATE SPEECH ANALYSIS</dc:title>
  <cp:lastModifiedBy>DRAGOS ADRIAN CUCIUREANU</cp:lastModifiedBy>
  <cp:revision>2</cp:revision>
  <dcterms:modified xsi:type="dcterms:W3CDTF">2023-05-21T21:42:06Z</dcterms:modified>
</cp:coreProperties>
</file>