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6" r:id="rId9"/>
    <p:sldId id="267" r:id="rId10"/>
    <p:sldId id="268" r:id="rId11"/>
    <p:sldId id="265" r:id="rId12"/>
    <p:sldId id="269" r:id="rId13"/>
    <p:sldId id="270" r:id="rId14"/>
    <p:sldId id="274" r:id="rId15"/>
    <p:sldId id="272" r:id="rId16"/>
    <p:sldId id="275" r:id="rId17"/>
    <p:sldId id="276" r:id="rId18"/>
    <p:sldId id="277" r:id="rId19"/>
    <p:sldId id="25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xi.com/au/blog/education/blockchain/proof-of-work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2miners.com/blog/asic-vs-gpu-mining-rig-what-is-better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hashrateindex.com/blog/antminers19-profitability-price/" TargetMode="Externa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cehash.com/blog/post/the-history-of-cryptocurrency-mining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indesk.com/layer2/miningweek/2022/03/21/what-does-a-crypto-mining-farm-look-like-striking-photos-from-siberia-to-spain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blockchain.com/explorer/charts/pools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8-022-18686-8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sicminervalue.com/miners/bitmain/antminer-e9-2-4gh" TargetMode="External"/><Relationship Id="rId13" Type="http://schemas.openxmlformats.org/officeDocument/2006/relationships/hyperlink" Target="https://www.investopedia.com/terms/m/mining-pool.asp" TargetMode="External"/><Relationship Id="rId18" Type="http://schemas.openxmlformats.org/officeDocument/2006/relationships/hyperlink" Target="https://www.investopedia.com/terms/d/doublespending.asp" TargetMode="External"/><Relationship Id="rId3" Type="http://schemas.openxmlformats.org/officeDocument/2006/relationships/hyperlink" Target="https://www.investopedia.com/terms/p/proof-work.asp" TargetMode="External"/><Relationship Id="rId21" Type="http://schemas.openxmlformats.org/officeDocument/2006/relationships/hyperlink" Target="https://www.nature.com/articles/s41598-022-18686-8" TargetMode="External"/><Relationship Id="rId7" Type="http://schemas.openxmlformats.org/officeDocument/2006/relationships/hyperlink" Target="https://cruxpool.com/blog/what-is-the-nvidia-geforce-rtx-4090-gpu-hashrate/" TargetMode="External"/><Relationship Id="rId12" Type="http://schemas.openxmlformats.org/officeDocument/2006/relationships/hyperlink" Target="https://cointelegraph.com/news/what-is-a-cryptocurrency-mining-pool" TargetMode="External"/><Relationship Id="rId17" Type="http://schemas.openxmlformats.org/officeDocument/2006/relationships/hyperlink" Target="https://www.cs.cornell.edu/~ie53/publications/btcProcFC.pdf" TargetMode="External"/><Relationship Id="rId2" Type="http://schemas.openxmlformats.org/officeDocument/2006/relationships/hyperlink" Target="https://www.sts.ro/ro/articole/mecanisme-de-consens-in-blockchain" TargetMode="External"/><Relationship Id="rId16" Type="http://schemas.openxmlformats.org/officeDocument/2006/relationships/hyperlink" Target="https://medium.com/mit-media-lab-digital-currency-initiative/who-is-monitoring-mining-pools-65de79b90710" TargetMode="External"/><Relationship Id="rId20" Type="http://schemas.openxmlformats.org/officeDocument/2006/relationships/hyperlink" Target="https://en.wikipedia.org/wiki/List_of_countries_by_electricity_consump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icehash.com/blog/post/the-history-of-cryptocurrency-mining" TargetMode="External"/><Relationship Id="rId11" Type="http://schemas.openxmlformats.org/officeDocument/2006/relationships/hyperlink" Target="https://www.blockchain-council.org/bitcoin/what-are-bitcoin-farms" TargetMode="External"/><Relationship Id="rId5" Type="http://schemas.openxmlformats.org/officeDocument/2006/relationships/hyperlink" Target="https://www.investopedia.com/hash-rate-6746261" TargetMode="External"/><Relationship Id="rId15" Type="http://schemas.openxmlformats.org/officeDocument/2006/relationships/hyperlink" Target="https://cointelegraph.com/news/the-dangers-of-mining-pools-centralization-and-security-issues" TargetMode="External"/><Relationship Id="rId10" Type="http://schemas.openxmlformats.org/officeDocument/2006/relationships/hyperlink" Target="https://www.sunbirddcim.com/infographic/largest-bitcoin-mining-farms-world" TargetMode="External"/><Relationship Id="rId19" Type="http://schemas.openxmlformats.org/officeDocument/2006/relationships/hyperlink" Target="https://rmi.org/cryptocurrencys-energy-consumption-problem/" TargetMode="External"/><Relationship Id="rId4" Type="http://schemas.openxmlformats.org/officeDocument/2006/relationships/hyperlink" Target="https://www.bankrate.com/investing/what-is-bitcoin-mining/" TargetMode="External"/><Relationship Id="rId9" Type="http://schemas.openxmlformats.org/officeDocument/2006/relationships/hyperlink" Target="https://ccoingossip.com/asic-vs-gpu-mining/" TargetMode="External"/><Relationship Id="rId14" Type="http://schemas.openxmlformats.org/officeDocument/2006/relationships/hyperlink" Target="https://www.investopedia.com/tech/are-large-mining-pools-bad-cryptocurrenci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D505D-C682-4D29-B115-A0169D3964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Strategii de minare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B653C2-8BCD-4ADD-BA29-61B7148720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Vasile George-Cristian – gr. 331</a:t>
            </a:r>
          </a:p>
        </p:txBody>
      </p:sp>
    </p:spTree>
    <p:extLst>
      <p:ext uri="{BB962C8B-B14F-4D97-AF65-F5344CB8AC3E}">
        <p14:creationId xmlns:p14="http://schemas.microsoft.com/office/powerpoint/2010/main" val="2943843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BBC88-109C-44C5-8881-037A4995C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949272"/>
            <a:ext cx="10018713" cy="994508"/>
          </a:xfrm>
        </p:spPr>
        <p:txBody>
          <a:bodyPr/>
          <a:lstStyle/>
          <a:p>
            <a:pPr algn="l"/>
            <a:r>
              <a:rPr lang="en-US" dirty="0"/>
              <a:t>Cuprins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C6552-69E6-4975-AE41-708944D9F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97539"/>
            <a:ext cx="10018713" cy="3993662"/>
          </a:xfrm>
        </p:spPr>
        <p:txBody>
          <a:bodyPr anchor="ctr">
            <a:normAutofit lnSpcReduction="10000"/>
          </a:bodyPr>
          <a:lstStyle/>
          <a:p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Proof of Work</a:t>
            </a:r>
          </a:p>
          <a:p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Procesul de minare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Hardware</a:t>
            </a:r>
            <a:endParaRPr lang="ro-RO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Procesoare</a:t>
            </a:r>
          </a:p>
          <a:p>
            <a:pPr lvl="1"/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Plăci grafice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vs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Circuite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ASIC</a:t>
            </a:r>
            <a:endParaRPr lang="ro-R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Mining farms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Mining pools</a:t>
            </a:r>
          </a:p>
          <a:p>
            <a:pPr lvl="1"/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Avantaje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și dezavantaje</a:t>
            </a:r>
          </a:p>
          <a:p>
            <a:pPr lvl="1"/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Considerente privind securitatea</a:t>
            </a:r>
          </a:p>
          <a:p>
            <a:r>
              <a:rPr lang="ro-RO" sz="2200" dirty="0">
                <a:latin typeface="Calibri" panose="020F0502020204030204" pitchFamily="34" charset="0"/>
                <a:cs typeface="Calibri" panose="020F0502020204030204" pitchFamily="34" charset="0"/>
              </a:rPr>
              <a:t>Impactul minării asupra mediului</a:t>
            </a:r>
          </a:p>
        </p:txBody>
      </p:sp>
    </p:spTree>
    <p:extLst>
      <p:ext uri="{BB962C8B-B14F-4D97-AF65-F5344CB8AC3E}">
        <p14:creationId xmlns:p14="http://schemas.microsoft.com/office/powerpoint/2010/main" val="1730582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0A061-83D9-49EE-895F-16216E8A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Proof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D3D1D-1924-48A9-88A2-58707D3D9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53846"/>
            <a:ext cx="10018713" cy="3837354"/>
          </a:xfrm>
        </p:spPr>
        <p:txBody>
          <a:bodyPr/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Este un mecanism de consens 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Bazat pe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procesul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minare</a:t>
            </a:r>
            <a:endParaRPr lang="ro-RO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Descris de Harold Thomas Finney în 2004 (Reusable PoW)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Bitcoin (2009) a fost prima aplicație a mecanismului care a devenit populară</a:t>
            </a:r>
          </a:p>
        </p:txBody>
      </p:sp>
    </p:spTree>
    <p:extLst>
      <p:ext uri="{BB962C8B-B14F-4D97-AF65-F5344CB8AC3E}">
        <p14:creationId xmlns:p14="http://schemas.microsoft.com/office/powerpoint/2010/main" val="266677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oof of work example">
            <a:extLst>
              <a:ext uri="{FF2B5EF4-FFF2-40B4-BE49-F238E27FC236}">
                <a16:creationId xmlns:a16="http://schemas.microsoft.com/office/drawing/2014/main" id="{88BF7531-8E5D-4689-990F-9A6A33993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255" y="637450"/>
            <a:ext cx="71437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629ABE-68C9-433F-A46A-AF31AF0209B0}"/>
              </a:ext>
            </a:extLst>
          </p:cNvPr>
          <p:cNvSpPr txBox="1"/>
          <p:nvPr/>
        </p:nvSpPr>
        <p:spPr>
          <a:xfrm>
            <a:off x="2540913" y="5140371"/>
            <a:ext cx="7106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Surs</a:t>
            </a:r>
            <a:r>
              <a:rPr lang="ro-RO" dirty="0"/>
              <a:t>ă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https://www.axi.com/au/blog/education/blockchain/proof-of-work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326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75D15-6BE3-43AF-A70C-EDEFC97FC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98415"/>
          </a:xfrm>
        </p:spPr>
        <p:txBody>
          <a:bodyPr/>
          <a:lstStyle/>
          <a:p>
            <a:pPr algn="l"/>
            <a:r>
              <a:rPr lang="en-US" dirty="0" err="1"/>
              <a:t>Procesul</a:t>
            </a:r>
            <a:r>
              <a:rPr lang="en-US" dirty="0"/>
              <a:t> de minare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23680-F4D2-4467-9517-1E7BD70F0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56154"/>
            <a:ext cx="10018713" cy="3935046"/>
          </a:xfrm>
        </p:spPr>
        <p:txBody>
          <a:bodyPr anchor="ctr">
            <a:normAutofit fontScale="85000" lnSpcReduction="20000"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Este p</a:t>
            </a:r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rocesul de utilizare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 componente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lor</a:t>
            </a:r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 hardware specializate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rezolva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probleme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matematice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cu scopul de a valida tranzacții din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tr-un</a:t>
            </a:r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 blockchain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Scopul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minerilor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de a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ajunge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primii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la r</a:t>
            </a:r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ăspunsul corect, primind ca răsplată un număr predefinit de criptomonede</a:t>
            </a:r>
          </a:p>
          <a:p>
            <a:pPr marL="0" indent="0">
              <a:buNone/>
            </a:pPr>
            <a:endParaRPr lang="ro-RO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ro-RO" sz="2200" dirty="0">
                <a:latin typeface="Calibri" panose="020F0502020204030204" pitchFamily="34" charset="0"/>
                <a:cs typeface="Calibri" panose="020F0502020204030204" pitchFamily="34" charset="0"/>
              </a:rPr>
              <a:t>În Bitcoin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Principalul obiectiv este ghicirea unei valori nonce</a:t>
            </a:r>
          </a:p>
          <a:p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Hashul rezultat din combinarea headerului blocului cu valoarea nonce trebuie să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fie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mic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sau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egal cu </a:t>
            </a:r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un prag,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dat</a:t>
            </a:r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 de dificultatea curentă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Dificultatea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este ajustată automat, odată la 2016 blocuri minate</a:t>
            </a:r>
          </a:p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Dificultatea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ajustat</a:t>
            </a:r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ă astfel încât un bloc să fie adăugat la un interval de 10 minute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=&gt; </a:t>
            </a:r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ț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inta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de 52.560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blocuri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pe an</a:t>
            </a:r>
            <a:endParaRPr lang="ro-RO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Odată la 210.000 blocuri minate numărul de bitcoini oferiți ca răsplată </a:t>
            </a:r>
            <a:r>
              <a:rPr lang="ro-RO" sz="2000">
                <a:latin typeface="Calibri" panose="020F0502020204030204" pitchFamily="34" charset="0"/>
                <a:cs typeface="Calibri" panose="020F0502020204030204" pitchFamily="34" charset="0"/>
              </a:rPr>
              <a:t>se înjumătățesc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41140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78FD-07EB-40A0-BC4A-8D66F327E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82785"/>
          </a:xfrm>
        </p:spPr>
        <p:txBody>
          <a:bodyPr/>
          <a:lstStyle/>
          <a:p>
            <a:pPr algn="l"/>
            <a:r>
              <a:rPr lang="ro-RO" dirty="0"/>
              <a:t>Hardware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2D37E-0B06-4CD1-BB41-6C4F54B1E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789722"/>
            <a:ext cx="10018713" cy="4247663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Performan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ța componentelor se măsoară în hashrate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În funcție de rețeaua de criptomonede, componentele vor avea un hashrate diferit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Minerii trebuie să ia în considerare și alți factori, cum ar fi eficiența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Opțiuni de hardware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ro-RO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CPU – Core Processing Unit</a:t>
            </a:r>
            <a:endParaRPr lang="ro-RO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GPU – Graphics Processing Unit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ASIC – Application Specific Integrated Circuit</a:t>
            </a:r>
            <a:endParaRPr lang="ro-RO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Mining rig – ansambl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 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informatic (hardware + software) care are ca scop minarea</a:t>
            </a:r>
          </a:p>
        </p:txBody>
      </p:sp>
    </p:spTree>
    <p:extLst>
      <p:ext uri="{BB962C8B-B14F-4D97-AF65-F5344CB8AC3E}">
        <p14:creationId xmlns:p14="http://schemas.microsoft.com/office/powerpoint/2010/main" val="3528379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E9421-251C-4B94-A570-7D05B0F53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o-RO" dirty="0"/>
              <a:t>Procesoare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C7C64-FD7C-43A8-A64F-A36322DB7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518506"/>
            <a:ext cx="10387258" cy="3124201"/>
          </a:xfrm>
        </p:spPr>
        <p:txBody>
          <a:bodyPr/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La apariția Bitcoin minarea se făcea utilizând procesoare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Utilizarea a scăzut drastic odată cu apariția primului GPU miner (circa 2010)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Sunt mai complicat de utilizat în paralel în componența unui Mining Rig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Unele criptomonede au algoritmi optimizați pentru CPU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–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 Ex.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Monero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1528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43206-67F5-42D0-A8BE-7F33ABAD5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881185"/>
          </a:xfrm>
        </p:spPr>
        <p:txBody>
          <a:bodyPr/>
          <a:lstStyle/>
          <a:p>
            <a:r>
              <a:rPr lang="en-US" dirty="0"/>
              <a:t>Pl</a:t>
            </a:r>
            <a:r>
              <a:rPr lang="ro-RO" dirty="0"/>
              <a:t>ăci grafice vs. circuite ASIC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DA64B-6E38-47A1-B67D-A67F0A0DD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2178" y="1697240"/>
            <a:ext cx="4607188" cy="576262"/>
          </a:xfrm>
        </p:spPr>
        <p:txBody>
          <a:bodyPr/>
          <a:lstStyle/>
          <a:p>
            <a:r>
              <a:rPr lang="ro-RO" dirty="0"/>
              <a:t>GPU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1408C-CFC2-4C12-8F08-F681A1412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4311" y="2352430"/>
            <a:ext cx="4895056" cy="3819769"/>
          </a:xfrm>
        </p:spPr>
        <p:txBody>
          <a:bodyPr>
            <a:normAutofit fontScale="85000" lnSpcReduction="10000"/>
          </a:bodyPr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Preț mai mic 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În teorie, pot mina orice criptomonedă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Pot fi folosite și în ansamblul unui Desktop PC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Pot fi revândute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Consumă mai puțin curent (50 - 450W) dar sunt mai ineficiente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Necesită un ansamblu complet pentru a mina (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CPU, RAM, etc.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Pot fi combinate 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în ansamble de 6, 8 sau chiar 12 plăci grafice într-un singur Mining Rig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Înainte de trecerea Ethereum la PoS, cea mai puternică placă grafică – Nvidia RTX 4090 - avea un hashrate de 127 Mh/s la 250W</a:t>
            </a:r>
          </a:p>
          <a:p>
            <a:pPr marL="0" indent="0">
              <a:buNone/>
            </a:pPr>
            <a:endParaRPr lang="ro-RO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o-RO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o-RO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0C2B7C-2FB8-431E-87DE-3BF3565440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80486" y="1705707"/>
            <a:ext cx="4622537" cy="576262"/>
          </a:xfrm>
        </p:spPr>
        <p:txBody>
          <a:bodyPr/>
          <a:lstStyle/>
          <a:p>
            <a:r>
              <a:rPr lang="ro-RO" dirty="0"/>
              <a:t>ASIC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A9E24-92F9-4CC5-80B4-BC49B0DD83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1875" y="2352430"/>
            <a:ext cx="4895056" cy="3892061"/>
          </a:xfrm>
        </p:spPr>
        <p:txBody>
          <a:bodyPr>
            <a:normAutofit fontScale="85000" lnSpcReduction="10000"/>
          </a:bodyPr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Preț ridicat (min. $2000)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Pot mina o singură monedă, de obicei Bitcoin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În prezent, cel mai puternic ASIC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– Antminer S19 Pro – are un hashrate de 110 Th/s (Bitcoin)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Devin redunante la apariția unei noi generații de ASIC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Consumă mai mult curent (Ex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Antminer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S19 Pro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consum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ă 3250W)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Sunt mai eficiente (hashrate mai mare relativ la consum)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Generează mai multă căldură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Ocupă mai puțin spațiu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Înainte de trecerea Ethereum la PoS, cel mai puternic ASIC – Antminer E9 - avea un hashrate de 2.4 Gh/s la 1920W</a:t>
            </a:r>
          </a:p>
          <a:p>
            <a:endParaRPr lang="ro-RO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168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E43F5734-8F81-4535-863E-7C11545CEC5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759" y="965200"/>
            <a:ext cx="4894262" cy="367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A0B08A-25AC-44B0-A2B4-598E00C19F70}"/>
              </a:ext>
            </a:extLst>
          </p:cNvPr>
          <p:cNvSpPr txBox="1"/>
          <p:nvPr/>
        </p:nvSpPr>
        <p:spPr>
          <a:xfrm>
            <a:off x="1506966" y="4974492"/>
            <a:ext cx="4895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GPU mining rig </a:t>
            </a:r>
            <a:br>
              <a:rPr lang="ro-RO" dirty="0"/>
            </a:br>
            <a:r>
              <a:rPr lang="ro-RO" dirty="0"/>
              <a:t>Sursă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https://2miners.com/blog/asic-vs-gpu-mining-rig-what-is-better/</a:t>
            </a:r>
            <a:endParaRPr lang="en-US" dirty="0"/>
          </a:p>
        </p:txBody>
      </p:sp>
      <p:pic>
        <p:nvPicPr>
          <p:cNvPr id="4100" name="Picture 4" descr="Antminer S19 Series Profitability and Price Guide">
            <a:extLst>
              <a:ext uri="{FF2B5EF4-FFF2-40B4-BE49-F238E27FC236}">
                <a16:creationId xmlns:a16="http://schemas.microsoft.com/office/drawing/2014/main" id="{4645F240-CFDE-42D1-B563-AE751C9A30F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898" y="965199"/>
            <a:ext cx="4895850" cy="3670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D6EC35-3160-4C01-BCC8-1D0E1E7A487D}"/>
              </a:ext>
            </a:extLst>
          </p:cNvPr>
          <p:cNvSpPr txBox="1"/>
          <p:nvPr/>
        </p:nvSpPr>
        <p:spPr>
          <a:xfrm>
            <a:off x="6584462" y="4974492"/>
            <a:ext cx="4930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Antminer S19 Pro</a:t>
            </a:r>
            <a:r>
              <a:rPr lang="en-US" dirty="0"/>
              <a:t> ASIC</a:t>
            </a:r>
            <a:br>
              <a:rPr lang="ro-RO" dirty="0"/>
            </a:br>
            <a:r>
              <a:rPr lang="ro-RO" dirty="0"/>
              <a:t>Sursă</a:t>
            </a:r>
            <a:r>
              <a:rPr lang="en-US" dirty="0"/>
              <a:t> - </a:t>
            </a:r>
            <a:r>
              <a:rPr lang="en-US" dirty="0">
                <a:hlinkClick r:id="rId5"/>
              </a:rPr>
              <a:t>https://hashrateindex.com/blog/antminers19-profitability-price/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29987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D8419CA0-7A4D-4FC3-B53F-B86B0285D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727" y="1718348"/>
            <a:ext cx="9683262" cy="342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BFF210-C495-4197-B112-F95C0073CD5F}"/>
              </a:ext>
            </a:extLst>
          </p:cNvPr>
          <p:cNvSpPr txBox="1"/>
          <p:nvPr/>
        </p:nvSpPr>
        <p:spPr>
          <a:xfrm>
            <a:off x="1921727" y="5447324"/>
            <a:ext cx="7997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Sursă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https://www.nicehash.com/blog/post/the-history-of-cryptocurrency-mining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1B95D7-CF33-4AF2-B19E-C2EF8660EAC1}"/>
              </a:ext>
            </a:extLst>
          </p:cNvPr>
          <p:cNvSpPr txBox="1"/>
          <p:nvPr/>
        </p:nvSpPr>
        <p:spPr>
          <a:xfrm>
            <a:off x="1921727" y="994592"/>
            <a:ext cx="5798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Profitabilitatea</a:t>
            </a:r>
            <a:r>
              <a:rPr lang="en-US" sz="2800" dirty="0"/>
              <a:t> min</a:t>
            </a:r>
            <a:r>
              <a:rPr lang="ro-RO" sz="2800" dirty="0"/>
              <a:t>ării cu plăci grafice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72423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11BC0-69B3-4B4F-97ED-F7FB2FA2A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72662"/>
          </a:xfrm>
        </p:spPr>
        <p:txBody>
          <a:bodyPr/>
          <a:lstStyle/>
          <a:p>
            <a:pPr algn="l"/>
            <a:r>
              <a:rPr lang="ro-RO" dirty="0"/>
              <a:t>Mining farms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859BB-0807-4CD3-9267-FDA6D2378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83509"/>
            <a:ext cx="10018713" cy="4247660"/>
          </a:xfrm>
        </p:spPr>
        <p:txBody>
          <a:bodyPr/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Sunt facilități care conțin un număr ridicat de mining rig-uri (de ordinul miilor)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legate 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în rețea care au ca scop minarea de criptomonede.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Câteva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ferme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 notabile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Dalian, China –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Hashrate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de 360 Ph,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consum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ă energie de 1.2 mil de dolari, minează aprox. 3% din totalul de Bitcoin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Bitfury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 Amsterdam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 Olanda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– A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minat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500.000 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Bitcoin de la deschidere (2011)</a:t>
            </a:r>
          </a:p>
          <a:p>
            <a:pPr lvl="1"/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Moscova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Rusia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– 38 Ph,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mineaz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ă 600 Bitcoin pe lună</a:t>
            </a:r>
          </a:p>
        </p:txBody>
      </p:sp>
    </p:spTree>
    <p:extLst>
      <p:ext uri="{BB962C8B-B14F-4D97-AF65-F5344CB8AC3E}">
        <p14:creationId xmlns:p14="http://schemas.microsoft.com/office/powerpoint/2010/main" val="276221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2" name="Picture 8" descr="CoinDesk - Unknown">
            <a:extLst>
              <a:ext uri="{FF2B5EF4-FFF2-40B4-BE49-F238E27FC236}">
                <a16:creationId xmlns:a16="http://schemas.microsoft.com/office/drawing/2014/main" id="{954B2A40-9851-402A-82D1-9D300EE25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173" y="508000"/>
            <a:ext cx="4170485" cy="556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A01305-089D-4188-BCC6-A3F57A48EE8F}"/>
              </a:ext>
            </a:extLst>
          </p:cNvPr>
          <p:cNvSpPr txBox="1"/>
          <p:nvPr/>
        </p:nvSpPr>
        <p:spPr>
          <a:xfrm>
            <a:off x="6263826" y="567335"/>
            <a:ext cx="533800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Poz</a:t>
            </a:r>
            <a:r>
              <a:rPr lang="ro-RO" dirty="0"/>
              <a:t>ă din interiorul fermei Bitfarms Cowansville, Canada</a:t>
            </a:r>
            <a:br>
              <a:rPr lang="en-US" dirty="0"/>
            </a:br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br>
              <a:rPr lang="en-US" dirty="0"/>
            </a:br>
            <a:r>
              <a:rPr lang="ro-RO" dirty="0"/>
              <a:t>Sursă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https://www.coindesk.com/layer2/miningweek/2022/03/21/what-does-a-crypto-mining-farm-look-like-striking-photos-from-siberia-to-spain/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955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6ABDF-B5E3-4EAE-B5BA-C78D3BA1A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97280"/>
          </a:xfrm>
        </p:spPr>
        <p:txBody>
          <a:bodyPr/>
          <a:lstStyle/>
          <a:p>
            <a:pPr algn="l"/>
            <a:r>
              <a:rPr lang="en-US" dirty="0"/>
              <a:t>Mining pools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69180-F061-4566-958A-014987F43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91056"/>
            <a:ext cx="10018713" cy="420014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o-RO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Sunt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grup</a:t>
            </a:r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ă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mineri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individuali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care</a:t>
            </a:r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-și combină resursele hardware pentru a mina</a:t>
            </a:r>
          </a:p>
          <a:p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Pool-ul setează o dificultate, mai scăzută decât cea necesitată de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ătre rețeaua țintă</a:t>
            </a:r>
          </a:p>
          <a:p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Când un miner prezintă un PoW parțial (satisface dificultatea pool-ului) îi este asignat un share</a:t>
            </a:r>
          </a:p>
          <a:p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Majoritatea sunt coordonate de către un operator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âteva tipuri de pool-uri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Propor</a:t>
            </a:r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ționale – cele mai comune – fiecare miner este răsplătit proporțional cu numărul de share-uri deținute atunci când un bloc este adăugat</a:t>
            </a:r>
          </a:p>
          <a:p>
            <a:pPr lvl="1"/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Pay per share – minerii își pot încasa share-urile oricând, indiferent dacă un bloc a fost găsit sau nu</a:t>
            </a:r>
          </a:p>
          <a:p>
            <a:pPr lvl="1"/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Peer 2 peer – mining pool decentralizat, în care minerii comunică printr-un protocol P2P</a:t>
            </a:r>
          </a:p>
          <a:p>
            <a:pPr lvl="1"/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Solo – răsplata ajunge exclusiv la cel care a minat blocul</a:t>
            </a:r>
          </a:p>
          <a:p>
            <a:r>
              <a:rPr lang="ro-RO" sz="1600" dirty="0">
                <a:latin typeface="Calibri" panose="020F0502020204030204" pitchFamily="34" charset="0"/>
                <a:cs typeface="Calibri" panose="020F0502020204030204" pitchFamily="34" charset="0"/>
              </a:rPr>
              <a:t>Primul mining pool a fost SlushPool, lansat în noiembrie 2010</a:t>
            </a:r>
          </a:p>
        </p:txBody>
      </p:sp>
    </p:spTree>
    <p:extLst>
      <p:ext uri="{BB962C8B-B14F-4D97-AF65-F5344CB8AC3E}">
        <p14:creationId xmlns:p14="http://schemas.microsoft.com/office/powerpoint/2010/main" val="3868242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25164-BBE1-46DA-BE22-BBB07A07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o-RO" dirty="0"/>
              <a:t>Mining pools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34672-1096-41C1-AB9A-A47CC7F5C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Avantaje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19C38-6BB1-4ECF-BC5E-A456C3B155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o-RO" dirty="0"/>
              <a:t>Permit minarea cu echipament hardware mai ieftin</a:t>
            </a:r>
          </a:p>
          <a:p>
            <a:r>
              <a:rPr lang="ro-RO" dirty="0"/>
              <a:t>Reduc riscul și măresc frecvența răsplatelor</a:t>
            </a:r>
          </a:p>
          <a:p>
            <a:r>
              <a:rPr lang="ro-RO" dirty="0"/>
              <a:t>Pot reduce problemele de conexiune (latența)</a:t>
            </a:r>
            <a:endParaRPr lang="en-US" dirty="0"/>
          </a:p>
          <a:p>
            <a:endParaRPr lang="ro-RO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933C04-4F4A-459B-8A2B-A1D8DA06F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/>
              <a:t>Dezavantaje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BA87B0-362A-47E0-9AAF-69773293367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ro-RO" dirty="0"/>
              <a:t>Membri renunță la un procent din câștig</a:t>
            </a:r>
          </a:p>
          <a:p>
            <a:r>
              <a:rPr lang="ro-RO" dirty="0"/>
              <a:t>Membri nu au control asupra conținutului blocului minat</a:t>
            </a:r>
          </a:p>
          <a:p>
            <a:r>
              <a:rPr lang="ro-RO" dirty="0"/>
              <a:t>Pool-urile coord. de către un operator pot diminua decentralizarea</a:t>
            </a:r>
          </a:p>
          <a:p>
            <a:r>
              <a:rPr lang="ro-RO" dirty="0"/>
              <a:t>Cauzează creșterea consumului de energie la nivel</a:t>
            </a:r>
            <a:r>
              <a:rPr lang="en-US" dirty="0"/>
              <a:t> global (direct </a:t>
            </a:r>
            <a:r>
              <a:rPr lang="ro-RO" dirty="0"/>
              <a:t>și indirect)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512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5F4688-CABD-4646-93CC-D42CC6BEF92F}"/>
              </a:ext>
            </a:extLst>
          </p:cNvPr>
          <p:cNvSpPr txBox="1"/>
          <p:nvPr/>
        </p:nvSpPr>
        <p:spPr>
          <a:xfrm>
            <a:off x="3301450" y="5802256"/>
            <a:ext cx="558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Sursă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https://www.blockchain.com/explorer/charts/pools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01068-BC14-4E71-8000-3644972B4CE5}"/>
              </a:ext>
            </a:extLst>
          </p:cNvPr>
          <p:cNvSpPr txBox="1"/>
          <p:nvPr/>
        </p:nvSpPr>
        <p:spPr>
          <a:xfrm>
            <a:off x="2890715" y="590221"/>
            <a:ext cx="64105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Num</a:t>
            </a:r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ărul de blocuri minate de către cele mai mari pool-uri în perioada 1.04.2023 – 10.04.2023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4DD70F-C09B-4094-9E77-6584B92AD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560" y="1674939"/>
            <a:ext cx="6310880" cy="399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316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8B622-EA70-4917-8022-5786AAE55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32688"/>
          </a:xfrm>
        </p:spPr>
        <p:txBody>
          <a:bodyPr>
            <a:normAutofit fontScale="90000"/>
          </a:bodyPr>
          <a:lstStyle/>
          <a:p>
            <a:pPr algn="l"/>
            <a:r>
              <a:rPr lang="ro-RO" dirty="0"/>
              <a:t>Mining pools – Considerente privind securitatea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0D585-DB97-41AA-BFDE-B80FC8190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46503"/>
            <a:ext cx="10018713" cy="4425695"/>
          </a:xfrm>
        </p:spPr>
        <p:txBody>
          <a:bodyPr>
            <a:normAutofit lnSpcReduction="10000"/>
          </a:bodyPr>
          <a:lstStyle/>
          <a:p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Membri pot fi impactați de o breșă de securitate în rețeaua operatorului</a:t>
            </a:r>
          </a:p>
          <a:p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Nu există o autoritate care să monitorizeze activitatea pool-urilor</a:t>
            </a:r>
          </a:p>
          <a:p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Membrii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nu</a:t>
            </a:r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 primesc informații despre ce minează, ci doar headerul blocului</a:t>
            </a:r>
          </a:p>
          <a:p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Un operator rău intenționat ar putea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Să redirecționeze puterea de procesare a minerilor către altă criptomonedă</a:t>
            </a:r>
          </a:p>
          <a:p>
            <a:pPr lvl="1"/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Să lanseze atacuri precum double-spending și selfish mining folosindu-se de hardware-ul membrilor</a:t>
            </a:r>
          </a:p>
          <a:p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Double spending – utilizarea duplicată a aceleiași monede</a:t>
            </a:r>
          </a:p>
          <a:p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Selfish mining – o entitate poate încerca manipularea rețelei prin ascunderea și dezvăluirea strategică a unui lanț de blocuri</a:t>
            </a:r>
          </a:p>
          <a:p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O altă problemă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poate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fi</a:t>
            </a:r>
            <a:r>
              <a:rPr lang="ro-RO" sz="2000" dirty="0">
                <a:latin typeface="Calibri" panose="020F0502020204030204" pitchFamily="34" charset="0"/>
                <a:cs typeface="Calibri" panose="020F0502020204030204" pitchFamily="34" charset="0"/>
              </a:rPr>
              <a:t> amplasarea geopolitică a operatorilor majori în țări precum China</a:t>
            </a:r>
          </a:p>
        </p:txBody>
      </p:sp>
    </p:spTree>
    <p:extLst>
      <p:ext uri="{BB962C8B-B14F-4D97-AF65-F5344CB8AC3E}">
        <p14:creationId xmlns:p14="http://schemas.microsoft.com/office/powerpoint/2010/main" val="2692283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B6B46-073F-40BE-A6B5-9FDAD73ED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60120"/>
          </a:xfrm>
        </p:spPr>
        <p:txBody>
          <a:bodyPr/>
          <a:lstStyle/>
          <a:p>
            <a:pPr algn="l"/>
            <a:r>
              <a:rPr lang="ro-RO" dirty="0"/>
              <a:t>Impactul minării asupra mediului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5475A-634A-40EA-BA9C-87DC7A839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45921"/>
            <a:ext cx="10018713" cy="4145279"/>
          </a:xfrm>
        </p:spPr>
        <p:txBody>
          <a:bodyPr>
            <a:normAutofit lnSpcReduction="10000"/>
          </a:bodyPr>
          <a:lstStyle/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Minarea de b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itcoin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consumat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75.4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TWh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î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 2020 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(România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– 55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TWh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î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 2019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Este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estimat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c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ă doar 39% din energia folosită de minat la nivel global provine din surse sustenabile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baza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măsurii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“social cost of carbon”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fiecare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dolar echivalent în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Bitcoin au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fost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produ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și 35 de cenți în daune asupra mediului (petrol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$0.41</a:t>
            </a:r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Emisiile estimate ale minării unui singur Bitcoin au crescut de la 0.9 tone de CO2 în 2016 la 113 tone în 2021</a:t>
            </a:r>
          </a:p>
          <a:p>
            <a:r>
              <a:rPr lang="ro-RO" dirty="0">
                <a:latin typeface="Calibri" panose="020F0502020204030204" pitchFamily="34" charset="0"/>
                <a:cs typeface="Calibri" panose="020F0502020204030204" pitchFamily="34" charset="0"/>
              </a:rPr>
              <a:t>Mutarea Ethereum de la sistemul PoW la PoS a redus consumul de electricitate cu 99.9%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620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E37944-3A8D-434A-889B-74484BB94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8072" y="445008"/>
            <a:ext cx="7955856" cy="417271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859C97-E4E9-4FFF-9C2B-88230D7DCBA6}"/>
              </a:ext>
            </a:extLst>
          </p:cNvPr>
          <p:cNvSpPr txBox="1"/>
          <p:nvPr/>
        </p:nvSpPr>
        <p:spPr>
          <a:xfrm>
            <a:off x="2118071" y="5093208"/>
            <a:ext cx="7955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Sursă</a:t>
            </a:r>
            <a:r>
              <a:rPr lang="en-US" dirty="0"/>
              <a:t>: </a:t>
            </a:r>
            <a:r>
              <a:rPr lang="en-US" sz="1800" b="1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Economic estimation of Bitcoin mining’s climate damages demonstrates closer resemblance to digital crude than digital gold</a:t>
            </a:r>
            <a:r>
              <a:rPr lang="ro-RO" sz="1800" b="1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1400" b="1" i="0" dirty="0">
                <a:solidFill>
                  <a:srgbClr val="222222"/>
                </a:solidFill>
                <a:effectLst/>
                <a:latin typeface="-apple-system"/>
              </a:rPr>
              <a:t>-</a:t>
            </a:r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 Benjamin A. Jones, Andrew L. Goodkind și Robert P. Berrens</a:t>
            </a:r>
            <a:r>
              <a:rPr lang="en-US" dirty="0"/>
              <a:t> </a:t>
            </a:r>
            <a:br>
              <a:rPr lang="ro-RO" dirty="0"/>
            </a:br>
            <a:r>
              <a:rPr lang="ro-RO" dirty="0"/>
              <a:t>Link -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https://www.nature.com/articles/s41598-022-18686-8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733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51385-1D4D-4B8C-929B-D2E9A84E3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87400"/>
          </a:xfrm>
        </p:spPr>
        <p:txBody>
          <a:bodyPr/>
          <a:lstStyle/>
          <a:p>
            <a:pPr algn="l"/>
            <a:r>
              <a:rPr lang="en-US" dirty="0"/>
              <a:t>Bibliografie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8264E-F8EA-41B2-A2FF-826978C40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578709"/>
            <a:ext cx="10018713" cy="4698998"/>
          </a:xfrm>
        </p:spPr>
        <p:txBody>
          <a:bodyPr>
            <a:normAutofit fontScale="55000" lnSpcReduction="20000"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https://www.sts.ro/ro/articole/mecanisme-de-consens-in-blockchain</a:t>
            </a:r>
            <a:endParaRPr lang="ro-R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https://www.investopedia.com/terms/p/proof-work.asp</a:t>
            </a:r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, Jake Frankenfield</a:t>
            </a:r>
            <a:endParaRPr lang="ro-RO" sz="1800" dirty="0">
              <a:latin typeface="Calibri" panose="020F0502020204030204" pitchFamily="34" charset="0"/>
              <a:cs typeface="Calibri" panose="020F0502020204030204" pitchFamily="34" charset="0"/>
              <a:hlinkClick r:id="rId3"/>
            </a:endParaRPr>
          </a:p>
          <a:p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https://www.bankrate.com/investing/what-is-bitcoin-mining/</a:t>
            </a:r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, Brian Baker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https://www.investopedia.com/hash-rate-6746261</a:t>
            </a:r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, Jacob Wade</a:t>
            </a: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https://www.nicehash.com/blog/post/the-history-of-cryptocurrency-mining</a:t>
            </a:r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, Marko Tarman</a:t>
            </a:r>
          </a:p>
          <a:p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https://cruxpool.com/blog/what-is-the-nvidia-geforce-rtx-4090-gpu-hashrate/</a:t>
            </a:r>
            <a:endParaRPr lang="ro-R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https://www.asicminervalue.com/miners/bitmain/antminer-e9-2-4gh</a:t>
            </a:r>
            <a:endParaRPr lang="ro-R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https://ccoingossip.com/asic-vs-gpu-mining/</a:t>
            </a:r>
            <a:endParaRPr lang="ro-R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10"/>
              </a:rPr>
              <a:t>https://www.sunbirddcim.com/infographic/largest-bitcoin-mining-farms-world</a:t>
            </a:r>
            <a:endParaRPr lang="ro-R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11"/>
              </a:rPr>
              <a:t>https://www.blockchain-council.org/bitcoin/what-are-bitcoin-farms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12"/>
              </a:rPr>
              <a:t>https://cointelegraph.com/news/what-is-a-cryptocurrency-mining-pool</a:t>
            </a:r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, Murtuza Merchant</a:t>
            </a:r>
          </a:p>
          <a:p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  <a:hlinkClick r:id="rId13"/>
              </a:rPr>
              <a:t>https://www.investopedia.com/terms/m/mining-pool.asp</a:t>
            </a:r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, Jake Frankenfield</a:t>
            </a:r>
          </a:p>
          <a:p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  <a:hlinkClick r:id="rId14"/>
              </a:rPr>
              <a:t>https://www.investopedia.com/tech/are-large-mining-pools-bad-cryptocurrencies/</a:t>
            </a:r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, Rakesh Sharma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  <a:hlinkClick r:id="rId15"/>
              </a:rPr>
              <a:t>https://cointelegraph.com/news/the-dangers-of-mining-pools-centralization-and-security-issues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Dean Chester</a:t>
            </a:r>
            <a:endParaRPr lang="ro-R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  <a:hlinkClick r:id="rId16"/>
              </a:rPr>
              <a:t>https://medium.com/mit-media-lab-digital-currency-initiative/who-is-monitoring-mining-pools-65de79b90710</a:t>
            </a:r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, Gert-Jaap Glasbergen</a:t>
            </a:r>
          </a:p>
          <a:p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  <a:hlinkClick r:id="rId17"/>
              </a:rPr>
              <a:t>https://www.cs.cornell.edu/~ie53/publications/btcProcFC.pdf</a:t>
            </a:r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1400" dirty="0"/>
              <a:t> </a:t>
            </a:r>
            <a:r>
              <a:rPr lang="ro-RO" sz="1400" dirty="0"/>
              <a:t> </a:t>
            </a:r>
            <a:r>
              <a:rPr 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Majority is not Enough: Bitcoin Mining is Vulnerable</a:t>
            </a:r>
            <a:r>
              <a:rPr lang="ro-RO" sz="1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1400" dirty="0"/>
              <a:t>-</a:t>
            </a:r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 Ittay Eyal și Emin Gun Sirer</a:t>
            </a:r>
          </a:p>
          <a:p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  <a:hlinkClick r:id="rId18"/>
              </a:rPr>
              <a:t>https://www.investopedia.com/terms/d/doublespending.asp</a:t>
            </a:r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, Jake Frankenfield</a:t>
            </a:r>
          </a:p>
          <a:p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  <a:hlinkClick r:id="rId19"/>
              </a:rPr>
              <a:t>https://rmi.org/cryptocurrencys-energy-consumption-problem/</a:t>
            </a:r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, Samuel Huestis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  <a:hlinkClick r:id="rId20"/>
              </a:rPr>
              <a:t>https://en.wikipedia.org/wiki/List_of_countries_by_electricity_consumption</a:t>
            </a:r>
            <a:endParaRPr lang="ro-RO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21"/>
              </a:rPr>
              <a:t>https://www.nature.com/articles/s41598-022-18686-8</a:t>
            </a:r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Economic estimation of Bitcoin mining’s climate damages demonstrates closer resemblance to digital crude than digital gold</a:t>
            </a:r>
            <a:r>
              <a:rPr lang="ro-RO" sz="180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o-RO" sz="1400" b="1" i="0" dirty="0">
                <a:solidFill>
                  <a:srgbClr val="222222"/>
                </a:solidFill>
                <a:effectLst/>
                <a:latin typeface="-apple-system"/>
              </a:rPr>
              <a:t>-</a:t>
            </a:r>
            <a:r>
              <a:rPr lang="ro-RO" sz="1800" dirty="0">
                <a:latin typeface="Calibri" panose="020F0502020204030204" pitchFamily="34" charset="0"/>
                <a:cs typeface="Calibri" panose="020F0502020204030204" pitchFamily="34" charset="0"/>
              </a:rPr>
              <a:t> Benjamin A. Jones, Andrew L. Goodkind și Robert P. Berrens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4023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663</TotalTime>
  <Words>1554</Words>
  <Application>Microsoft Office PowerPoint</Application>
  <PresentationFormat>Widescreen</PresentationFormat>
  <Paragraphs>150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-apple-system</vt:lpstr>
      <vt:lpstr>Arial</vt:lpstr>
      <vt:lpstr>Calibri</vt:lpstr>
      <vt:lpstr>Corbel</vt:lpstr>
      <vt:lpstr>Parallax</vt:lpstr>
      <vt:lpstr>Strategii de minare</vt:lpstr>
      <vt:lpstr>Cuprins</vt:lpstr>
      <vt:lpstr>Proof of Work</vt:lpstr>
      <vt:lpstr>PowerPoint Presentation</vt:lpstr>
      <vt:lpstr>Procesul de minare</vt:lpstr>
      <vt:lpstr>Hardware</vt:lpstr>
      <vt:lpstr>Procesoare</vt:lpstr>
      <vt:lpstr>Plăci grafice vs. circuite ASIC</vt:lpstr>
      <vt:lpstr>PowerPoint Presentation</vt:lpstr>
      <vt:lpstr>PowerPoint Presentation</vt:lpstr>
      <vt:lpstr>Mining farms</vt:lpstr>
      <vt:lpstr>PowerPoint Presentation</vt:lpstr>
      <vt:lpstr>Mining pools</vt:lpstr>
      <vt:lpstr>Mining pools</vt:lpstr>
      <vt:lpstr>PowerPoint Presentation</vt:lpstr>
      <vt:lpstr>Mining pools – Considerente privind securitatea</vt:lpstr>
      <vt:lpstr>Impactul minării asupra mediului</vt:lpstr>
      <vt:lpstr>PowerPoint Presentation</vt:lpstr>
      <vt:lpstr>Bibliografie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Strategii de minare</dc:title>
  <dc:creator>Cristi Vasile</dc:creator>
  <cp:lastModifiedBy>Cristi Vasile</cp:lastModifiedBy>
  <cp:revision>61</cp:revision>
  <dcterms:created xsi:type="dcterms:W3CDTF">2023-04-09T15:05:28Z</dcterms:created>
  <dcterms:modified xsi:type="dcterms:W3CDTF">2023-04-11T16:39:30Z</dcterms:modified>
</cp:coreProperties>
</file>