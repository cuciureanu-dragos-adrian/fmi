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308" r:id="rId6"/>
    <p:sldId id="309" r:id="rId7"/>
    <p:sldId id="310" r:id="rId8"/>
    <p:sldId id="307" r:id="rId9"/>
    <p:sldId id="324" r:id="rId10"/>
    <p:sldId id="325" r:id="rId11"/>
    <p:sldId id="326" r:id="rId12"/>
    <p:sldId id="319" r:id="rId13"/>
    <p:sldId id="263" r:id="rId14"/>
    <p:sldId id="261" r:id="rId15"/>
    <p:sldId id="312" r:id="rId16"/>
    <p:sldId id="264" r:id="rId17"/>
    <p:sldId id="321" r:id="rId18"/>
    <p:sldId id="316" r:id="rId19"/>
    <p:sldId id="317" r:id="rId20"/>
    <p:sldId id="322" r:id="rId21"/>
    <p:sldId id="323" r:id="rId22"/>
    <p:sldId id="318" r:id="rId23"/>
    <p:sldId id="287" r:id="rId24"/>
    <p:sldId id="281" r:id="rId25"/>
  </p:sldIdLst>
  <p:sldSz cx="9144000" cy="5143500" type="screen16x9"/>
  <p:notesSz cx="6858000" cy="9144000"/>
  <p:embeddedFontLs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SemiBold" panose="000007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CB2A3A-DEE2-4CF2-A9E6-B3C08D4B5979}">
  <a:tblStyle styleId="{9ECB2A3A-DEE2-4CF2-A9E6-B3C08D4B59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1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dba848ff5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dba848ff5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eb1016a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eb1016a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deae4b7e19_4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deae4b7e19_4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e0358ad62b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e0358ad62b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8021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bc6d061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dbc6d061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210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eb1016a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eb1016a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249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6b0abc02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b6b0abc02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85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b6b0abc02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b6b0abc02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854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bc6d061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dbc6d061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6717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b6b0abc02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b6b0abc02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853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e0358ad62b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e0358ad62b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470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bc6d061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dbc6d061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b1016a9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b1016a9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6b0abc02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b6b0abc02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837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b6b0abc02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b6b0abc02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b6b0abc02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b6b0abc02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5837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bc6d061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dbc6d061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612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eb1016a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eb1016a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5244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eb1016a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eb1016a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513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deffb8a0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deffb8a0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deb1016a9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deb1016a9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209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7200" y="-11650"/>
            <a:ext cx="9198400" cy="51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45800" y="1143300"/>
            <a:ext cx="6452400" cy="245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198600" y="3594300"/>
            <a:ext cx="4746600" cy="40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t="29" b="19"/>
          <a:stretch/>
        </p:blipFill>
        <p:spPr>
          <a:xfrm>
            <a:off x="-27200" y="-11650"/>
            <a:ext cx="9198401" cy="51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0000" y="194834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039075" y="787325"/>
            <a:ext cx="1065900" cy="10659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031900" y="3019775"/>
            <a:ext cx="5080200" cy="48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t="29" b="19"/>
          <a:stretch/>
        </p:blipFill>
        <p:spPr>
          <a:xfrm>
            <a:off x="-23300" y="-9475"/>
            <a:ext cx="9190601" cy="51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065500"/>
            <a:ext cx="7704000" cy="3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3300" y="-13075"/>
            <a:ext cx="9209599" cy="516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l="59" r="59"/>
          <a:stretch/>
        </p:blipFill>
        <p:spPr>
          <a:xfrm>
            <a:off x="-35900" y="-13010"/>
            <a:ext cx="9198401" cy="5169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1105025" y="1402600"/>
            <a:ext cx="5395500" cy="28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9"/>
          <p:cNvPicPr preferRelativeResize="0"/>
          <p:nvPr/>
        </p:nvPicPr>
        <p:blipFill rotWithShape="1">
          <a:blip r:embed="rId2">
            <a:alphaModFix/>
          </a:blip>
          <a:srcRect t="59" b="59"/>
          <a:stretch/>
        </p:blipFill>
        <p:spPr>
          <a:xfrm>
            <a:off x="-27200" y="-11650"/>
            <a:ext cx="9198400" cy="51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1684275" y="1036950"/>
            <a:ext cx="4430100" cy="98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1684275" y="2018250"/>
            <a:ext cx="4430100" cy="2088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35151" y="-17475"/>
            <a:ext cx="9214301" cy="5178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3348500" y="1742775"/>
            <a:ext cx="192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2" hasCustomPrompt="1"/>
          </p:nvPr>
        </p:nvSpPr>
        <p:spPr>
          <a:xfrm>
            <a:off x="6312050" y="3040500"/>
            <a:ext cx="572700" cy="5727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3348500" y="2253100"/>
            <a:ext cx="192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3"/>
          </p:nvPr>
        </p:nvSpPr>
        <p:spPr>
          <a:xfrm>
            <a:off x="6235850" y="1742775"/>
            <a:ext cx="192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4"/>
          </p:nvPr>
        </p:nvSpPr>
        <p:spPr>
          <a:xfrm>
            <a:off x="6235850" y="2253100"/>
            <a:ext cx="192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5"/>
          </p:nvPr>
        </p:nvSpPr>
        <p:spPr>
          <a:xfrm>
            <a:off x="3348500" y="3608375"/>
            <a:ext cx="192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6"/>
          </p:nvPr>
        </p:nvSpPr>
        <p:spPr>
          <a:xfrm>
            <a:off x="3348500" y="4118700"/>
            <a:ext cx="1889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7"/>
          </p:nvPr>
        </p:nvSpPr>
        <p:spPr>
          <a:xfrm>
            <a:off x="6235850" y="3608375"/>
            <a:ext cx="192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8"/>
          </p:nvPr>
        </p:nvSpPr>
        <p:spPr>
          <a:xfrm>
            <a:off x="6235850" y="4118700"/>
            <a:ext cx="192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9" hasCustomPrompt="1"/>
          </p:nvPr>
        </p:nvSpPr>
        <p:spPr>
          <a:xfrm>
            <a:off x="3466250" y="3040500"/>
            <a:ext cx="572700" cy="5727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13" hasCustomPrompt="1"/>
          </p:nvPr>
        </p:nvSpPr>
        <p:spPr>
          <a:xfrm>
            <a:off x="3466250" y="1119000"/>
            <a:ext cx="572700" cy="5727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14" hasCustomPrompt="1"/>
          </p:nvPr>
        </p:nvSpPr>
        <p:spPr>
          <a:xfrm>
            <a:off x="6312050" y="1119000"/>
            <a:ext cx="572700" cy="5727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5"/>
          </p:nvPr>
        </p:nvSpPr>
        <p:spPr>
          <a:xfrm>
            <a:off x="720000" y="387600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2">
            <a:alphaModFix/>
          </a:blip>
          <a:srcRect t="59" b="59"/>
          <a:stretch/>
        </p:blipFill>
        <p:spPr>
          <a:xfrm>
            <a:off x="-35425" y="-19885"/>
            <a:ext cx="9198401" cy="516338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928425" y="2880150"/>
            <a:ext cx="43944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928425" y="1663050"/>
            <a:ext cx="4394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subTitle" idx="1"/>
          </p:nvPr>
        </p:nvSpPr>
        <p:spPr>
          <a:xfrm>
            <a:off x="720000" y="2297700"/>
            <a:ext cx="4027800" cy="1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508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720000" y="1770000"/>
            <a:ext cx="1813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 idx="2"/>
          </p:nvPr>
        </p:nvSpPr>
        <p:spPr>
          <a:xfrm>
            <a:off x="720000" y="387600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 rotWithShape="1">
          <a:blip r:embed="rId2">
            <a:alphaModFix/>
          </a:blip>
          <a:srcRect t="59" b="59"/>
          <a:stretch/>
        </p:blipFill>
        <p:spPr>
          <a:xfrm>
            <a:off x="-31175" y="-17475"/>
            <a:ext cx="9225424" cy="5178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872388" y="2505713"/>
            <a:ext cx="2206500" cy="84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1"/>
          </p:nvPr>
        </p:nvSpPr>
        <p:spPr>
          <a:xfrm>
            <a:off x="872388" y="3394925"/>
            <a:ext cx="2206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title" idx="2"/>
          </p:nvPr>
        </p:nvSpPr>
        <p:spPr>
          <a:xfrm>
            <a:off x="3468750" y="2505713"/>
            <a:ext cx="2206500" cy="8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3"/>
          </p:nvPr>
        </p:nvSpPr>
        <p:spPr>
          <a:xfrm>
            <a:off x="3468750" y="3394925"/>
            <a:ext cx="2206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title" idx="4"/>
          </p:nvPr>
        </p:nvSpPr>
        <p:spPr>
          <a:xfrm>
            <a:off x="6065088" y="2505713"/>
            <a:ext cx="2206500" cy="8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ubTitle" idx="5"/>
          </p:nvPr>
        </p:nvSpPr>
        <p:spPr>
          <a:xfrm>
            <a:off x="6065088" y="3394925"/>
            <a:ext cx="2206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0"/>
          <p:cNvPicPr preferRelativeResize="0"/>
          <p:nvPr/>
        </p:nvPicPr>
        <p:blipFill rotWithShape="1">
          <a:blip r:embed="rId2">
            <a:alphaModFix/>
          </a:blip>
          <a:srcRect t="59" b="59"/>
          <a:stretch/>
        </p:blipFill>
        <p:spPr>
          <a:xfrm>
            <a:off x="-34950" y="-19624"/>
            <a:ext cx="9232875" cy="5182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/>
          <p:nvPr/>
        </p:nvSpPr>
        <p:spPr>
          <a:xfrm>
            <a:off x="360000" y="360000"/>
            <a:ext cx="8424000" cy="4423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40776" y="-18375"/>
            <a:ext cx="9208151" cy="5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7200" y="-11650"/>
            <a:ext cx="9198400" cy="51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49551" y="-23300"/>
            <a:ext cx="9225701" cy="518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4800" y="-11650"/>
            <a:ext cx="9193601" cy="51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>
            <a:spLocks noGrp="1"/>
          </p:cNvSpPr>
          <p:nvPr>
            <p:ph type="title" hasCustomPrompt="1"/>
          </p:nvPr>
        </p:nvSpPr>
        <p:spPr>
          <a:xfrm>
            <a:off x="1989600" y="1227313"/>
            <a:ext cx="51648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5" name="Google Shape;135;p24"/>
          <p:cNvSpPr txBox="1">
            <a:spLocks noGrp="1"/>
          </p:cNvSpPr>
          <p:nvPr>
            <p:ph type="subTitle" idx="1"/>
          </p:nvPr>
        </p:nvSpPr>
        <p:spPr>
          <a:xfrm>
            <a:off x="1989600" y="2055635"/>
            <a:ext cx="5164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title" idx="2" hasCustomPrompt="1"/>
          </p:nvPr>
        </p:nvSpPr>
        <p:spPr>
          <a:xfrm>
            <a:off x="1989600" y="2642658"/>
            <a:ext cx="51648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7" name="Google Shape;137;p24"/>
          <p:cNvSpPr txBox="1">
            <a:spLocks noGrp="1"/>
          </p:cNvSpPr>
          <p:nvPr>
            <p:ph type="subTitle" idx="3"/>
          </p:nvPr>
        </p:nvSpPr>
        <p:spPr>
          <a:xfrm>
            <a:off x="1989600" y="3470981"/>
            <a:ext cx="5164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239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SemiBold"/>
              <a:buNone/>
              <a:defRPr sz="33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0" r:id="rId9"/>
    <p:sldLayoutId id="2147483664" r:id="rId10"/>
    <p:sldLayoutId id="2147483666" r:id="rId11"/>
    <p:sldLayoutId id="2147483676" r:id="rId12"/>
    <p:sldLayoutId id="2147483677" r:id="rId13"/>
    <p:sldLayoutId id="2147483678" r:id="rId14"/>
    <p:sldLayoutId id="2147483681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gfNUVmX3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ethereum.org/en/dapps/" TargetMode="External"/><Relationship Id="rId13" Type="http://schemas.openxmlformats.org/officeDocument/2006/relationships/hyperlink" Target="https://arxiv.org/pdf/2003.03052.pdf" TargetMode="External"/><Relationship Id="rId3" Type="http://schemas.openxmlformats.org/officeDocument/2006/relationships/hyperlink" Target="https://ethereum.org/en/roadmap/merge/" TargetMode="External"/><Relationship Id="rId7" Type="http://schemas.openxmlformats.org/officeDocument/2006/relationships/hyperlink" Target="https://ethereum.org/en/roadmap/danksharding/" TargetMode="External"/><Relationship Id="rId12" Type="http://schemas.openxmlformats.org/officeDocument/2006/relationships/hyperlink" Target="https://medium.com/block6/summary-of-ethereums-new-consensus-protocol-gasper-5a23131c8c74" TargetMode="External"/><Relationship Id="rId2" Type="http://schemas.openxmlformats.org/officeDocument/2006/relationships/notesSlide" Target="../notesSlides/notesSlide21.xml"/><Relationship Id="rId16" Type="http://schemas.openxmlformats.org/officeDocument/2006/relationships/hyperlink" Target="https://builtin.com/blockchain/ethereum-merge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ethereum.org/en/developers/docs/gas/" TargetMode="External"/><Relationship Id="rId11" Type="http://schemas.openxmlformats.org/officeDocument/2006/relationships/hyperlink" Target="https://ethereum.org/en/developers/docs/consensus-mechanisms/pos/gasper/" TargetMode="External"/><Relationship Id="rId5" Type="http://schemas.openxmlformats.org/officeDocument/2006/relationships/hyperlink" Target="https://ethereum.org/en/roadmap/beacon-chain/" TargetMode="External"/><Relationship Id="rId15" Type="http://schemas.openxmlformats.org/officeDocument/2006/relationships/hyperlink" Target="https://blog.ethereum.org/2022/01/24/the-great-eth2-renaming" TargetMode="External"/><Relationship Id="rId10" Type="http://schemas.openxmlformats.org/officeDocument/2006/relationships/hyperlink" Target="https://ethereum.org/en/developers/docs/consensus-mechanisms/pos/" TargetMode="External"/><Relationship Id="rId4" Type="http://schemas.openxmlformats.org/officeDocument/2006/relationships/hyperlink" Target="https://ethereum.org/en/energy-consumption/" TargetMode="External"/><Relationship Id="rId9" Type="http://schemas.openxmlformats.org/officeDocument/2006/relationships/hyperlink" Target="https://ethereum.org/en/layer-2/" TargetMode="External"/><Relationship Id="rId14" Type="http://schemas.openxmlformats.org/officeDocument/2006/relationships/hyperlink" Target="https://blog.ethereum.org/2021/11/29/how-the-merge-impacts-app-layer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>
            <a:spLocks noGrp="1"/>
          </p:cNvSpPr>
          <p:nvPr>
            <p:ph type="ctrTitle"/>
          </p:nvPr>
        </p:nvSpPr>
        <p:spPr>
          <a:xfrm>
            <a:off x="1345800" y="1001898"/>
            <a:ext cx="6452400" cy="245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Ethereum The Merge</a:t>
            </a:r>
            <a:endParaRPr dirty="0"/>
          </a:p>
        </p:txBody>
      </p:sp>
      <p:sp>
        <p:nvSpPr>
          <p:cNvPr id="173" name="Google Shape;173;p35"/>
          <p:cNvSpPr txBox="1">
            <a:spLocks noGrp="1"/>
          </p:cNvSpPr>
          <p:nvPr>
            <p:ph type="subTitle" idx="1"/>
          </p:nvPr>
        </p:nvSpPr>
        <p:spPr>
          <a:xfrm>
            <a:off x="2198700" y="3151240"/>
            <a:ext cx="4746600" cy="4059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Cuciureanu Dragos-Adrian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>
            <a:spLocks noGrp="1"/>
          </p:cNvSpPr>
          <p:nvPr>
            <p:ph type="title"/>
          </p:nvPr>
        </p:nvSpPr>
        <p:spPr>
          <a:xfrm>
            <a:off x="3122172" y="1746304"/>
            <a:ext cx="2128473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Introducere</a:t>
            </a:r>
            <a:endParaRPr dirty="0"/>
          </a:p>
        </p:txBody>
      </p:sp>
      <p:sp>
        <p:nvSpPr>
          <p:cNvPr id="185" name="Google Shape;185;p37"/>
          <p:cNvSpPr txBox="1">
            <a:spLocks noGrp="1"/>
          </p:cNvSpPr>
          <p:nvPr>
            <p:ph type="title" idx="2"/>
          </p:nvPr>
        </p:nvSpPr>
        <p:spPr>
          <a:xfrm>
            <a:off x="6312050" y="3035675"/>
            <a:ext cx="572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186" name="Google Shape;186;p37"/>
          <p:cNvSpPr txBox="1">
            <a:spLocks noGrp="1"/>
          </p:cNvSpPr>
          <p:nvPr>
            <p:ph type="subTitle" idx="1"/>
          </p:nvPr>
        </p:nvSpPr>
        <p:spPr>
          <a:xfrm>
            <a:off x="3122172" y="2253100"/>
            <a:ext cx="2411277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Definirea</a:t>
            </a:r>
            <a:r>
              <a:rPr lang="en-US" sz="1200" dirty="0"/>
              <a:t> </a:t>
            </a:r>
            <a:r>
              <a:rPr lang="en-US" sz="1200" dirty="0" err="1"/>
              <a:t>elementelor</a:t>
            </a:r>
            <a:r>
              <a:rPr lang="en-US" sz="1200" dirty="0"/>
              <a:t> </a:t>
            </a:r>
            <a:r>
              <a:rPr lang="en-US" sz="1200" dirty="0" err="1"/>
              <a:t>principale</a:t>
            </a:r>
            <a:r>
              <a:rPr lang="en-US" sz="1200" dirty="0"/>
              <a:t> ale </a:t>
            </a:r>
            <a:r>
              <a:rPr lang="en-US" sz="1200" dirty="0" err="1"/>
              <a:t>prezentarii</a:t>
            </a:r>
            <a:endParaRPr sz="1200" dirty="0"/>
          </a:p>
        </p:txBody>
      </p:sp>
      <p:sp>
        <p:nvSpPr>
          <p:cNvPr id="187" name="Google Shape;187;p37"/>
          <p:cNvSpPr txBox="1">
            <a:spLocks noGrp="1"/>
          </p:cNvSpPr>
          <p:nvPr>
            <p:ph type="title" idx="3"/>
          </p:nvPr>
        </p:nvSpPr>
        <p:spPr>
          <a:xfrm>
            <a:off x="6235850" y="1742775"/>
            <a:ext cx="192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Merge</a:t>
            </a:r>
            <a:endParaRPr dirty="0"/>
          </a:p>
        </p:txBody>
      </p:sp>
      <p:sp>
        <p:nvSpPr>
          <p:cNvPr id="188" name="Google Shape;188;p37"/>
          <p:cNvSpPr txBox="1">
            <a:spLocks noGrp="1"/>
          </p:cNvSpPr>
          <p:nvPr>
            <p:ph type="subTitle" idx="4"/>
          </p:nvPr>
        </p:nvSpPr>
        <p:spPr>
          <a:xfrm>
            <a:off x="6235850" y="2253100"/>
            <a:ext cx="1922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Partea principala a prezentarii</a:t>
            </a:r>
            <a:endParaRPr sz="1200" dirty="0"/>
          </a:p>
        </p:txBody>
      </p:sp>
      <p:sp>
        <p:nvSpPr>
          <p:cNvPr id="189" name="Google Shape;189;p37"/>
          <p:cNvSpPr txBox="1">
            <a:spLocks noGrp="1"/>
          </p:cNvSpPr>
          <p:nvPr>
            <p:ph type="title" idx="5"/>
          </p:nvPr>
        </p:nvSpPr>
        <p:spPr>
          <a:xfrm>
            <a:off x="3122172" y="3608375"/>
            <a:ext cx="2128472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What’s Next</a:t>
            </a:r>
            <a:endParaRPr dirty="0"/>
          </a:p>
        </p:txBody>
      </p:sp>
      <p:sp>
        <p:nvSpPr>
          <p:cNvPr id="190" name="Google Shape;190;p37"/>
          <p:cNvSpPr txBox="1">
            <a:spLocks noGrp="1"/>
          </p:cNvSpPr>
          <p:nvPr>
            <p:ph type="subTitle" idx="6"/>
          </p:nvPr>
        </p:nvSpPr>
        <p:spPr>
          <a:xfrm>
            <a:off x="3122172" y="4118700"/>
            <a:ext cx="2128472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/>
                </a:solidFill>
              </a:rPr>
              <a:t>Viitoare update-uri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91" name="Google Shape;191;p37"/>
          <p:cNvSpPr txBox="1">
            <a:spLocks noGrp="1"/>
          </p:cNvSpPr>
          <p:nvPr>
            <p:ph type="title" idx="7"/>
          </p:nvPr>
        </p:nvSpPr>
        <p:spPr>
          <a:xfrm>
            <a:off x="6235850" y="3608375"/>
            <a:ext cx="192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Referinte</a:t>
            </a:r>
            <a:endParaRPr dirty="0"/>
          </a:p>
        </p:txBody>
      </p:sp>
      <p:sp>
        <p:nvSpPr>
          <p:cNvPr id="192" name="Google Shape;192;p37"/>
          <p:cNvSpPr txBox="1">
            <a:spLocks noGrp="1"/>
          </p:cNvSpPr>
          <p:nvPr>
            <p:ph type="subTitle" idx="8"/>
          </p:nvPr>
        </p:nvSpPr>
        <p:spPr>
          <a:xfrm>
            <a:off x="6235850" y="4118700"/>
            <a:ext cx="1922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Linkuri catre documentatie</a:t>
            </a:r>
            <a:endParaRPr sz="1200" dirty="0"/>
          </a:p>
        </p:txBody>
      </p:sp>
      <p:sp>
        <p:nvSpPr>
          <p:cNvPr id="193" name="Google Shape;193;p37"/>
          <p:cNvSpPr txBox="1">
            <a:spLocks noGrp="1"/>
          </p:cNvSpPr>
          <p:nvPr>
            <p:ph type="title" idx="9"/>
          </p:nvPr>
        </p:nvSpPr>
        <p:spPr>
          <a:xfrm>
            <a:off x="3216440" y="3035675"/>
            <a:ext cx="572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194" name="Google Shape;194;p37"/>
          <p:cNvSpPr txBox="1">
            <a:spLocks noGrp="1"/>
          </p:cNvSpPr>
          <p:nvPr>
            <p:ph type="title" idx="13"/>
          </p:nvPr>
        </p:nvSpPr>
        <p:spPr>
          <a:xfrm>
            <a:off x="3216440" y="1035500"/>
            <a:ext cx="572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195" name="Google Shape;195;p37"/>
          <p:cNvSpPr txBox="1">
            <a:spLocks noGrp="1"/>
          </p:cNvSpPr>
          <p:nvPr>
            <p:ph type="title" idx="14"/>
          </p:nvPr>
        </p:nvSpPr>
        <p:spPr>
          <a:xfrm>
            <a:off x="6312050" y="1066687"/>
            <a:ext cx="572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196" name="Google Shape;196;p37"/>
          <p:cNvSpPr txBox="1">
            <a:spLocks noGrp="1"/>
          </p:cNvSpPr>
          <p:nvPr>
            <p:ph type="title" idx="15"/>
          </p:nvPr>
        </p:nvSpPr>
        <p:spPr>
          <a:xfrm>
            <a:off x="720000" y="387600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Agenda</a:t>
            </a:r>
            <a:endParaRPr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>
            <a:spLocks noGrp="1"/>
          </p:cNvSpPr>
          <p:nvPr>
            <p:ph type="title"/>
          </p:nvPr>
        </p:nvSpPr>
        <p:spPr>
          <a:xfrm>
            <a:off x="720000" y="194834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Introduction</a:t>
            </a:r>
            <a:endParaRPr b="1" dirty="0"/>
          </a:p>
        </p:txBody>
      </p:sp>
      <p:sp>
        <p:nvSpPr>
          <p:cNvPr id="202" name="Google Shape;202;p38"/>
          <p:cNvSpPr txBox="1">
            <a:spLocks noGrp="1"/>
          </p:cNvSpPr>
          <p:nvPr>
            <p:ph type="title" idx="2"/>
          </p:nvPr>
        </p:nvSpPr>
        <p:spPr>
          <a:xfrm>
            <a:off x="4039075" y="787325"/>
            <a:ext cx="1065900" cy="10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203" name="Google Shape;203;p38"/>
          <p:cNvSpPr txBox="1">
            <a:spLocks noGrp="1"/>
          </p:cNvSpPr>
          <p:nvPr>
            <p:ph type="subTitle" idx="1"/>
          </p:nvPr>
        </p:nvSpPr>
        <p:spPr>
          <a:xfrm>
            <a:off x="1744170" y="2907312"/>
            <a:ext cx="5655660" cy="8417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dirty="0"/>
              <a:t>Prima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o mica </a:t>
            </a:r>
            <a:r>
              <a:rPr lang="en-US" dirty="0" err="1"/>
              <a:t>introducere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definire</a:t>
            </a:r>
            <a:r>
              <a:rPr lang="en-US" dirty="0"/>
              <a:t> a </a:t>
            </a:r>
            <a:r>
              <a:rPr lang="en-US" dirty="0" err="1"/>
              <a:t>elementelor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ale </a:t>
            </a:r>
            <a:r>
              <a:rPr lang="en-US" dirty="0" err="1"/>
              <a:t>prezentarii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>
            <a:spLocks noGrp="1"/>
          </p:cNvSpPr>
          <p:nvPr>
            <p:ph type="title"/>
          </p:nvPr>
        </p:nvSpPr>
        <p:spPr>
          <a:xfrm>
            <a:off x="366495" y="312186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Ethereum</a:t>
            </a:r>
            <a:endParaRPr b="1" dirty="0"/>
          </a:p>
        </p:txBody>
      </p:sp>
      <p:sp>
        <p:nvSpPr>
          <p:cNvPr id="209" name="Google Shape;209;p39"/>
          <p:cNvSpPr txBox="1">
            <a:spLocks noGrp="1"/>
          </p:cNvSpPr>
          <p:nvPr>
            <p:ph type="body" idx="1"/>
          </p:nvPr>
        </p:nvSpPr>
        <p:spPr>
          <a:xfrm>
            <a:off x="366495" y="1171199"/>
            <a:ext cx="4493023" cy="28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>
              <a:buClr>
                <a:srgbClr val="273D40"/>
              </a:buClr>
              <a:buSzPts val="600"/>
              <a:buNone/>
            </a:pPr>
            <a:r>
              <a:rPr lang="en-US" sz="1200" dirty="0">
                <a:solidFill>
                  <a:schemeClr val="tx1"/>
                </a:solidFill>
              </a:rPr>
              <a:t>        Ethereum </a:t>
            </a:r>
            <a:r>
              <a:rPr lang="en-US" sz="1200" dirty="0" err="1">
                <a:solidFill>
                  <a:schemeClr val="tx1"/>
                </a:solidFill>
              </a:rPr>
              <a:t>este</a:t>
            </a:r>
            <a:r>
              <a:rPr lang="en-US" sz="1200" dirty="0">
                <a:solidFill>
                  <a:schemeClr val="tx1"/>
                </a:solidFill>
              </a:rPr>
              <a:t> o </a:t>
            </a:r>
            <a:r>
              <a:rPr lang="en-US" sz="1200" dirty="0" err="1">
                <a:solidFill>
                  <a:schemeClr val="tx1"/>
                </a:solidFill>
              </a:rPr>
              <a:t>platforma</a:t>
            </a:r>
            <a:r>
              <a:rPr lang="en-US" sz="1200" dirty="0">
                <a:solidFill>
                  <a:schemeClr val="tx1"/>
                </a:solidFill>
              </a:rPr>
              <a:t> blockchain open-source care a </a:t>
            </a:r>
            <a:r>
              <a:rPr lang="en-US" sz="1200" dirty="0" err="1">
                <a:solidFill>
                  <a:schemeClr val="tx1"/>
                </a:solidFill>
              </a:rPr>
              <a:t>fost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lansata</a:t>
            </a:r>
            <a:r>
              <a:rPr lang="en-US" sz="1200" dirty="0">
                <a:solidFill>
                  <a:schemeClr val="tx1"/>
                </a:solidFill>
              </a:rPr>
              <a:t> in 2015. </a:t>
            </a:r>
          </a:p>
          <a:p>
            <a:pPr marL="0" indent="0" algn="just">
              <a:buClr>
                <a:srgbClr val="273D40"/>
              </a:buClr>
              <a:buSzPts val="600"/>
              <a:buNone/>
            </a:pPr>
            <a:r>
              <a:rPr lang="en-US" sz="1200" dirty="0">
                <a:solidFill>
                  <a:schemeClr val="tx1"/>
                </a:solidFill>
              </a:rPr>
              <a:t>        </a:t>
            </a:r>
            <a:r>
              <a:rPr lang="en-US" sz="1200" dirty="0" err="1">
                <a:solidFill>
                  <a:schemeClr val="tx1"/>
                </a:solidFill>
              </a:rPr>
              <a:t>Aceasta</a:t>
            </a:r>
            <a:r>
              <a:rPr lang="en-US" sz="1200" dirty="0">
                <a:solidFill>
                  <a:schemeClr val="tx1"/>
                </a:solidFill>
              </a:rPr>
              <a:t> a </a:t>
            </a:r>
            <a:r>
              <a:rPr lang="en-US" sz="1200" dirty="0" err="1">
                <a:solidFill>
                  <a:schemeClr val="tx1"/>
                </a:solidFill>
              </a:rPr>
              <a:t>fost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creata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pentru</a:t>
            </a:r>
            <a:r>
              <a:rPr lang="en-US" sz="1200" dirty="0">
                <a:solidFill>
                  <a:schemeClr val="tx1"/>
                </a:solidFill>
              </a:rPr>
              <a:t> a </a:t>
            </a:r>
            <a:r>
              <a:rPr lang="en-US" sz="1200" dirty="0" err="1">
                <a:solidFill>
                  <a:schemeClr val="tx1"/>
                </a:solidFill>
              </a:rPr>
              <a:t>permite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dezvoltatorilor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creeze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aplicatii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descentralizate</a:t>
            </a:r>
            <a:r>
              <a:rPr lang="en-US" sz="1200" dirty="0">
                <a:solidFill>
                  <a:schemeClr val="tx1"/>
                </a:solidFill>
              </a:rPr>
              <a:t> (</a:t>
            </a:r>
            <a:r>
              <a:rPr lang="en-US" sz="1200" dirty="0" err="1">
                <a:solidFill>
                  <a:schemeClr val="tx1"/>
                </a:solidFill>
              </a:rPr>
              <a:t>dApps</a:t>
            </a:r>
            <a:r>
              <a:rPr lang="en-US" sz="1200" dirty="0">
                <a:solidFill>
                  <a:schemeClr val="tx1"/>
                </a:solidFill>
              </a:rPr>
              <a:t>), care pot fi </a:t>
            </a:r>
            <a:r>
              <a:rPr lang="en-US" sz="1200" dirty="0" err="1">
                <a:solidFill>
                  <a:schemeClr val="tx1"/>
                </a:solidFill>
              </a:rPr>
              <a:t>utilizate</a:t>
            </a:r>
            <a:r>
              <a:rPr lang="en-US" sz="1200" dirty="0">
                <a:solidFill>
                  <a:schemeClr val="tx1"/>
                </a:solidFill>
              </a:rPr>
              <a:t> in diverse </a:t>
            </a:r>
            <a:r>
              <a:rPr lang="en-US" sz="1200" dirty="0" err="1">
                <a:solidFill>
                  <a:schemeClr val="tx1"/>
                </a:solidFill>
              </a:rPr>
              <a:t>domenii</a:t>
            </a:r>
            <a:r>
              <a:rPr lang="en-US" sz="1200" dirty="0">
                <a:solidFill>
                  <a:schemeClr val="tx1"/>
                </a:solidFill>
              </a:rPr>
              <a:t>, de la </a:t>
            </a:r>
            <a:r>
              <a:rPr lang="en-US" sz="1200" dirty="0" err="1">
                <a:solidFill>
                  <a:schemeClr val="tx1"/>
                </a:solidFill>
              </a:rPr>
              <a:t>finante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pana</a:t>
            </a:r>
            <a:r>
              <a:rPr lang="en-US" sz="1200" dirty="0">
                <a:solidFill>
                  <a:schemeClr val="tx1"/>
                </a:solidFill>
              </a:rPr>
              <a:t> la </a:t>
            </a:r>
            <a:r>
              <a:rPr lang="en-US" sz="1200" dirty="0" err="1">
                <a:solidFill>
                  <a:schemeClr val="tx1"/>
                </a:solidFill>
              </a:rPr>
              <a:t>industria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jocurilor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si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contracte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inteligente</a:t>
            </a:r>
            <a:r>
              <a:rPr lang="en-US" sz="1200" dirty="0">
                <a:solidFill>
                  <a:schemeClr val="tx1"/>
                </a:solidFill>
              </a:rPr>
              <a:t>, care sunt </a:t>
            </a:r>
            <a:r>
              <a:rPr lang="en-US" sz="1200" dirty="0" err="1">
                <a:solidFill>
                  <a:schemeClr val="tx1"/>
                </a:solidFill>
              </a:rPr>
              <a:t>programe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informatice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ruleaza</a:t>
            </a:r>
            <a:r>
              <a:rPr lang="en-US" sz="1200" dirty="0">
                <a:solidFill>
                  <a:schemeClr val="tx1"/>
                </a:solidFill>
              </a:rPr>
              <a:t> pe blockchain-</a:t>
            </a:r>
            <a:r>
              <a:rPr lang="en-US" sz="1200" dirty="0" err="1">
                <a:solidFill>
                  <a:schemeClr val="tx1"/>
                </a:solidFill>
              </a:rPr>
              <a:t>ul</a:t>
            </a:r>
            <a:r>
              <a:rPr lang="en-US" sz="1200" dirty="0">
                <a:solidFill>
                  <a:schemeClr val="tx1"/>
                </a:solidFill>
              </a:rPr>
              <a:t> Ethereum </a:t>
            </a:r>
            <a:r>
              <a:rPr lang="en-US" sz="1200" dirty="0" err="1">
                <a:solidFill>
                  <a:schemeClr val="tx1"/>
                </a:solidFill>
              </a:rPr>
              <a:t>si</a:t>
            </a:r>
            <a:r>
              <a:rPr lang="en-US" sz="1200" dirty="0">
                <a:solidFill>
                  <a:schemeClr val="tx1"/>
                </a:solidFill>
              </a:rPr>
              <a:t> permit </a:t>
            </a:r>
            <a:r>
              <a:rPr lang="en-US" sz="1200" dirty="0" err="1">
                <a:solidFill>
                  <a:schemeClr val="tx1"/>
                </a:solidFill>
              </a:rPr>
              <a:t>interactiunea</a:t>
            </a:r>
            <a:r>
              <a:rPr lang="en-US" sz="1200" dirty="0">
                <a:solidFill>
                  <a:schemeClr val="tx1"/>
                </a:solidFill>
              </a:rPr>
              <a:t> cu </a:t>
            </a:r>
            <a:r>
              <a:rPr lang="en-US" sz="1200" dirty="0" err="1">
                <a:solidFill>
                  <a:schemeClr val="tx1"/>
                </a:solidFill>
              </a:rPr>
              <a:t>bazele</a:t>
            </a:r>
            <a:r>
              <a:rPr lang="en-US" sz="1200" dirty="0">
                <a:solidFill>
                  <a:schemeClr val="tx1"/>
                </a:solidFill>
              </a:rPr>
              <a:t> de date </a:t>
            </a:r>
            <a:r>
              <a:rPr lang="en-US" sz="1200" dirty="0" err="1">
                <a:solidFill>
                  <a:schemeClr val="tx1"/>
                </a:solidFill>
              </a:rPr>
              <a:t>si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alte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aplicatii</a:t>
            </a:r>
            <a:r>
              <a:rPr lang="en-US" sz="1200" dirty="0">
                <a:solidFill>
                  <a:schemeClr val="tx1"/>
                </a:solidFill>
              </a:rPr>
              <a:t> blockchain.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200" dirty="0">
                <a:solidFill>
                  <a:schemeClr val="tx1"/>
                </a:solidFill>
              </a:rPr>
              <a:t>        </a:t>
            </a:r>
            <a:r>
              <a:rPr lang="en-US" sz="1200" dirty="0" err="1">
                <a:solidFill>
                  <a:schemeClr val="tx1"/>
                </a:solidFill>
              </a:rPr>
              <a:t>Momentan</a:t>
            </a:r>
            <a:r>
              <a:rPr lang="en-US" sz="1200" dirty="0">
                <a:solidFill>
                  <a:schemeClr val="tx1"/>
                </a:solidFill>
              </a:rPr>
              <a:t> Ethereum </a:t>
            </a:r>
            <a:r>
              <a:rPr lang="en-US" sz="1200" dirty="0" err="1">
                <a:solidFill>
                  <a:schemeClr val="tx1"/>
                </a:solidFill>
              </a:rPr>
              <a:t>este</a:t>
            </a:r>
            <a:r>
              <a:rPr lang="en-US" sz="1200" dirty="0">
                <a:solidFill>
                  <a:schemeClr val="tx1"/>
                </a:solidFill>
              </a:rPr>
              <a:t> a </a:t>
            </a:r>
            <a:r>
              <a:rPr lang="en-US" sz="1200" dirty="0" err="1">
                <a:solidFill>
                  <a:schemeClr val="tx1"/>
                </a:solidFill>
              </a:rPr>
              <a:t>doua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cea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mai</a:t>
            </a:r>
            <a:r>
              <a:rPr lang="en-US" sz="1200" dirty="0">
                <a:solidFill>
                  <a:schemeClr val="tx1"/>
                </a:solidFill>
              </a:rPr>
              <a:t> mare </a:t>
            </a:r>
            <a:r>
              <a:rPr lang="en-US" sz="1200" dirty="0" err="1">
                <a:solidFill>
                  <a:schemeClr val="tx1"/>
                </a:solidFill>
              </a:rPr>
              <a:t>criptomoneda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dupa</a:t>
            </a:r>
            <a:r>
              <a:rPr lang="en-US" sz="1200" dirty="0">
                <a:solidFill>
                  <a:schemeClr val="tx1"/>
                </a:solidFill>
              </a:rPr>
              <a:t> Bitcoin.</a:t>
            </a:r>
            <a:endParaRPr sz="12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A00B4-46A6-AD70-A2C7-93282DEDC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107" y="966908"/>
            <a:ext cx="2965745" cy="32096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>
            <a:spLocks noGrp="1"/>
          </p:cNvSpPr>
          <p:nvPr>
            <p:ph type="title"/>
          </p:nvPr>
        </p:nvSpPr>
        <p:spPr>
          <a:xfrm>
            <a:off x="437195" y="359320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/>
              <a:t>PoW</a:t>
            </a:r>
            <a:r>
              <a:rPr lang="en-US" sz="3200" b="1" dirty="0"/>
              <a:t> Vs </a:t>
            </a:r>
            <a:r>
              <a:rPr lang="en-US" sz="3200" b="1" dirty="0" err="1"/>
              <a:t>PoS</a:t>
            </a:r>
            <a:endParaRPr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A24DA-99D4-6D78-C631-42F868C15256}"/>
              </a:ext>
            </a:extLst>
          </p:cNvPr>
          <p:cNvSpPr txBox="1"/>
          <p:nvPr/>
        </p:nvSpPr>
        <p:spPr>
          <a:xfrm>
            <a:off x="790700" y="1365262"/>
            <a:ext cx="69722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       Proof of Work (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PoW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)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algoritmul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implica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utilizarea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puterii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calcul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rezolva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probleme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matematice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complexe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numite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"puzzle-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uri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criptografice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".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Minerii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din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retea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concureaza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intre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rezolva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puzzle-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adauga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un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nou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bloc la blockchain.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Minerul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care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rezolva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puzzle-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primeste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o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recompensa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moneda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digitala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asociata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blockchain-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ului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B2F71-D7D9-EFF2-5EBB-8A2A88196754}"/>
              </a:ext>
            </a:extLst>
          </p:cNvPr>
          <p:cNvSpPr txBox="1"/>
          <p:nvPr/>
        </p:nvSpPr>
        <p:spPr>
          <a:xfrm>
            <a:off x="790700" y="2481229"/>
            <a:ext cx="35456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       Proof of Stake (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PoS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)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un alt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algoritm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consens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care in loc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se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bazeze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pe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puterea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calcul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se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bazeaza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pe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retinerea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monede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din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retea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. In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acest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algoritm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validatorii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care sunt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detinatorii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monede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din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retea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sunt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selectati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aleatoriu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valida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tranzactiile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adauga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noi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blocuri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la blockchain.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12E18-117E-A990-F76B-0F6A7ACF1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534" y="2571750"/>
            <a:ext cx="3951721" cy="18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8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0EB119D4-3F43-9A88-1CEB-5CCDBE6E8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190" y="1371421"/>
            <a:ext cx="688743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   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Beacon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Chain a fost numele 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blockchain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-ului 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ial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Proof</a:t>
            </a:r>
            <a:r>
              <a:rPr kumimoji="0" lang="en-US" altLang="en-US" sz="1200" b="0" i="0" u="none" strike="noStrike" cap="none" normalizeH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of Stake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care a fost lansat în 2020. A fost creat pentru a se asigura 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logica consensului de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Proof</a:t>
            </a:r>
            <a:r>
              <a:rPr kumimoji="0" lang="en-US" altLang="en-US" sz="1200" b="0" i="0" u="none" strike="noStrike" cap="none" normalizeH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of Stake 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 fost solid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s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 sustenabil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nainte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de a o activa pe 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Ethereum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Mainnet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Prin urmare,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func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ionat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acelasi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timp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cu Proof</a:t>
            </a:r>
            <a:r>
              <a:rPr kumimoji="0" lang="en-US" altLang="en-US" sz="1200" b="0" i="0" u="none" strike="noStrike" cap="none" normalizeH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of Work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ro-RO" altLang="en-US" sz="1200" b="0" i="0" u="none" strike="noStrike" cap="none" normalizeH="0" baseline="0" dirty="0" err="1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Ethereum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alt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Acesta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nu a </a:t>
            </a:r>
            <a:r>
              <a:rPr lang="en-US" alt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procesat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tranzactii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nu a </a:t>
            </a:r>
            <a:r>
              <a:rPr lang="en-US" alt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gestionat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interactiunile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cu </a:t>
            </a:r>
            <a:r>
              <a:rPr lang="en-US" alt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contracte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inteligente</a:t>
            </a:r>
            <a:r>
              <a:rPr lang="en-US" alt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(smart contracts).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o-RO" altLang="en-US" sz="1200" b="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endParaRPr kumimoji="0" lang="ro-RO" altLang="en-US" sz="1200" b="0" i="0" u="none" strike="noStrike" cap="none" normalizeH="0" baseline="0" dirty="0">
              <a:ln>
                <a:noFill/>
              </a:ln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568C92-F17C-210D-5858-EFD0C175C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947" y="2040902"/>
            <a:ext cx="4424192" cy="284807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9AB412B-56E6-3BD7-8702-175E1BA2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90" y="344624"/>
            <a:ext cx="6343200" cy="575700"/>
          </a:xfrm>
        </p:spPr>
        <p:txBody>
          <a:bodyPr/>
          <a:lstStyle/>
          <a:p>
            <a:r>
              <a:rPr lang="en-US" sz="3200" b="1" dirty="0"/>
              <a:t>The Beacon Chain</a:t>
            </a:r>
          </a:p>
        </p:txBody>
      </p:sp>
    </p:spTree>
    <p:extLst>
      <p:ext uri="{BB962C8B-B14F-4D97-AF65-F5344CB8AC3E}">
        <p14:creationId xmlns:p14="http://schemas.microsoft.com/office/powerpoint/2010/main" val="242908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>
            <a:spLocks noGrp="1"/>
          </p:cNvSpPr>
          <p:nvPr>
            <p:ph type="title"/>
          </p:nvPr>
        </p:nvSpPr>
        <p:spPr>
          <a:xfrm>
            <a:off x="720000" y="194834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The Merge</a:t>
            </a:r>
            <a:endParaRPr b="1" dirty="0"/>
          </a:p>
        </p:txBody>
      </p:sp>
      <p:sp>
        <p:nvSpPr>
          <p:cNvPr id="202" name="Google Shape;202;p38"/>
          <p:cNvSpPr txBox="1">
            <a:spLocks noGrp="1"/>
          </p:cNvSpPr>
          <p:nvPr>
            <p:ph type="title" idx="2"/>
          </p:nvPr>
        </p:nvSpPr>
        <p:spPr>
          <a:xfrm>
            <a:off x="4039075" y="787325"/>
            <a:ext cx="1065900" cy="10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203" name="Google Shape;203;p38"/>
          <p:cNvSpPr txBox="1">
            <a:spLocks noGrp="1"/>
          </p:cNvSpPr>
          <p:nvPr>
            <p:ph type="subTitle" idx="1"/>
          </p:nvPr>
        </p:nvSpPr>
        <p:spPr>
          <a:xfrm>
            <a:off x="1744170" y="2907312"/>
            <a:ext cx="5655660" cy="486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Tranzitia</a:t>
            </a:r>
            <a:r>
              <a:rPr lang="en-US" dirty="0"/>
              <a:t> de la </a:t>
            </a:r>
            <a:r>
              <a:rPr lang="en-US" dirty="0" err="1"/>
              <a:t>PoW</a:t>
            </a:r>
            <a:r>
              <a:rPr lang="en-US" dirty="0"/>
              <a:t> la </a:t>
            </a:r>
            <a:r>
              <a:rPr lang="en-US" dirty="0" err="1"/>
              <a:t>PoS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42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 idx="6"/>
          </p:nvPr>
        </p:nvSpPr>
        <p:spPr>
          <a:xfrm>
            <a:off x="638665" y="279193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The Merge</a:t>
            </a:r>
            <a:endParaRPr sz="3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AAB9FC-5552-9E07-3B9D-E2C2B8F3AC08}"/>
              </a:ext>
            </a:extLst>
          </p:cNvPr>
          <p:cNvSpPr txBox="1"/>
          <p:nvPr/>
        </p:nvSpPr>
        <p:spPr>
          <a:xfrm>
            <a:off x="638665" y="1061792"/>
            <a:ext cx="65916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   The Merge a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fost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fuziunea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layerului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execuție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initial al Ethereum (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reteaua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principala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care a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existat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de la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inceput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 cu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noul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sau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layer de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consens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Proof of Stake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Beacon Chain. A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eliminat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necesitatea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exploatarii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miniere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consumatoare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energie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schimb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a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permis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securizarea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retelei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folosind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ETH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mizat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Aceasta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avut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loc pe 15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Septembrie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2022.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477E25A-F48E-3369-F62B-F19C2051B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32" y="2284354"/>
            <a:ext cx="6236335" cy="257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8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270D9-CCB2-4B7F-57D6-B533D159E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72" y="2618885"/>
            <a:ext cx="5155073" cy="2214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2A1CFC-770D-C6A6-5698-AD02646A5024}"/>
              </a:ext>
            </a:extLst>
          </p:cNvPr>
          <p:cNvSpPr/>
          <p:nvPr/>
        </p:nvSpPr>
        <p:spPr>
          <a:xfrm>
            <a:off x="763572" y="808988"/>
            <a:ext cx="5155073" cy="13450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tx1"/>
                </a:solidFill>
              </a:rPr>
              <a:t>        </a:t>
            </a:r>
            <a:r>
              <a:rPr lang="en-US" sz="1400" i="1" dirty="0">
                <a:solidFill>
                  <a:schemeClr val="tx1"/>
                </a:solidFill>
              </a:rPr>
              <a:t>“A simplified way at looking at the update is that it is similar to changing the engine of an airplane mid-flight.”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 err="1">
                <a:solidFill>
                  <a:schemeClr val="tx1"/>
                </a:solidFill>
                <a:effectLst/>
                <a:latin typeface="Lato" panose="020F0502020204030203" pitchFamily="34" charset="0"/>
              </a:rPr>
              <a:t>Ulrik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Lato" panose="020F0502020204030203" pitchFamily="34" charset="0"/>
              </a:rPr>
              <a:t>Lykke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Lato" panose="020F0502020204030203" pitchFamily="34" charset="0"/>
              </a:rPr>
              <a:t>, Head of Research at Bitcoin Global Macro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054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392704" y="318996"/>
            <a:ext cx="6377373" cy="9426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i="0" dirty="0">
                <a:solidFill>
                  <a:srgbClr val="1A202C"/>
                </a:solidFill>
                <a:effectLst/>
                <a:latin typeface="Poppins" panose="00000500000000000000" pitchFamily="2" charset="0"/>
              </a:rPr>
              <a:t>Cum </a:t>
            </a:r>
            <a:r>
              <a:rPr lang="en-US" sz="3200" b="1" i="0" dirty="0" err="1">
                <a:solidFill>
                  <a:srgbClr val="1A202C"/>
                </a:solidFill>
                <a:effectLst/>
                <a:latin typeface="Poppins" panose="00000500000000000000" pitchFamily="2" charset="0"/>
              </a:rPr>
              <a:t>functioneaz</a:t>
            </a:r>
            <a:r>
              <a:rPr lang="en-US" sz="3200" b="1" dirty="0" err="1">
                <a:solidFill>
                  <a:srgbClr val="1A202C"/>
                </a:solidFill>
                <a:latin typeface="Poppins" panose="00000500000000000000" pitchFamily="2" charset="0"/>
              </a:rPr>
              <a:t>a</a:t>
            </a:r>
            <a:r>
              <a:rPr lang="en-US" sz="3200" b="1" dirty="0">
                <a:solidFill>
                  <a:srgbClr val="1A202C"/>
                </a:solidFill>
                <a:latin typeface="Poppins" panose="00000500000000000000" pitchFamily="2" charset="0"/>
              </a:rPr>
              <a:t> </a:t>
            </a:r>
            <a:r>
              <a:rPr lang="en-US" sz="3200" b="1" dirty="0" err="1">
                <a:solidFill>
                  <a:srgbClr val="1A202C"/>
                </a:solidFill>
                <a:latin typeface="Poppins" panose="00000500000000000000" pitchFamily="2" charset="0"/>
              </a:rPr>
              <a:t>miza</a:t>
            </a:r>
            <a:r>
              <a:rPr lang="en-US" sz="3200" b="1" dirty="0">
                <a:solidFill>
                  <a:srgbClr val="1A202C"/>
                </a:solidFill>
                <a:latin typeface="Poppins" panose="00000500000000000000" pitchFamily="2" charset="0"/>
              </a:rPr>
              <a:t> (staking-</a:t>
            </a:r>
            <a:r>
              <a:rPr lang="en-US" sz="3200" b="1" dirty="0" err="1">
                <a:solidFill>
                  <a:srgbClr val="1A202C"/>
                </a:solidFill>
                <a:latin typeface="Poppins" panose="00000500000000000000" pitchFamily="2" charset="0"/>
              </a:rPr>
              <a:t>ul</a:t>
            </a:r>
            <a:r>
              <a:rPr lang="en-US" sz="3200" b="1" dirty="0">
                <a:solidFill>
                  <a:srgbClr val="1A202C"/>
                </a:solidFill>
                <a:latin typeface="Poppins" panose="00000500000000000000" pitchFamily="2" charset="0"/>
              </a:rPr>
              <a:t>)?</a:t>
            </a:r>
            <a:endParaRPr lang="en-US" sz="3200" b="1" i="0" dirty="0">
              <a:solidFill>
                <a:srgbClr val="1A202C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CA323-31A6-A2D0-0BFE-CD0F1614D143}"/>
              </a:ext>
            </a:extLst>
          </p:cNvPr>
          <p:cNvSpPr txBox="1"/>
          <p:nvPr/>
        </p:nvSpPr>
        <p:spPr>
          <a:xfrm>
            <a:off x="392704" y="1717487"/>
            <a:ext cx="8285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In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Ethereum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validatorii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mizeaza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mod explicit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capitalul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sub forma de ETH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intr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-un contract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inteligent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 Ethereum.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Acest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ETH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mizat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actioneaza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apoi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garantie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care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poate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distrusa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daca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validatorul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comporta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necinstit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lenes.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Validatorul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apoi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responsabil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verificarea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faptului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noile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blocuri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propagate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în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sunt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și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ocazional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creeaza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propaga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blocuri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participa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ca validator, un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utilizator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trebuie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depuna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32 ETH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în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contractul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depozit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ruleze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trei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software separate: un client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executie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un client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consens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un validator.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8FF9A-466B-5116-EF31-007EEDE7AAEC}"/>
              </a:ext>
            </a:extLst>
          </p:cNvPr>
          <p:cNvSpPr txBox="1"/>
          <p:nvPr/>
        </p:nvSpPr>
        <p:spPr>
          <a:xfrm>
            <a:off x="392704" y="2851874"/>
            <a:ext cx="47420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In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timp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Proof of Work,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timpul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blocare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determinat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dificultatea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“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minare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”, in Proof of Stake tempo-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fix.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Timpul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Ethereum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împartit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sloturi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(12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secunde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epoci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(32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sloturi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). Un validator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selectat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aleatoriu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fi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propunator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bloc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în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fiecare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slot.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Acest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validator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responsabil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crearea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unui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bloc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trimiterea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catre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noduri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asemenea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în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fiecare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slot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ales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aleatoriu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comitet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validatori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ale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carui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voturi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sunt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folosite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determina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valabilitatea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blocului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propus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9C3A9B-DCC9-43CE-AE0A-9F6251346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526" y="2919504"/>
            <a:ext cx="3395663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37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383753" y="393378"/>
            <a:ext cx="4788931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Gasper</a:t>
            </a:r>
            <a:endParaRPr sz="3200" b="1" dirty="0"/>
          </a:p>
        </p:txBody>
      </p:sp>
      <p:sp>
        <p:nvSpPr>
          <p:cNvPr id="281" name="Google Shape;281;p43"/>
          <p:cNvSpPr txBox="1">
            <a:spLocks noGrp="1"/>
          </p:cNvSpPr>
          <p:nvPr>
            <p:ph type="subTitle" idx="1"/>
          </p:nvPr>
        </p:nvSpPr>
        <p:spPr>
          <a:xfrm>
            <a:off x="383753" y="1220028"/>
            <a:ext cx="4862262" cy="3057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        Gasper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protocolul</a:t>
            </a:r>
            <a:r>
              <a:rPr lang="en-US" sz="1200" dirty="0"/>
              <a:t> de </a:t>
            </a:r>
            <a:r>
              <a:rPr lang="en-US" sz="1200" dirty="0" err="1"/>
              <a:t>consens</a:t>
            </a:r>
            <a:r>
              <a:rPr lang="en-US" sz="1200" dirty="0"/>
              <a:t> </a:t>
            </a:r>
            <a:r>
              <a:rPr lang="en-US" sz="1200" dirty="0" err="1"/>
              <a:t>hibrid</a:t>
            </a:r>
            <a:r>
              <a:rPr lang="en-US" sz="1200" dirty="0"/>
              <a:t> </a:t>
            </a:r>
            <a:r>
              <a:rPr lang="en-US" sz="1200" dirty="0" err="1"/>
              <a:t>utilizat</a:t>
            </a:r>
            <a:r>
              <a:rPr lang="en-US" sz="1200" dirty="0"/>
              <a:t> de </a:t>
            </a:r>
            <a:r>
              <a:rPr lang="en-US" sz="1200" dirty="0" err="1"/>
              <a:t>PoS</a:t>
            </a:r>
            <a:r>
              <a:rPr lang="en-US" sz="1200" dirty="0"/>
              <a:t> Ethereum. Este o </a:t>
            </a:r>
            <a:r>
              <a:rPr lang="en-US" sz="1200" dirty="0" err="1"/>
              <a:t>combinatie</a:t>
            </a:r>
            <a:r>
              <a:rPr lang="en-US" sz="1200" dirty="0"/>
              <a:t> a </a:t>
            </a:r>
            <a:r>
              <a:rPr lang="en-US" sz="1200" dirty="0" err="1"/>
              <a:t>protocolurilor</a:t>
            </a:r>
            <a:r>
              <a:rPr lang="en-US" sz="1200" dirty="0"/>
              <a:t> LMD (Latest Message Driven) GHOST (Greedy Heaviest-Observed Sub-Tree) </a:t>
            </a:r>
            <a:r>
              <a:rPr lang="en-US" sz="1200" dirty="0" err="1"/>
              <a:t>si</a:t>
            </a:r>
            <a:r>
              <a:rPr lang="en-US" sz="1200" dirty="0"/>
              <a:t> Casper FFG (Friendly Finality Gadget).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        GHOST, </a:t>
            </a:r>
            <a:r>
              <a:rPr lang="en-US" sz="1200" dirty="0" err="1"/>
              <a:t>folosit</a:t>
            </a:r>
            <a:r>
              <a:rPr lang="en-US" sz="1200" dirty="0"/>
              <a:t> initial de Ethereum </a:t>
            </a:r>
            <a:r>
              <a:rPr lang="en-US" sz="1200" dirty="0" err="1"/>
              <a:t>inainte</a:t>
            </a:r>
            <a:r>
              <a:rPr lang="en-US" sz="1200" dirty="0"/>
              <a:t> de </a:t>
            </a:r>
            <a:r>
              <a:rPr lang="en-US" sz="1200" dirty="0" err="1"/>
              <a:t>fuziune</a:t>
            </a:r>
            <a:r>
              <a:rPr lang="en-US" sz="1200" dirty="0"/>
              <a:t>, </a:t>
            </a:r>
            <a:r>
              <a:rPr lang="en-US" sz="1200" dirty="0" err="1"/>
              <a:t>este</a:t>
            </a:r>
            <a:r>
              <a:rPr lang="en-US" sz="1200" dirty="0"/>
              <a:t> o </a:t>
            </a:r>
            <a:r>
              <a:rPr lang="en-US" sz="1200" dirty="0" err="1"/>
              <a:t>variatie</a:t>
            </a:r>
            <a:r>
              <a:rPr lang="en-US" sz="1200" dirty="0"/>
              <a:t> a </a:t>
            </a:r>
            <a:r>
              <a:rPr lang="en-US" sz="1200" dirty="0" err="1"/>
              <a:t>algoritmului</a:t>
            </a:r>
            <a:r>
              <a:rPr lang="en-US" sz="1200" dirty="0"/>
              <a:t> Nakamoto Consensus al Bitcoin care </a:t>
            </a:r>
            <a:r>
              <a:rPr lang="en-US" sz="1200" dirty="0" err="1"/>
              <a:t>permite</a:t>
            </a:r>
            <a:r>
              <a:rPr lang="en-US" sz="1200" dirty="0"/>
              <a:t> o </a:t>
            </a:r>
            <a:r>
              <a:rPr lang="en-US" sz="1200" dirty="0" err="1"/>
              <a:t>mai</a:t>
            </a:r>
            <a:r>
              <a:rPr lang="en-US" sz="1200" dirty="0"/>
              <a:t> buna </a:t>
            </a:r>
            <a:r>
              <a:rPr lang="en-US" sz="1200" dirty="0" err="1"/>
              <a:t>determinare</a:t>
            </a:r>
            <a:r>
              <a:rPr lang="en-US" sz="1200" dirty="0"/>
              <a:t> a </a:t>
            </a:r>
            <a:r>
              <a:rPr lang="en-US" sz="1200" dirty="0" err="1"/>
              <a:t>forkului</a:t>
            </a:r>
            <a:r>
              <a:rPr lang="en-US" sz="1200" dirty="0"/>
              <a:t> </a:t>
            </a:r>
            <a:r>
              <a:rPr lang="en-US" sz="1200" dirty="0" err="1"/>
              <a:t>si</a:t>
            </a:r>
            <a:r>
              <a:rPr lang="en-US" sz="1200" dirty="0"/>
              <a:t> </a:t>
            </a:r>
            <a:r>
              <a:rPr lang="en-US" sz="1200" dirty="0" err="1"/>
              <a:t>timpi</a:t>
            </a:r>
            <a:r>
              <a:rPr lang="en-US" sz="1200" dirty="0"/>
              <a:t> de </a:t>
            </a:r>
            <a:r>
              <a:rPr lang="en-US" sz="1200" dirty="0" err="1"/>
              <a:t>blocare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rapizi</a:t>
            </a:r>
            <a:r>
              <a:rPr lang="en-US" sz="1200" dirty="0"/>
              <a:t>. </a:t>
            </a:r>
            <a:r>
              <a:rPr lang="en-US" sz="1200" dirty="0" err="1"/>
              <a:t>Utilizeaza</a:t>
            </a:r>
            <a:r>
              <a:rPr lang="en-US" sz="1200" dirty="0"/>
              <a:t> </a:t>
            </a:r>
            <a:r>
              <a:rPr lang="en-US" sz="1200" dirty="0" err="1"/>
              <a:t>cea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mare </a:t>
            </a:r>
            <a:r>
              <a:rPr lang="en-US" sz="1200" dirty="0" err="1"/>
              <a:t>greutate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loc de </a:t>
            </a:r>
            <a:r>
              <a:rPr lang="en-US" sz="1200" dirty="0" err="1"/>
              <a:t>cel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lung lant </a:t>
            </a:r>
            <a:r>
              <a:rPr lang="en-US" sz="1200" dirty="0" err="1"/>
              <a:t>pentru</a:t>
            </a:r>
            <a:r>
              <a:rPr lang="en-US" sz="1200" dirty="0"/>
              <a:t> a </a:t>
            </a:r>
            <a:r>
              <a:rPr lang="en-US" sz="1200" dirty="0" err="1"/>
              <a:t>determina</a:t>
            </a:r>
            <a:r>
              <a:rPr lang="en-US" sz="1200" dirty="0"/>
              <a:t> </a:t>
            </a:r>
            <a:r>
              <a:rPr lang="en-US" sz="1200" dirty="0" err="1"/>
              <a:t>lantul</a:t>
            </a:r>
            <a:r>
              <a:rPr lang="en-US" sz="1200" dirty="0"/>
              <a:t> canonic.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        Casper </a:t>
            </a:r>
            <a:r>
              <a:rPr lang="en-US" sz="1200" dirty="0" err="1"/>
              <a:t>ofera</a:t>
            </a:r>
            <a:r>
              <a:rPr lang="en-US" sz="1200" dirty="0"/>
              <a:t> </a:t>
            </a:r>
            <a:r>
              <a:rPr lang="en-US" sz="1200" dirty="0" err="1"/>
              <a:t>apoi</a:t>
            </a:r>
            <a:r>
              <a:rPr lang="en-US" sz="1200" dirty="0"/>
              <a:t> un </a:t>
            </a:r>
            <a:r>
              <a:rPr lang="en-US" sz="1200" dirty="0" err="1"/>
              <a:t>strat</a:t>
            </a:r>
            <a:r>
              <a:rPr lang="en-US" sz="1200" dirty="0"/>
              <a:t> </a:t>
            </a:r>
            <a:r>
              <a:rPr lang="en-US" sz="1200" dirty="0" err="1"/>
              <a:t>suplimentar</a:t>
            </a:r>
            <a:r>
              <a:rPr lang="en-US" sz="1200" dirty="0"/>
              <a:t> de </a:t>
            </a:r>
            <a:r>
              <a:rPr lang="en-US" sz="1200" dirty="0" err="1"/>
              <a:t>finalitate</a:t>
            </a:r>
            <a:r>
              <a:rPr lang="en-US" sz="1200" dirty="0"/>
              <a:t> </a:t>
            </a:r>
            <a:r>
              <a:rPr lang="en-US" sz="1200" dirty="0" err="1"/>
              <a:t>determinista</a:t>
            </a:r>
            <a:r>
              <a:rPr lang="en-US" sz="1200" dirty="0"/>
              <a:t> </a:t>
            </a:r>
            <a:r>
              <a:rPr lang="en-US" sz="1200" dirty="0" err="1"/>
              <a:t>peste</a:t>
            </a:r>
            <a:r>
              <a:rPr lang="en-US" sz="1200" dirty="0"/>
              <a:t> GHOST. </a:t>
            </a:r>
            <a:r>
              <a:rPr lang="en-US" sz="1200" dirty="0" err="1"/>
              <a:t>Acest</a:t>
            </a:r>
            <a:r>
              <a:rPr lang="en-US" sz="1200" dirty="0"/>
              <a:t> </a:t>
            </a:r>
            <a:r>
              <a:rPr lang="en-US" sz="1200" dirty="0" err="1"/>
              <a:t>lucru</a:t>
            </a:r>
            <a:r>
              <a:rPr lang="en-US" sz="1200" dirty="0"/>
              <a:t> </a:t>
            </a:r>
            <a:r>
              <a:rPr lang="en-US" sz="1200" dirty="0" err="1"/>
              <a:t>permite</a:t>
            </a:r>
            <a:r>
              <a:rPr lang="en-US" sz="1200" dirty="0"/>
              <a:t> blockchain-</a:t>
            </a:r>
            <a:r>
              <a:rPr lang="en-US" sz="1200" dirty="0" err="1"/>
              <a:t>ului</a:t>
            </a:r>
            <a:r>
              <a:rPr lang="en-US" sz="1200" dirty="0"/>
              <a:t> Ethereum </a:t>
            </a:r>
            <a:r>
              <a:rPr lang="en-US" sz="1200" dirty="0" err="1"/>
              <a:t>sa</a:t>
            </a:r>
            <a:r>
              <a:rPr lang="en-US" sz="1200" dirty="0"/>
              <a:t> </a:t>
            </a:r>
            <a:r>
              <a:rPr lang="en-US" sz="1200" dirty="0" err="1"/>
              <a:t>aiba</a:t>
            </a:r>
            <a:r>
              <a:rPr lang="en-US" sz="1200" dirty="0"/>
              <a:t> </a:t>
            </a:r>
            <a:r>
              <a:rPr lang="en-US" sz="1200" dirty="0" err="1"/>
              <a:t>securitate</a:t>
            </a:r>
            <a:r>
              <a:rPr lang="en-US" sz="1200" dirty="0"/>
              <a:t> </a:t>
            </a:r>
            <a:r>
              <a:rPr lang="en-US" sz="1200" dirty="0" err="1"/>
              <a:t>suplimentara</a:t>
            </a:r>
            <a:r>
              <a:rPr lang="en-US" sz="1200" dirty="0"/>
              <a:t> </a:t>
            </a:r>
            <a:r>
              <a:rPr lang="en-US" sz="1200" dirty="0" err="1"/>
              <a:t>folosind</a:t>
            </a:r>
            <a:r>
              <a:rPr lang="en-US" sz="1200" dirty="0"/>
              <a:t> </a:t>
            </a:r>
            <a:r>
              <a:rPr lang="en-US" sz="1200" dirty="0" err="1"/>
              <a:t>puncte</a:t>
            </a:r>
            <a:r>
              <a:rPr lang="en-US" sz="1200" dirty="0"/>
              <a:t> de control </a:t>
            </a:r>
            <a:r>
              <a:rPr lang="en-US" sz="1200" dirty="0" err="1"/>
              <a:t>permanente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fiecare</a:t>
            </a:r>
            <a:r>
              <a:rPr lang="en-US" sz="1200" dirty="0"/>
              <a:t> </a:t>
            </a:r>
            <a:r>
              <a:rPr lang="en-US" sz="1200" dirty="0" err="1"/>
              <a:t>epoca</a:t>
            </a:r>
            <a:r>
              <a:rPr lang="en-US" sz="1200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        Video </a:t>
            </a:r>
            <a:r>
              <a:rPr lang="en-US" sz="1200" dirty="0" err="1"/>
              <a:t>ce</a:t>
            </a:r>
            <a:r>
              <a:rPr lang="en-US" sz="1200" dirty="0"/>
              <a:t> </a:t>
            </a:r>
            <a:r>
              <a:rPr lang="en-US" sz="1200" dirty="0" err="1"/>
              <a:t>explica</a:t>
            </a:r>
            <a:r>
              <a:rPr lang="en-US" sz="1200" dirty="0"/>
              <a:t> </a:t>
            </a:r>
            <a:r>
              <a:rPr lang="en-US" sz="1200" dirty="0" err="1"/>
              <a:t>foarte</a:t>
            </a:r>
            <a:r>
              <a:rPr lang="en-US" sz="1200" dirty="0"/>
              <a:t> bine </a:t>
            </a:r>
            <a:r>
              <a:rPr lang="en-US" sz="1200" dirty="0" err="1"/>
              <a:t>procesul</a:t>
            </a:r>
            <a:r>
              <a:rPr lang="en-US" sz="1200" dirty="0"/>
              <a:t> de stake </a:t>
            </a:r>
            <a:r>
              <a:rPr lang="en-US" sz="1200" dirty="0" err="1"/>
              <a:t>si</a:t>
            </a:r>
            <a:r>
              <a:rPr lang="en-US" sz="1200" dirty="0"/>
              <a:t> Gasper:</a:t>
            </a:r>
            <a:br>
              <a:rPr lang="en-US" sz="1200" dirty="0"/>
            </a:br>
            <a:r>
              <a:rPr lang="en-US" sz="1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https://www.youtube.com/watch?v=5gfNUVmX3Es</a:t>
            </a:r>
            <a:endParaRPr lang="en-US" sz="1200" dirty="0">
              <a:solidFill>
                <a:schemeClr val="tx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F44D96-D960-FCED-8D5F-07D96203C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719" y="1846636"/>
            <a:ext cx="3181528" cy="157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81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23;p41">
            <a:extLst>
              <a:ext uri="{FF2B5EF4-FFF2-40B4-BE49-F238E27FC236}">
                <a16:creationId xmlns:a16="http://schemas.microsoft.com/office/drawing/2014/main" id="{D855A7FC-47D8-90C8-C771-316A80D40517}"/>
              </a:ext>
            </a:extLst>
          </p:cNvPr>
          <p:cNvSpPr txBox="1">
            <a:spLocks/>
          </p:cNvSpPr>
          <p:nvPr/>
        </p:nvSpPr>
        <p:spPr>
          <a:xfrm>
            <a:off x="569171" y="401741"/>
            <a:ext cx="6343200" cy="8331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De ce s-a realizat aceasta scahimbare?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F5CF2-64A9-E23E-4CB3-8861FCE2F88D}"/>
              </a:ext>
            </a:extLst>
          </p:cNvPr>
          <p:cNvSpPr txBox="1"/>
          <p:nvPr/>
        </p:nvSpPr>
        <p:spPr>
          <a:xfrm>
            <a:off x="569171" y="1880736"/>
            <a:ext cx="37577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  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Motivul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principal al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acestei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actualizari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retea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fost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diminuarea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consumului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energetic.</a:t>
            </a:r>
          </a:p>
          <a:p>
            <a:pPr algn="just"/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   The Merge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fost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sfarsitul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erei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PoW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Ethereum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inceputul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celei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Proof of Stake,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astfel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fiind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durabil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ecologic.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Consumul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energie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al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Ethereumului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scazut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cu 99.95%,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facand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Ethereum un blockchain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verde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(eco).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3DA6DF-70A7-E5B6-E1C2-9B15817BD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098" y="1880736"/>
            <a:ext cx="3393649" cy="253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06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484330" y="213107"/>
            <a:ext cx="6343200" cy="8462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Consumul energetic</a:t>
            </a:r>
            <a:br>
              <a:rPr lang="en" sz="3200" b="1" dirty="0"/>
            </a:br>
            <a:r>
              <a:rPr lang="en-US" sz="2000" b="1" dirty="0"/>
              <a:t>September 2022</a:t>
            </a:r>
            <a:endParaRPr sz="2000" b="1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57D948A-1BA8-E282-BC6C-73F9D585C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014951"/>
              </p:ext>
            </p:extLst>
          </p:nvPr>
        </p:nvGraphicFramePr>
        <p:xfrm>
          <a:off x="484330" y="1455454"/>
          <a:ext cx="4549266" cy="3051816"/>
        </p:xfrm>
        <a:graphic>
          <a:graphicData uri="http://schemas.openxmlformats.org/drawingml/2006/table">
            <a:tbl>
              <a:tblPr firstRow="1" bandRow="1">
                <a:tableStyleId>{9ECB2A3A-DEE2-4CF2-A9E6-B3C08D4B5979}</a:tableStyleId>
              </a:tblPr>
              <a:tblGrid>
                <a:gridCol w="1352868">
                  <a:extLst>
                    <a:ext uri="{9D8B030D-6E8A-4147-A177-3AD203B41FA5}">
                      <a16:colId xmlns:a16="http://schemas.microsoft.com/office/drawing/2014/main" val="4002502312"/>
                    </a:ext>
                  </a:extLst>
                </a:gridCol>
                <a:gridCol w="1604990">
                  <a:extLst>
                    <a:ext uri="{9D8B030D-6E8A-4147-A177-3AD203B41FA5}">
                      <a16:colId xmlns:a16="http://schemas.microsoft.com/office/drawing/2014/main" val="2529320960"/>
                    </a:ext>
                  </a:extLst>
                </a:gridCol>
                <a:gridCol w="1591408">
                  <a:extLst>
                    <a:ext uri="{9D8B030D-6E8A-4147-A177-3AD203B41FA5}">
                      <a16:colId xmlns:a16="http://schemas.microsoft.com/office/drawing/2014/main" val="4253861005"/>
                    </a:ext>
                  </a:extLst>
                </a:gridCol>
              </a:tblGrid>
              <a:tr h="254318">
                <a:tc>
                  <a:txBody>
                    <a:bodyPr/>
                    <a:lstStyle/>
                    <a:p>
                      <a:endParaRPr lang="en-US" sz="9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rial"/>
                          <a:cs typeface="Poppins" panose="00000500000000000000" pitchFamily="2" charset="0"/>
                          <a:sym typeface="Arial"/>
                        </a:rPr>
                        <a:t>Consum</a:t>
                      </a: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rial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US" sz="9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rial"/>
                          <a:cs typeface="Poppins" panose="00000500000000000000" pitchFamily="2" charset="0"/>
                          <a:sym typeface="Arial"/>
                        </a:rPr>
                        <a:t>anual</a:t>
                      </a: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rial"/>
                          <a:cs typeface="Poppins" panose="00000500000000000000" pitchFamily="2" charset="0"/>
                          <a:sym typeface="Arial"/>
                        </a:rPr>
                        <a:t> (</a:t>
                      </a:r>
                      <a:r>
                        <a:rPr lang="en-US" sz="9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rial"/>
                          <a:cs typeface="Poppins" panose="00000500000000000000" pitchFamily="2" charset="0"/>
                          <a:sym typeface="Arial"/>
                        </a:rPr>
                        <a:t>TWh</a:t>
                      </a: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rial"/>
                          <a:cs typeface="Poppins" panose="00000500000000000000" pitchFamily="2" charset="0"/>
                          <a:sym typeface="Arial"/>
                        </a:rPr>
                        <a:t>)</a:t>
                      </a:r>
                      <a:endParaRPr lang="en-US" sz="9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Comparatie</a:t>
                      </a:r>
                      <a:r>
                        <a:rPr lang="en-US" sz="9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cu </a:t>
                      </a:r>
                      <a:r>
                        <a:rPr lang="en-US" sz="9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</a:t>
                      </a:r>
                      <a:r>
                        <a:rPr lang="en-US" sz="9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64202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Minat</a:t>
                      </a:r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92.000x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98548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Minat</a:t>
                      </a:r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50.000x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847979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Bitcoin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50.000x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2059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Bitcoin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38.000x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045617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84.000x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911391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Global data centers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78.000x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242403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Netflix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36.000x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3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PayPal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76799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Jocuri</a:t>
                      </a:r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in 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3779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PoW</a:t>
                      </a:r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30.000x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792047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</a:t>
                      </a:r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86615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9A9E66B-93C1-B6BA-EA17-725085904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407" y="1455454"/>
            <a:ext cx="4020354" cy="3119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>
            <a:spLocks noGrp="1"/>
          </p:cNvSpPr>
          <p:nvPr>
            <p:ph type="title"/>
          </p:nvPr>
        </p:nvSpPr>
        <p:spPr>
          <a:xfrm>
            <a:off x="2575108" y="351150"/>
            <a:ext cx="5249139" cy="658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ETH1.0 or ETH2.0 or ETH?</a:t>
            </a:r>
            <a:endParaRPr sz="3200" b="1" dirty="0"/>
          </a:p>
        </p:txBody>
      </p:sp>
      <p:sp>
        <p:nvSpPr>
          <p:cNvPr id="215" name="Google Shape;215;p40"/>
          <p:cNvSpPr txBox="1">
            <a:spLocks noGrp="1"/>
          </p:cNvSpPr>
          <p:nvPr>
            <p:ph type="subTitle" idx="1"/>
          </p:nvPr>
        </p:nvSpPr>
        <p:spPr>
          <a:xfrm>
            <a:off x="3154856" y="1456441"/>
            <a:ext cx="4344166" cy="2677212"/>
          </a:xfrm>
          <a:prstGeom prst="rect">
            <a:avLst/>
          </a:prstGeom>
        </p:spPr>
        <p:txBody>
          <a:bodyPr spcFirstLastPara="1" wrap="square" lIns="270000" tIns="90000" rIns="270000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Termenul</a:t>
            </a:r>
            <a:r>
              <a:rPr lang="en-US" sz="1200" dirty="0"/>
              <a:t> “ETH2” a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depreciat</a:t>
            </a:r>
            <a:r>
              <a:rPr lang="en-US" sz="1200" dirty="0"/>
              <a:t>. </a:t>
            </a:r>
            <a:r>
              <a:rPr lang="en-US" sz="1200" dirty="0" err="1"/>
              <a:t>Dupa</a:t>
            </a:r>
            <a:r>
              <a:rPr lang="en-US" sz="1200" dirty="0"/>
              <a:t> </a:t>
            </a:r>
            <a:r>
              <a:rPr lang="en-US" sz="1200" dirty="0" err="1"/>
              <a:t>fuziunea</a:t>
            </a:r>
            <a:r>
              <a:rPr lang="en-US" sz="1200" dirty="0"/>
              <a:t> </a:t>
            </a:r>
            <a:r>
              <a:rPr lang="en-US" sz="1200" dirty="0" err="1"/>
              <a:t>dintre</a:t>
            </a:r>
            <a:r>
              <a:rPr lang="en-US" sz="1200" dirty="0"/>
              <a:t> “ETH2” </a:t>
            </a:r>
            <a:r>
              <a:rPr lang="en-US" sz="1200" dirty="0" err="1"/>
              <a:t>si</a:t>
            </a:r>
            <a:r>
              <a:rPr lang="en-US" sz="1200" dirty="0"/>
              <a:t> “ETH1” </a:t>
            </a:r>
            <a:r>
              <a:rPr lang="en-US" sz="1200" dirty="0" err="1"/>
              <a:t>intr</a:t>
            </a:r>
            <a:r>
              <a:rPr lang="en-US" sz="1200" dirty="0"/>
              <a:t>-un </a:t>
            </a:r>
            <a:r>
              <a:rPr lang="en-US" sz="1200" dirty="0" err="1"/>
              <a:t>singur</a:t>
            </a:r>
            <a:r>
              <a:rPr lang="en-US" sz="1200" dirty="0"/>
              <a:t> lant, nu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nevoie</a:t>
            </a:r>
            <a:r>
              <a:rPr lang="en-US" sz="1200" dirty="0"/>
              <a:t> de o </a:t>
            </a:r>
            <a:r>
              <a:rPr lang="en-US" sz="1200" dirty="0" err="1"/>
              <a:t>diferentiere</a:t>
            </a:r>
            <a:r>
              <a:rPr lang="en-US" sz="1200" dirty="0"/>
              <a:t> </a:t>
            </a:r>
            <a:r>
              <a:rPr lang="en-US" sz="1200" dirty="0" err="1"/>
              <a:t>intre</a:t>
            </a:r>
            <a:r>
              <a:rPr lang="en-US" sz="1200" dirty="0"/>
              <a:t> </a:t>
            </a:r>
            <a:r>
              <a:rPr lang="en-US" sz="1200" dirty="0" err="1"/>
              <a:t>cele</a:t>
            </a:r>
            <a:r>
              <a:rPr lang="en-US" sz="1200" dirty="0"/>
              <a:t> 2 </a:t>
            </a:r>
            <a:r>
              <a:rPr lang="en-US" sz="1200" dirty="0" err="1"/>
              <a:t>retele</a:t>
            </a:r>
            <a:r>
              <a:rPr lang="en-US" sz="1200" dirty="0"/>
              <a:t> Ethereum, </a:t>
            </a:r>
            <a:r>
              <a:rPr lang="en-US" sz="1200" dirty="0" err="1"/>
              <a:t>acum</a:t>
            </a:r>
            <a:r>
              <a:rPr lang="en-US" sz="1200" dirty="0"/>
              <a:t> </a:t>
            </a:r>
            <a:r>
              <a:rPr lang="en-US" sz="1200" dirty="0" err="1"/>
              <a:t>existand</a:t>
            </a:r>
            <a:r>
              <a:rPr lang="en-US" sz="1200" dirty="0"/>
              <a:t> </a:t>
            </a:r>
            <a:r>
              <a:rPr lang="en-US" sz="1200" dirty="0" err="1"/>
              <a:t>doar</a:t>
            </a:r>
            <a:r>
              <a:rPr lang="en-US" sz="1200" dirty="0"/>
              <a:t> ETH.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Pentru</a:t>
            </a:r>
            <a:r>
              <a:rPr lang="en-US" sz="1200" dirty="0"/>
              <a:t> a </a:t>
            </a:r>
            <a:r>
              <a:rPr lang="en-US" sz="1200" dirty="0" err="1"/>
              <a:t>limita</a:t>
            </a:r>
            <a:r>
              <a:rPr lang="en-US" sz="1200" dirty="0"/>
              <a:t> </a:t>
            </a:r>
            <a:r>
              <a:rPr lang="en-US" sz="1200" dirty="0" err="1"/>
              <a:t>confuzia</a:t>
            </a:r>
            <a:r>
              <a:rPr lang="en-US" sz="1200" dirty="0"/>
              <a:t>, </a:t>
            </a:r>
            <a:r>
              <a:rPr lang="en-US" sz="1200" dirty="0" err="1"/>
              <a:t>termenii</a:t>
            </a:r>
            <a:r>
              <a:rPr lang="en-US" sz="1200" dirty="0"/>
              <a:t> au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updatati</a:t>
            </a:r>
            <a:r>
              <a:rPr lang="en-US" sz="1200" dirty="0"/>
              <a:t>: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“ETH1”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layerul</a:t>
            </a:r>
            <a:r>
              <a:rPr lang="en-US" sz="1200" dirty="0"/>
              <a:t> de </a:t>
            </a:r>
            <a:r>
              <a:rPr lang="en-US" sz="1200" dirty="0" err="1"/>
              <a:t>executie</a:t>
            </a:r>
            <a:r>
              <a:rPr lang="en-US" sz="1200" dirty="0"/>
              <a:t>, care se </a:t>
            </a:r>
            <a:r>
              <a:rPr lang="en-US" sz="1200" dirty="0" err="1"/>
              <a:t>ocupa</a:t>
            </a:r>
            <a:r>
              <a:rPr lang="en-US" sz="1200" dirty="0"/>
              <a:t> de </a:t>
            </a:r>
            <a:r>
              <a:rPr lang="en-US" sz="1200" dirty="0" err="1"/>
              <a:t>tranzactii</a:t>
            </a:r>
            <a:r>
              <a:rPr lang="en-US" sz="1200" dirty="0"/>
              <a:t> </a:t>
            </a:r>
            <a:r>
              <a:rPr lang="en-US" sz="1200" dirty="0" err="1"/>
              <a:t>si</a:t>
            </a:r>
            <a:r>
              <a:rPr lang="en-US" sz="1200" dirty="0"/>
              <a:t> </a:t>
            </a:r>
            <a:r>
              <a:rPr lang="en-US" sz="1200" dirty="0" err="1"/>
              <a:t>executie</a:t>
            </a:r>
            <a:endParaRPr lang="en-US" sz="1200" dirty="0"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“ETH2”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layerul</a:t>
            </a:r>
            <a:r>
              <a:rPr lang="en-US" sz="1200" dirty="0"/>
              <a:t> de </a:t>
            </a:r>
            <a:r>
              <a:rPr lang="en-US" sz="1200" dirty="0" err="1"/>
              <a:t>consens</a:t>
            </a:r>
            <a:r>
              <a:rPr lang="en-US" sz="1200" dirty="0"/>
              <a:t>, care se </a:t>
            </a:r>
            <a:r>
              <a:rPr lang="en-US" sz="1200" dirty="0" err="1"/>
              <a:t>ocupa</a:t>
            </a:r>
            <a:r>
              <a:rPr lang="en-US" sz="1200" dirty="0"/>
              <a:t> de Proof of Stake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ETH1 + ETH2 = ETH</a:t>
            </a:r>
            <a:endParaRPr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CA9629-78BB-A328-1D57-1E085E935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5" y="1767526"/>
            <a:ext cx="2225923" cy="29517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 idx="6"/>
          </p:nvPr>
        </p:nvSpPr>
        <p:spPr>
          <a:xfrm>
            <a:off x="569171" y="378174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Impact </a:t>
            </a:r>
            <a:r>
              <a:rPr lang="en-US" sz="3200" b="1" dirty="0" err="1"/>
              <a:t>asupra</a:t>
            </a:r>
            <a:r>
              <a:rPr lang="en-US" sz="3200" b="1" dirty="0"/>
              <a:t> </a:t>
            </a:r>
            <a:r>
              <a:rPr lang="en-US" sz="3200" b="1" dirty="0" err="1"/>
              <a:t>utilizatorilor</a:t>
            </a:r>
            <a:endParaRPr sz="3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AAB9FC-5552-9E07-3B9D-E2C2B8F3AC08}"/>
              </a:ext>
            </a:extLst>
          </p:cNvPr>
          <p:cNvSpPr txBox="1"/>
          <p:nvPr/>
        </p:nvSpPr>
        <p:spPr>
          <a:xfrm>
            <a:off x="638665" y="1156060"/>
            <a:ext cx="65916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   The Merge nu a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schimbat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nimic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utilizatori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sau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detinatori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acestia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nefiind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nevoiti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faca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nimic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 se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realiza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upgrade-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ul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Cum The Merge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facut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tranzitia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la Proof of Work la Proof of Stake,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persoanele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care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minau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pot face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asta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fiind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nevoite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se mute pe alt blockchain Proof of Work, o mare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alegand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Ethereum Classic.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90BAF2-5CC0-42DF-49E2-09A73B954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322" y="2493980"/>
            <a:ext cx="5717356" cy="245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7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457084" y="419755"/>
            <a:ext cx="4788931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Impact asupra dApps</a:t>
            </a:r>
            <a:endParaRPr sz="3200" b="1" dirty="0"/>
          </a:p>
        </p:txBody>
      </p:sp>
      <p:sp>
        <p:nvSpPr>
          <p:cNvPr id="281" name="Google Shape;281;p43"/>
          <p:cNvSpPr txBox="1">
            <a:spLocks noGrp="1"/>
          </p:cNvSpPr>
          <p:nvPr>
            <p:ph type="subTitle" idx="1"/>
          </p:nvPr>
        </p:nvSpPr>
        <p:spPr>
          <a:xfrm>
            <a:off x="457084" y="1215633"/>
            <a:ext cx="4647530" cy="1927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        </a:t>
            </a:r>
            <a:r>
              <a:rPr lang="en-US" sz="1200" i="1" dirty="0">
                <a:latin typeface="+mn-lt"/>
              </a:rPr>
              <a:t>“De la </a:t>
            </a:r>
            <a:r>
              <a:rPr lang="en-US" sz="1200" i="1" dirty="0" err="1">
                <a:latin typeface="+mn-lt"/>
              </a:rPr>
              <a:t>tranzitia</a:t>
            </a:r>
            <a:r>
              <a:rPr lang="en-US" sz="1200" i="1" dirty="0">
                <a:latin typeface="+mn-lt"/>
              </a:rPr>
              <a:t> la </a:t>
            </a:r>
            <a:r>
              <a:rPr lang="en-US" sz="1200" i="1" dirty="0" err="1">
                <a:latin typeface="+mn-lt"/>
              </a:rPr>
              <a:t>mecanismul</a:t>
            </a:r>
            <a:r>
              <a:rPr lang="en-US" sz="1200" i="1" dirty="0">
                <a:latin typeface="+mn-lt"/>
              </a:rPr>
              <a:t> de </a:t>
            </a:r>
            <a:r>
              <a:rPr lang="en-US" sz="1200" i="1" dirty="0" err="1">
                <a:latin typeface="+mn-lt"/>
              </a:rPr>
              <a:t>consens</a:t>
            </a:r>
            <a:r>
              <a:rPr lang="en-US" sz="1200" i="1" dirty="0">
                <a:latin typeface="+mn-lt"/>
              </a:rPr>
              <a:t>, </a:t>
            </a:r>
            <a:r>
              <a:rPr lang="en-US" sz="1200" i="1" dirty="0" err="1">
                <a:latin typeface="+mn-lt"/>
              </a:rPr>
              <a:t>datele</a:t>
            </a:r>
            <a:r>
              <a:rPr lang="en-US" sz="1200" i="1" dirty="0">
                <a:latin typeface="+mn-lt"/>
              </a:rPr>
              <a:t> </a:t>
            </a:r>
            <a:r>
              <a:rPr lang="en-US" sz="1200" i="1" dirty="0" err="1">
                <a:latin typeface="+mn-lt"/>
              </a:rPr>
              <a:t>inregistrate</a:t>
            </a:r>
            <a:r>
              <a:rPr lang="en-US" sz="1200" i="1" dirty="0">
                <a:latin typeface="+mn-lt"/>
              </a:rPr>
              <a:t> pe blockchain continua </a:t>
            </a:r>
            <a:r>
              <a:rPr lang="en-US" sz="1200" i="1" dirty="0" err="1">
                <a:latin typeface="+mn-lt"/>
              </a:rPr>
              <a:t>sa</a:t>
            </a:r>
            <a:r>
              <a:rPr lang="en-US" sz="1200" i="1" dirty="0">
                <a:latin typeface="+mn-lt"/>
              </a:rPr>
              <a:t> </a:t>
            </a:r>
            <a:r>
              <a:rPr lang="en-US" sz="1200" i="1" dirty="0" err="1">
                <a:latin typeface="+mn-lt"/>
              </a:rPr>
              <a:t>arate</a:t>
            </a:r>
            <a:r>
              <a:rPr lang="en-US" sz="1200" i="1" dirty="0">
                <a:latin typeface="+mn-lt"/>
              </a:rPr>
              <a:t> </a:t>
            </a:r>
            <a:r>
              <a:rPr lang="en-US" sz="1200" i="1" dirty="0" err="1">
                <a:latin typeface="+mn-lt"/>
              </a:rPr>
              <a:t>imbunatatiri</a:t>
            </a:r>
            <a:r>
              <a:rPr lang="en-US" sz="1200" i="1" dirty="0">
                <a:latin typeface="+mn-lt"/>
              </a:rPr>
              <a:t> ale </a:t>
            </a:r>
            <a:r>
              <a:rPr lang="en-US" sz="1200" i="1" dirty="0" err="1">
                <a:latin typeface="+mn-lt"/>
              </a:rPr>
              <a:t>retelei</a:t>
            </a:r>
            <a:r>
              <a:rPr lang="en-US" sz="1200" i="1" dirty="0">
                <a:latin typeface="+mn-lt"/>
              </a:rPr>
              <a:t> Ethereum. Se </a:t>
            </a:r>
            <a:r>
              <a:rPr lang="en-US" sz="1200" i="1" dirty="0" err="1">
                <a:latin typeface="+mn-lt"/>
              </a:rPr>
              <a:t>estimeza</a:t>
            </a:r>
            <a:r>
              <a:rPr lang="en-US" sz="1200" i="1" dirty="0">
                <a:latin typeface="+mn-lt"/>
              </a:rPr>
              <a:t> ca </a:t>
            </a:r>
            <a:r>
              <a:rPr lang="en-US" sz="1200" i="1" dirty="0" err="1">
                <a:latin typeface="+mn-lt"/>
              </a:rPr>
              <a:t>noul</a:t>
            </a:r>
            <a:r>
              <a:rPr lang="en-US" sz="1200" i="1" dirty="0">
                <a:latin typeface="+mn-lt"/>
              </a:rPr>
              <a:t> protocol a </a:t>
            </a:r>
            <a:r>
              <a:rPr lang="en-US" sz="1200" i="1" dirty="0" err="1">
                <a:latin typeface="+mn-lt"/>
              </a:rPr>
              <a:t>adus</a:t>
            </a:r>
            <a:r>
              <a:rPr lang="en-US" sz="1200" i="1" dirty="0">
                <a:latin typeface="+mn-lt"/>
              </a:rPr>
              <a:t> o </a:t>
            </a:r>
            <a:r>
              <a:rPr lang="en-US" sz="1200" i="1" dirty="0" err="1">
                <a:latin typeface="+mn-lt"/>
              </a:rPr>
              <a:t>crestere</a:t>
            </a:r>
            <a:r>
              <a:rPr lang="en-US" sz="1200" i="1" dirty="0">
                <a:latin typeface="+mn-lt"/>
              </a:rPr>
              <a:t> cu 18% a </a:t>
            </a:r>
            <a:r>
              <a:rPr lang="en-US" sz="1200" i="1" dirty="0" err="1">
                <a:latin typeface="+mn-lt"/>
              </a:rPr>
              <a:t>blocurilor</a:t>
            </a:r>
            <a:r>
              <a:rPr lang="en-US" sz="1200" i="1" dirty="0">
                <a:latin typeface="+mn-lt"/>
              </a:rPr>
              <a:t> </a:t>
            </a:r>
            <a:r>
              <a:rPr lang="en-US" sz="1200" i="1" dirty="0" err="1">
                <a:latin typeface="+mn-lt"/>
              </a:rPr>
              <a:t>produse</a:t>
            </a:r>
            <a:r>
              <a:rPr lang="en-US" sz="1200" i="1" dirty="0">
                <a:latin typeface="+mn-lt"/>
              </a:rPr>
              <a:t> pe zi, </a:t>
            </a:r>
            <a:r>
              <a:rPr lang="en-US" sz="1200" i="1" dirty="0" err="1">
                <a:latin typeface="+mn-lt"/>
              </a:rPr>
              <a:t>alaturi</a:t>
            </a:r>
            <a:r>
              <a:rPr lang="en-US" sz="1200" i="1" dirty="0">
                <a:latin typeface="+mn-lt"/>
              </a:rPr>
              <a:t> de o </a:t>
            </a:r>
            <a:r>
              <a:rPr lang="en-US" sz="1200" i="1" dirty="0" err="1">
                <a:latin typeface="+mn-lt"/>
              </a:rPr>
              <a:t>scadere</a:t>
            </a:r>
            <a:r>
              <a:rPr lang="en-US" sz="1200" i="1" dirty="0">
                <a:latin typeface="+mn-lt"/>
              </a:rPr>
              <a:t> cu 13% a </a:t>
            </a:r>
            <a:r>
              <a:rPr lang="en-US" sz="1200" i="1" dirty="0" err="1">
                <a:latin typeface="+mn-lt"/>
              </a:rPr>
              <a:t>timpului</a:t>
            </a:r>
            <a:r>
              <a:rPr lang="en-US" sz="1200" i="1" dirty="0">
                <a:latin typeface="+mn-lt"/>
              </a:rPr>
              <a:t> de </a:t>
            </a:r>
            <a:r>
              <a:rPr lang="en-US" sz="1200" i="1" dirty="0" err="1">
                <a:latin typeface="+mn-lt"/>
              </a:rPr>
              <a:t>verificare</a:t>
            </a:r>
            <a:r>
              <a:rPr lang="en-US" sz="1200" i="1" dirty="0">
                <a:latin typeface="+mn-lt"/>
              </a:rPr>
              <a:t>.” </a:t>
            </a:r>
            <a:r>
              <a:rPr lang="en-US" sz="1200" dirty="0"/>
              <a:t>a </a:t>
            </a:r>
            <a:r>
              <a:rPr lang="en-US" sz="1200" dirty="0" err="1"/>
              <a:t>spus</a:t>
            </a:r>
            <a:r>
              <a:rPr lang="en-US" sz="1200" dirty="0"/>
              <a:t> Jake Boyle, COO al </a:t>
            </a:r>
            <a:r>
              <a:rPr lang="en-US" sz="1200" dirty="0" err="1"/>
              <a:t>agentiei</a:t>
            </a:r>
            <a:r>
              <a:rPr lang="en-US" sz="1200" dirty="0"/>
              <a:t> de </a:t>
            </a:r>
            <a:r>
              <a:rPr lang="en-US" sz="1200" dirty="0" err="1"/>
              <a:t>brokeraj</a:t>
            </a:r>
            <a:r>
              <a:rPr lang="en-US" sz="1200" dirty="0"/>
              <a:t> de </a:t>
            </a:r>
            <a:r>
              <a:rPr lang="en-US" sz="1200" dirty="0" err="1"/>
              <a:t>criptomonede</a:t>
            </a:r>
            <a:r>
              <a:rPr lang="en-US" sz="1200" dirty="0"/>
              <a:t> Caleb &amp; Brown.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        </a:t>
            </a:r>
            <a:r>
              <a:rPr lang="en-US" sz="1200" dirty="0" err="1"/>
              <a:t>Aceasta</a:t>
            </a:r>
            <a:r>
              <a:rPr lang="en-US" sz="1200" dirty="0"/>
              <a:t> </a:t>
            </a:r>
            <a:r>
              <a:rPr lang="en-US" sz="1200" dirty="0" err="1"/>
              <a:t>ar</a:t>
            </a:r>
            <a:r>
              <a:rPr lang="en-US" sz="1200" dirty="0"/>
              <a:t> </a:t>
            </a:r>
            <a:r>
              <a:rPr lang="en-US" sz="1200" dirty="0" err="1"/>
              <a:t>putea</a:t>
            </a:r>
            <a:r>
              <a:rPr lang="en-US" sz="1200" dirty="0"/>
              <a:t> </a:t>
            </a:r>
            <a:r>
              <a:rPr lang="en-US" sz="1200" dirty="0" err="1"/>
              <a:t>incuraja</a:t>
            </a:r>
            <a:r>
              <a:rPr lang="en-US" sz="1200" dirty="0"/>
              <a:t> </a:t>
            </a:r>
            <a:r>
              <a:rPr lang="en-US" sz="1200" dirty="0" err="1"/>
              <a:t>dezvoltatorii</a:t>
            </a:r>
            <a:r>
              <a:rPr lang="en-US" sz="1200" dirty="0"/>
              <a:t> </a:t>
            </a:r>
            <a:r>
              <a:rPr lang="en-US" sz="1200" dirty="0" err="1"/>
              <a:t>sa</a:t>
            </a:r>
            <a:r>
              <a:rPr lang="en-US" sz="1200" dirty="0"/>
              <a:t> </a:t>
            </a:r>
            <a:r>
              <a:rPr lang="en-US" sz="1200" dirty="0" err="1"/>
              <a:t>creeze</a:t>
            </a:r>
            <a:r>
              <a:rPr lang="en-US" sz="1200" dirty="0"/>
              <a:t> </a:t>
            </a:r>
            <a:r>
              <a:rPr lang="en-US" sz="1200" dirty="0" err="1"/>
              <a:t>dApps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complexe</a:t>
            </a:r>
            <a:r>
              <a:rPr lang="en-US" sz="1200" dirty="0"/>
              <a:t> </a:t>
            </a:r>
            <a:r>
              <a:rPr lang="en-US" sz="1200" dirty="0" err="1"/>
              <a:t>si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puternice</a:t>
            </a:r>
            <a:r>
              <a:rPr lang="en-US" sz="1200" dirty="0"/>
              <a:t>, care pot fi </a:t>
            </a:r>
            <a:r>
              <a:rPr lang="en-US" sz="1200" dirty="0" err="1"/>
              <a:t>construite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implementate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rapid </a:t>
            </a:r>
            <a:r>
              <a:rPr lang="en-US" sz="1200" dirty="0" err="1"/>
              <a:t>si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eficient</a:t>
            </a:r>
            <a:r>
              <a:rPr lang="en-US" sz="1200" dirty="0"/>
              <a:t>.</a:t>
            </a:r>
            <a:endParaRPr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91E17-AEB7-8497-BD13-F82C606C7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175" y="1664260"/>
            <a:ext cx="2964740" cy="1814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873007-585A-1DB4-BD56-322BB8FED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722" y="3338795"/>
            <a:ext cx="3158254" cy="15939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DD02B4-A979-55D3-2583-93DE94D9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96" y="711984"/>
            <a:ext cx="5764606" cy="600300"/>
          </a:xfrm>
        </p:spPr>
        <p:txBody>
          <a:bodyPr/>
          <a:lstStyle/>
          <a:p>
            <a:r>
              <a:rPr lang="en-US" b="1" dirty="0" err="1"/>
              <a:t>Prezumtii</a:t>
            </a:r>
            <a:r>
              <a:rPr lang="en-US" b="1" dirty="0"/>
              <a:t> </a:t>
            </a:r>
            <a:r>
              <a:rPr lang="en-US" b="1" dirty="0" err="1"/>
              <a:t>gresite</a:t>
            </a:r>
            <a:r>
              <a:rPr lang="en-US" b="1" dirty="0"/>
              <a:t> </a:t>
            </a:r>
            <a:r>
              <a:rPr lang="en-US" b="1" dirty="0" err="1"/>
              <a:t>asupra</a:t>
            </a:r>
            <a:r>
              <a:rPr lang="en-US" b="1" dirty="0"/>
              <a:t> The Merge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29CB5-788A-3D67-057D-9ACC0ABB793B}"/>
              </a:ext>
            </a:extLst>
          </p:cNvPr>
          <p:cNvSpPr txBox="1"/>
          <p:nvPr/>
        </p:nvSpPr>
        <p:spPr>
          <a:xfrm>
            <a:off x="320395" y="1899589"/>
            <a:ext cx="528383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 The Merge nu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reusit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taxele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gaz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(gas fees).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Fals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The Merge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fost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schimbare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mecanism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consens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nu o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expansiune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retelei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astfel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reducerea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taxelor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neffind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scop.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28600" indent="-228600" algn="just">
              <a:buAutoNum type="arabicPeriod" startAt="2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Tranzactiile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au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fost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accelerate substantial de The Merge.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Fals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desi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exista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cateva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mici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modificari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viteza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tranzactionala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aproape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28600" indent="-228600" algn="just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28600" indent="-228600" algn="just">
              <a:buFont typeface="+mj-lt"/>
              <a:buAutoNum type="arabicPeriod" startAt="3"/>
            </a:pP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Merge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enablat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retragerile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miza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Fals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retragerile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 sunt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enablate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upgrade-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Shanghai o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enableze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retragerile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miza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E8DB1F-6C40-0527-1F90-E2B9247E5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062" y="1510050"/>
            <a:ext cx="3559315" cy="352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71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3235175" y="525616"/>
            <a:ext cx="2673649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dirty="0"/>
              <a:t>Pros &amp; Cons</a:t>
            </a:r>
            <a:endParaRPr lang="en-US" sz="3200" b="1" i="0" dirty="0">
              <a:solidFill>
                <a:srgbClr val="1A202C"/>
              </a:solidFill>
              <a:effectLst/>
              <a:latin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C422E8-E9BE-0CF5-3223-42270033F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417" y="1696978"/>
            <a:ext cx="2071166" cy="2780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1CA323-31A6-A2D0-0BFE-CD0F1614D143}"/>
              </a:ext>
            </a:extLst>
          </p:cNvPr>
          <p:cNvSpPr txBox="1"/>
          <p:nvPr/>
        </p:nvSpPr>
        <p:spPr>
          <a:xfrm>
            <a:off x="223886" y="1796617"/>
            <a:ext cx="301128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Pros: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reducerea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consumului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energie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ofera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securitate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buna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decat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PoW</a:t>
            </a:r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acest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update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deschis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catre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actualizari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ulterioare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care nu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erau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posibile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PoW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aducand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Ethereum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aproape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golul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sau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a fi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scalabil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securizat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sustenabil</a:t>
            </a:r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F44E7-DB26-8C1E-3E4E-4670DBE1D050}"/>
              </a:ext>
            </a:extLst>
          </p:cNvPr>
          <p:cNvSpPr txBox="1"/>
          <p:nvPr/>
        </p:nvSpPr>
        <p:spPr>
          <a:xfrm>
            <a:off x="5908825" y="1796617"/>
            <a:ext cx="278268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opusul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descentralizarii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fiind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posibil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trecerea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la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PoW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duca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 o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concentrare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mare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puterii</a:t>
            </a:r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aparitia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diferite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tipuri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excrocherii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(scam-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uri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mult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complicat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din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punct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vedere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al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implementarii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decat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PoW</a:t>
            </a:r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83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>
            <a:spLocks noGrp="1"/>
          </p:cNvSpPr>
          <p:nvPr>
            <p:ph type="title"/>
          </p:nvPr>
        </p:nvSpPr>
        <p:spPr>
          <a:xfrm>
            <a:off x="720000" y="194834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What’s Next</a:t>
            </a:r>
            <a:endParaRPr b="1" dirty="0"/>
          </a:p>
        </p:txBody>
      </p:sp>
      <p:sp>
        <p:nvSpPr>
          <p:cNvPr id="202" name="Google Shape;202;p38"/>
          <p:cNvSpPr txBox="1">
            <a:spLocks noGrp="1"/>
          </p:cNvSpPr>
          <p:nvPr>
            <p:ph type="title" idx="2"/>
          </p:nvPr>
        </p:nvSpPr>
        <p:spPr>
          <a:xfrm>
            <a:off x="4039075" y="787325"/>
            <a:ext cx="1065900" cy="10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203" name="Google Shape;203;p38"/>
          <p:cNvSpPr txBox="1">
            <a:spLocks noGrp="1"/>
          </p:cNvSpPr>
          <p:nvPr>
            <p:ph type="subTitle" idx="1"/>
          </p:nvPr>
        </p:nvSpPr>
        <p:spPr>
          <a:xfrm>
            <a:off x="1645083" y="2885263"/>
            <a:ext cx="5853834" cy="486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Viitoare</a:t>
            </a:r>
            <a:r>
              <a:rPr lang="en-US" dirty="0"/>
              <a:t> upgrade-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The Merge</a:t>
            </a:r>
          </a:p>
        </p:txBody>
      </p:sp>
    </p:spTree>
    <p:extLst>
      <p:ext uri="{BB962C8B-B14F-4D97-AF65-F5344CB8AC3E}">
        <p14:creationId xmlns:p14="http://schemas.microsoft.com/office/powerpoint/2010/main" val="4075410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A933-2CCE-D8DA-D3A2-2199E55B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62" y="357494"/>
            <a:ext cx="7278643" cy="575700"/>
          </a:xfrm>
        </p:spPr>
        <p:txBody>
          <a:bodyPr/>
          <a:lstStyle/>
          <a:p>
            <a:r>
              <a:rPr lang="en-US" sz="3200" b="1" dirty="0"/>
              <a:t>The Merge and Shanghai Upgrade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005C9-1326-658E-4CF8-96F856F0A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0761" y="1277603"/>
            <a:ext cx="7852365" cy="918842"/>
          </a:xfrm>
        </p:spPr>
        <p:txBody>
          <a:bodyPr/>
          <a:lstStyle/>
          <a:p>
            <a:pPr marL="13970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simplifica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maximiza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concentrarea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asupra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unei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tranzitii</a:t>
            </a:r>
            <a:r>
              <a:rPr lang="en-US" dirty="0">
                <a:solidFill>
                  <a:schemeClr val="tx1"/>
                </a:solidFill>
              </a:rPr>
              <a:t> cu </a:t>
            </a:r>
            <a:r>
              <a:rPr lang="en-US" dirty="0" err="1">
                <a:solidFill>
                  <a:schemeClr val="tx1"/>
                </a:solidFill>
              </a:rPr>
              <a:t>succes</a:t>
            </a:r>
            <a:r>
              <a:rPr lang="en-US" dirty="0">
                <a:solidFill>
                  <a:schemeClr val="tx1"/>
                </a:solidFill>
              </a:rPr>
              <a:t> la Proof of Stake, upgrade-</a:t>
            </a:r>
            <a:r>
              <a:rPr lang="en-US" dirty="0" err="1">
                <a:solidFill>
                  <a:schemeClr val="tx1"/>
                </a:solidFill>
              </a:rPr>
              <a:t>ul</a:t>
            </a:r>
            <a:r>
              <a:rPr lang="en-US" dirty="0">
                <a:solidFill>
                  <a:schemeClr val="tx1"/>
                </a:solidFill>
              </a:rPr>
              <a:t> Merge nu a </a:t>
            </a:r>
            <a:r>
              <a:rPr lang="en-US" dirty="0" err="1">
                <a:solidFill>
                  <a:schemeClr val="tx1"/>
                </a:solidFill>
              </a:rPr>
              <a:t>inclus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anumite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caracteristici</a:t>
            </a:r>
            <a:r>
              <a:rPr lang="en-US" dirty="0">
                <a:solidFill>
                  <a:schemeClr val="tx1"/>
                </a:solidFill>
              </a:rPr>
              <a:t> anticipate, cum </a:t>
            </a:r>
            <a:r>
              <a:rPr lang="en-US" dirty="0" err="1">
                <a:solidFill>
                  <a:schemeClr val="tx1"/>
                </a:solidFill>
              </a:rPr>
              <a:t>ar</a:t>
            </a:r>
            <a:r>
              <a:rPr lang="en-US" dirty="0">
                <a:solidFill>
                  <a:schemeClr val="tx1"/>
                </a:solidFill>
              </a:rPr>
              <a:t> fi </a:t>
            </a:r>
            <a:r>
              <a:rPr lang="en-US" dirty="0" err="1">
                <a:solidFill>
                  <a:schemeClr val="tx1"/>
                </a:solidFill>
              </a:rPr>
              <a:t>capacitatea</a:t>
            </a:r>
            <a:r>
              <a:rPr lang="en-US" dirty="0">
                <a:solidFill>
                  <a:schemeClr val="tx1"/>
                </a:solidFill>
              </a:rPr>
              <a:t> de a </a:t>
            </a:r>
            <a:r>
              <a:rPr lang="en-US" dirty="0" err="1">
                <a:solidFill>
                  <a:schemeClr val="tx1"/>
                </a:solidFill>
              </a:rPr>
              <a:t>retrage</a:t>
            </a:r>
            <a:r>
              <a:rPr lang="en-US" dirty="0">
                <a:solidFill>
                  <a:schemeClr val="tx1"/>
                </a:solidFill>
              </a:rPr>
              <a:t> Ethereum </a:t>
            </a:r>
            <a:r>
              <a:rPr lang="en-US" dirty="0" err="1">
                <a:solidFill>
                  <a:schemeClr val="tx1"/>
                </a:solidFill>
              </a:rPr>
              <a:t>mizat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13970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        Upgrade-</a:t>
            </a:r>
            <a:r>
              <a:rPr lang="en-US" dirty="0" err="1">
                <a:solidFill>
                  <a:schemeClr val="tx1"/>
                </a:solidFill>
              </a:rPr>
              <a:t>ul</a:t>
            </a:r>
            <a:r>
              <a:rPr lang="en-US" dirty="0">
                <a:solidFill>
                  <a:schemeClr val="tx1"/>
                </a:solidFill>
              </a:rPr>
              <a:t> Shanghai a </a:t>
            </a:r>
            <a:r>
              <a:rPr lang="en-US" dirty="0" err="1">
                <a:solidFill>
                  <a:schemeClr val="tx1"/>
                </a:solidFill>
              </a:rPr>
              <a:t>fost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realizat</a:t>
            </a:r>
            <a:r>
              <a:rPr lang="en-US" dirty="0">
                <a:solidFill>
                  <a:schemeClr val="tx1"/>
                </a:solidFill>
              </a:rPr>
              <a:t> pe 13 </a:t>
            </a:r>
            <a:r>
              <a:rPr lang="en-US" dirty="0" err="1">
                <a:solidFill>
                  <a:schemeClr val="tx1"/>
                </a:solidFill>
              </a:rPr>
              <a:t>aprilie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ora</a:t>
            </a:r>
            <a:r>
              <a:rPr lang="en-US" dirty="0">
                <a:solidFill>
                  <a:schemeClr val="tx1"/>
                </a:solidFill>
              </a:rPr>
              <a:t> 01:42 (22:42 UTC) </a:t>
            </a:r>
            <a:r>
              <a:rPr lang="en-US" dirty="0" err="1">
                <a:solidFill>
                  <a:schemeClr val="tx1"/>
                </a:solidFill>
              </a:rPr>
              <a:t>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permite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participantilor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abilitatea</a:t>
            </a:r>
            <a:r>
              <a:rPr lang="en-US" dirty="0">
                <a:solidFill>
                  <a:schemeClr val="tx1"/>
                </a:solidFill>
              </a:rPr>
              <a:t> de a </a:t>
            </a:r>
            <a:r>
              <a:rPr lang="en-US" dirty="0" err="1">
                <a:solidFill>
                  <a:schemeClr val="tx1"/>
                </a:solidFill>
              </a:rPr>
              <a:t>retrage</a:t>
            </a:r>
            <a:r>
              <a:rPr lang="en-US" dirty="0">
                <a:solidFill>
                  <a:schemeClr val="tx1"/>
                </a:solidFill>
              </a:rPr>
              <a:t> Ethereum-</a:t>
            </a:r>
            <a:r>
              <a:rPr lang="en-US" dirty="0" err="1">
                <a:solidFill>
                  <a:schemeClr val="tx1"/>
                </a:solidFill>
              </a:rPr>
              <a:t>ul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mizat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7680B-0EA3-8B40-18CB-F9F557AE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633" y="2625184"/>
            <a:ext cx="3273103" cy="21608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C0422-0AE7-38EE-13B7-60CFB27AC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64" y="2765531"/>
            <a:ext cx="3593616" cy="182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66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963BDFD-8DBC-FA82-8CE7-233E1C31D716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633952" y="382887"/>
            <a:ext cx="6343200" cy="575700"/>
          </a:xfrm>
        </p:spPr>
        <p:txBody>
          <a:bodyPr/>
          <a:lstStyle/>
          <a:p>
            <a:r>
              <a:rPr lang="en-US" sz="3200" b="1" dirty="0"/>
              <a:t>The Merge and </a:t>
            </a:r>
            <a:r>
              <a:rPr lang="en-US" sz="3200" b="1" dirty="0" err="1"/>
              <a:t>Sharding</a:t>
            </a:r>
            <a:endParaRPr lang="en-US" sz="32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6A7E6B-8D89-33C3-19D9-FA840FD62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728" y="2527515"/>
            <a:ext cx="5644544" cy="24216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E0145A-32F9-20C1-C3D9-B5385D7FE347}"/>
              </a:ext>
            </a:extLst>
          </p:cNvPr>
          <p:cNvSpPr txBox="1"/>
          <p:nvPr/>
        </p:nvSpPr>
        <p:spPr>
          <a:xfrm>
            <a:off x="633952" y="1323316"/>
            <a:ext cx="65492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       Initial,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planul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era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se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lucreze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la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sharding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inainte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Merge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aborda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scalabilitatea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. Cu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toate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acestea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odata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cu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avantul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solutiilor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scalare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layer 2,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prioritatea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s-a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mutat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intai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la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schimbarea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 la Proof of Work la Proof of Stake.</a:t>
            </a:r>
          </a:p>
          <a:p>
            <a:pPr algn="just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      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Planurile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pentru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sharding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sunt in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evolutie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rapida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nu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ar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fi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putut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fi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posibila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fara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tranzitia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initiala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la Proof of Stake.</a:t>
            </a:r>
          </a:p>
        </p:txBody>
      </p:sp>
    </p:spTree>
    <p:extLst>
      <p:ext uri="{BB962C8B-B14F-4D97-AF65-F5344CB8AC3E}">
        <p14:creationId xmlns:p14="http://schemas.microsoft.com/office/powerpoint/2010/main" val="3587330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>
            <a:spLocks noGrp="1"/>
          </p:cNvSpPr>
          <p:nvPr>
            <p:ph type="title"/>
          </p:nvPr>
        </p:nvSpPr>
        <p:spPr>
          <a:xfrm>
            <a:off x="720000" y="194834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 err="1"/>
              <a:t>Referinte</a:t>
            </a:r>
            <a:endParaRPr b="1" dirty="0"/>
          </a:p>
        </p:txBody>
      </p:sp>
      <p:sp>
        <p:nvSpPr>
          <p:cNvPr id="202" name="Google Shape;202;p38"/>
          <p:cNvSpPr txBox="1">
            <a:spLocks noGrp="1"/>
          </p:cNvSpPr>
          <p:nvPr>
            <p:ph type="title" idx="2"/>
          </p:nvPr>
        </p:nvSpPr>
        <p:spPr>
          <a:xfrm>
            <a:off x="4039075" y="787325"/>
            <a:ext cx="1065900" cy="10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203" name="Google Shape;203;p38"/>
          <p:cNvSpPr txBox="1">
            <a:spLocks noGrp="1"/>
          </p:cNvSpPr>
          <p:nvPr>
            <p:ph type="subTitle" idx="1"/>
          </p:nvPr>
        </p:nvSpPr>
        <p:spPr>
          <a:xfrm>
            <a:off x="1645083" y="2885263"/>
            <a:ext cx="5853834" cy="486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Linkuri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documentatie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50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66"/>
          <p:cNvSpPr txBox="1">
            <a:spLocks noGrp="1"/>
          </p:cNvSpPr>
          <p:nvPr>
            <p:ph type="title" idx="2"/>
          </p:nvPr>
        </p:nvSpPr>
        <p:spPr>
          <a:xfrm>
            <a:off x="629122" y="387601"/>
            <a:ext cx="6343200" cy="5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Referinte</a:t>
            </a:r>
            <a:endParaRPr sz="3200" b="1" dirty="0"/>
          </a:p>
        </p:txBody>
      </p:sp>
      <p:sp>
        <p:nvSpPr>
          <p:cNvPr id="1155" name="Google Shape;1155;p66"/>
          <p:cNvSpPr txBox="1">
            <a:spLocks noGrp="1"/>
          </p:cNvSpPr>
          <p:nvPr>
            <p:ph type="subTitle" idx="1"/>
          </p:nvPr>
        </p:nvSpPr>
        <p:spPr>
          <a:xfrm>
            <a:off x="629122" y="1326899"/>
            <a:ext cx="6655188" cy="3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https://ethereum.org/en/roadmap/merge/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https://ethereum.org/en/energy-consumption/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https://ethereum.org/en/roadmap/beacon-chain/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https://ethereum.org/en/developers/docs/gas/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https://ethereum.org/en/roadmap/danksharding/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https://ethereum.org/en/dapps/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https://ethereum.org/en/layer-2/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https://ethereum.org/en/developers/docs/consensus-mechanisms/pos/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https://ethereum.org/en/developers/docs/consensus-mechanisms/pos/gasper/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https://medium.com/block6/summary-of-ethereums-new-consensus-protocol-gasper-5a23131c8c74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https://arxiv.org/pdf/2003.03052.pdf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https://blog.ethereum.org/2021/11/29/how-the-merge-impacts-app-layer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https://blog.ethereum.org/2022/01/24/the-great-eth2-renaming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https://builtin.com/blockchain/ethereum-merge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35;p58">
            <a:extLst>
              <a:ext uri="{FF2B5EF4-FFF2-40B4-BE49-F238E27FC236}">
                <a16:creationId xmlns:a16="http://schemas.microsoft.com/office/drawing/2014/main" id="{5F32DF0E-7F2C-484D-39EB-C6429FFFA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2225" y="874650"/>
            <a:ext cx="5719500" cy="10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Multumesc pentru atentie!</a:t>
            </a:r>
            <a:endParaRPr sz="3200" b="1" dirty="0"/>
          </a:p>
        </p:txBody>
      </p:sp>
      <p:sp>
        <p:nvSpPr>
          <p:cNvPr id="11" name="Google Shape;674;p62">
            <a:extLst>
              <a:ext uri="{FF2B5EF4-FFF2-40B4-BE49-F238E27FC236}">
                <a16:creationId xmlns:a16="http://schemas.microsoft.com/office/drawing/2014/main" id="{73A0BAFD-18DC-20D0-EF9E-DE7EF6DD62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12225" y="1954350"/>
            <a:ext cx="57195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Intrebari?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1438487217"/>
      </p:ext>
    </p:extLst>
  </p:cSld>
  <p:clrMapOvr>
    <a:masterClrMapping/>
  </p:clrMapOvr>
</p:sld>
</file>

<file path=ppt/theme/theme1.xml><?xml version="1.0" encoding="utf-8"?>
<a:theme xmlns:a="http://schemas.openxmlformats.org/drawingml/2006/main" name="Difference Between Cryptocurrency and Stocks by Slidesgo">
  <a:themeElements>
    <a:clrScheme name="Simple Light">
      <a:dk1>
        <a:srgbClr val="313131"/>
      </a:dk1>
      <a:lt1>
        <a:srgbClr val="FFFFFF"/>
      </a:lt1>
      <a:dk2>
        <a:srgbClr val="D8867B"/>
      </a:dk2>
      <a:lt2>
        <a:srgbClr val="7DBBBF"/>
      </a:lt2>
      <a:accent1>
        <a:srgbClr val="FFF27B"/>
      </a:accent1>
      <a:accent2>
        <a:srgbClr val="B1CB7C"/>
      </a:accent2>
      <a:accent3>
        <a:srgbClr val="F6F6F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71D2946E456C47881ECA0D615784D5" ma:contentTypeVersion="3" ma:contentTypeDescription="Create a new document." ma:contentTypeScope="" ma:versionID="3bc418655c05e1083f5595b12c8d5dee">
  <xsd:schema xmlns:xsd="http://www.w3.org/2001/XMLSchema" xmlns:xs="http://www.w3.org/2001/XMLSchema" xmlns:p="http://schemas.microsoft.com/office/2006/metadata/properties" xmlns:ns2="fc0d979a-e7b1-487b-a242-0c112772050d" targetNamespace="http://schemas.microsoft.com/office/2006/metadata/properties" ma:root="true" ma:fieldsID="a0b8d3925571d23706356861fd27c485" ns2:_="">
    <xsd:import namespace="fc0d979a-e7b1-487b-a242-0c112772050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0d979a-e7b1-487b-a242-0c112772050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9D2180-3C4A-4643-8B3C-78C4CDE0EB9F}"/>
</file>

<file path=customXml/itemProps2.xml><?xml version="1.0" encoding="utf-8"?>
<ds:datastoreItem xmlns:ds="http://schemas.openxmlformats.org/officeDocument/2006/customXml" ds:itemID="{C78881F4-8FB7-4BB0-9AAD-CB6AA2270468}"/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1717</Words>
  <Application>Microsoft Office PowerPoint</Application>
  <PresentationFormat>On-screen Show (16:9)</PresentationFormat>
  <Paragraphs>145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Poppins SemiBold</vt:lpstr>
      <vt:lpstr>Poppins</vt:lpstr>
      <vt:lpstr>Arial</vt:lpstr>
      <vt:lpstr>Lato</vt:lpstr>
      <vt:lpstr>Difference Between Cryptocurrency and Stocks by Slidesgo</vt:lpstr>
      <vt:lpstr>Ethereum The Merge</vt:lpstr>
      <vt:lpstr>Introducere</vt:lpstr>
      <vt:lpstr>Introduction</vt:lpstr>
      <vt:lpstr>Ethereum</vt:lpstr>
      <vt:lpstr>PoW Vs PoS</vt:lpstr>
      <vt:lpstr>The Beacon Chain</vt:lpstr>
      <vt:lpstr>The Merge</vt:lpstr>
      <vt:lpstr>The Merge</vt:lpstr>
      <vt:lpstr>PowerPoint Presentation</vt:lpstr>
      <vt:lpstr>Cum functioneaza miza (staking-ul)?</vt:lpstr>
      <vt:lpstr>Gasper</vt:lpstr>
      <vt:lpstr>PowerPoint Presentation</vt:lpstr>
      <vt:lpstr>Consumul energetic September 2022</vt:lpstr>
      <vt:lpstr>ETH1.0 or ETH2.0 or ETH?</vt:lpstr>
      <vt:lpstr>Impact asupra utilizatorilor</vt:lpstr>
      <vt:lpstr>Impact asupra dApps</vt:lpstr>
      <vt:lpstr>Prezumtii gresite asupra The Merge</vt:lpstr>
      <vt:lpstr>Pros &amp; Cons</vt:lpstr>
      <vt:lpstr>What’s Next</vt:lpstr>
      <vt:lpstr>The Merge and Shanghai Upgrade</vt:lpstr>
      <vt:lpstr>The Merge and Sharding</vt:lpstr>
      <vt:lpstr>Referinte</vt:lpstr>
      <vt:lpstr>Referinte</vt:lpstr>
      <vt:lpstr>Multumesc pentru atentie!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Ethereum The Merge</dc:title>
  <cp:lastModifiedBy>DRAGOS ADRIAN CUCIUREANU</cp:lastModifiedBy>
  <cp:revision>19</cp:revision>
  <dcterms:modified xsi:type="dcterms:W3CDTF">2023-04-13T09:28:37Z</dcterms:modified>
</cp:coreProperties>
</file>