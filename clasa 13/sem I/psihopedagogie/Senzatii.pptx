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038AC-83F5-4C59-B2F1-D01F2850756C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FFA50-8535-427C-BEA2-9441014009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FFA50-8535-427C-BEA2-94410140099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9600" dirty="0" err="1"/>
              <a:t>Senzatia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De la </a:t>
            </a:r>
            <a:r>
              <a:rPr lang="en-US" dirty="0" err="1"/>
              <a:t>excitabilitate</a:t>
            </a:r>
            <a:r>
              <a:rPr lang="en-US" dirty="0"/>
              <a:t>  la </a:t>
            </a:r>
            <a:r>
              <a:rPr lang="en-US" dirty="0" err="1"/>
              <a:t>sensibilitate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153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err="1"/>
              <a:t>Studiul</a:t>
            </a:r>
            <a:r>
              <a:rPr lang="en-US" dirty="0"/>
              <a:t> experimental al </a:t>
            </a:r>
            <a:r>
              <a:rPr lang="en-US" dirty="0" err="1"/>
              <a:t>senzatiilor</a:t>
            </a:r>
            <a:r>
              <a:rPr lang="en-US" dirty="0"/>
              <a:t> a </a:t>
            </a:r>
            <a:r>
              <a:rPr lang="en-US" dirty="0" err="1"/>
              <a:t>constituit</a:t>
            </a:r>
            <a:r>
              <a:rPr lang="en-US" dirty="0"/>
              <a:t> </a:t>
            </a:r>
            <a:r>
              <a:rPr lang="en-US" dirty="0" err="1"/>
              <a:t>actul</a:t>
            </a:r>
            <a:r>
              <a:rPr lang="en-US" dirty="0"/>
              <a:t> de </a:t>
            </a:r>
            <a:r>
              <a:rPr lang="en-US" dirty="0" err="1"/>
              <a:t>nastere</a:t>
            </a:r>
            <a:r>
              <a:rPr lang="en-US" dirty="0"/>
              <a:t> al </a:t>
            </a:r>
            <a:r>
              <a:rPr lang="en-US" dirty="0" err="1"/>
              <a:t>psihologiei</a:t>
            </a:r>
            <a:r>
              <a:rPr lang="en-US" dirty="0"/>
              <a:t> ca </a:t>
            </a:r>
            <a:r>
              <a:rPr lang="en-US" dirty="0" err="1"/>
              <a:t>stiinta</a:t>
            </a:r>
            <a:r>
              <a:rPr lang="en-US" dirty="0"/>
              <a:t> </a:t>
            </a:r>
            <a:r>
              <a:rPr lang="en-US" dirty="0" err="1"/>
              <a:t>autonoma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P.Popescu</a:t>
            </a:r>
            <a:r>
              <a:rPr lang="en-US" dirty="0"/>
              <a:t> </a:t>
            </a:r>
            <a:r>
              <a:rPr lang="en-US" dirty="0" err="1"/>
              <a:t>Neveanu</a:t>
            </a:r>
            <a:r>
              <a:rPr lang="en-US" dirty="0"/>
              <a:t> &amp;</a:t>
            </a:r>
            <a:r>
              <a:rPr lang="en-US" dirty="0" err="1"/>
              <a:t>M.Golu</a:t>
            </a:r>
            <a:r>
              <a:rPr lang="en-US" dirty="0"/>
              <a:t>: </a:t>
            </a:r>
            <a:r>
              <a:rPr lang="en-US" dirty="0" err="1"/>
              <a:t>sensibilitatea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fenomen</a:t>
            </a:r>
            <a:r>
              <a:rPr lang="en-US" dirty="0"/>
              <a:t> in sine, </a:t>
            </a:r>
            <a:r>
              <a:rPr lang="en-US" dirty="0" err="1"/>
              <a:t>izolat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adaugat</a:t>
            </a:r>
            <a:r>
              <a:rPr lang="en-US" dirty="0"/>
              <a:t> din </a:t>
            </a:r>
            <a:r>
              <a:rPr lang="en-US" dirty="0" err="1"/>
              <a:t>afara</a:t>
            </a:r>
            <a:r>
              <a:rPr lang="en-US" dirty="0"/>
              <a:t> la </a:t>
            </a:r>
            <a:r>
              <a:rPr lang="en-US" dirty="0" err="1"/>
              <a:t>fenomenele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procesele</a:t>
            </a:r>
            <a:r>
              <a:rPr lang="en-US" dirty="0"/>
              <a:t> </a:t>
            </a:r>
            <a:r>
              <a:rPr lang="en-US" dirty="0" err="1"/>
              <a:t>naturale</a:t>
            </a:r>
            <a:r>
              <a:rPr lang="en-US" dirty="0"/>
              <a:t> </a:t>
            </a:r>
            <a:r>
              <a:rPr lang="en-US" dirty="0" err="1"/>
              <a:t>ci</a:t>
            </a:r>
            <a:r>
              <a:rPr lang="en-US" dirty="0"/>
              <a:t> o </a:t>
            </a:r>
            <a:r>
              <a:rPr lang="en-US" dirty="0" err="1"/>
              <a:t>functie</a:t>
            </a:r>
            <a:r>
              <a:rPr lang="en-US" dirty="0"/>
              <a:t>, o </a:t>
            </a:r>
            <a:r>
              <a:rPr lang="en-US" dirty="0" err="1"/>
              <a:t>proprietate</a:t>
            </a:r>
            <a:r>
              <a:rPr lang="en-US" dirty="0"/>
              <a:t> </a:t>
            </a:r>
            <a:r>
              <a:rPr lang="en-US" dirty="0" err="1"/>
              <a:t>obiectiv</a:t>
            </a:r>
            <a:r>
              <a:rPr lang="en-US" dirty="0"/>
              <a:t> </a:t>
            </a:r>
            <a:r>
              <a:rPr lang="en-US" dirty="0" err="1"/>
              <a:t>determinata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conditionata</a:t>
            </a:r>
            <a:r>
              <a:rPr lang="en-US" dirty="0"/>
              <a:t> de </a:t>
            </a:r>
            <a:r>
              <a:rPr lang="en-US" dirty="0" err="1"/>
              <a:t>necesitati</a:t>
            </a:r>
            <a:r>
              <a:rPr lang="en-US" dirty="0"/>
              <a:t> de </a:t>
            </a:r>
            <a:r>
              <a:rPr lang="en-US" dirty="0" err="1"/>
              <a:t>ordin</a:t>
            </a:r>
            <a:r>
              <a:rPr lang="en-US" dirty="0"/>
              <a:t> biologic </a:t>
            </a:r>
            <a:r>
              <a:rPr lang="en-US" dirty="0" err="1"/>
              <a:t>impuse</a:t>
            </a:r>
            <a:r>
              <a:rPr lang="en-US" dirty="0"/>
              <a:t> de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adaptarii</a:t>
            </a:r>
            <a:r>
              <a:rPr lang="en-US" dirty="0"/>
              <a:t> </a:t>
            </a:r>
            <a:r>
              <a:rPr lang="en-US" dirty="0" err="1"/>
              <a:t>organismului</a:t>
            </a:r>
            <a:r>
              <a:rPr lang="en-US" dirty="0"/>
              <a:t> la </a:t>
            </a:r>
            <a:r>
              <a:rPr lang="en-US" dirty="0" err="1"/>
              <a:t>mediu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a </a:t>
            </a:r>
            <a:r>
              <a:rPr lang="en-US" dirty="0" err="1"/>
              <a:t>aparut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s-a </a:t>
            </a:r>
            <a:r>
              <a:rPr lang="en-US" dirty="0" err="1"/>
              <a:t>dezvoltat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</a:t>
            </a:r>
            <a:r>
              <a:rPr lang="en-US" dirty="0" err="1"/>
              <a:t>interactiunii</a:t>
            </a:r>
            <a:r>
              <a:rPr lang="en-US" dirty="0"/>
              <a:t> cu </a:t>
            </a:r>
            <a:r>
              <a:rPr lang="en-US" dirty="0" err="1"/>
              <a:t>mediul</a:t>
            </a:r>
            <a:r>
              <a:rPr lang="en-US" dirty="0"/>
              <a:t> </a:t>
            </a:r>
            <a:r>
              <a:rPr lang="en-US" dirty="0" err="1"/>
              <a:t>ambiant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 </a:t>
            </a:r>
            <a:r>
              <a:rPr lang="en-US" dirty="0" err="1"/>
              <a:t>masura</a:t>
            </a:r>
            <a:r>
              <a:rPr lang="en-US" dirty="0"/>
              <a:t> in care </a:t>
            </a:r>
            <a:r>
              <a:rPr lang="en-US" dirty="0" err="1"/>
              <a:t>organismul</a:t>
            </a:r>
            <a:r>
              <a:rPr lang="en-US" dirty="0"/>
              <a:t> </a:t>
            </a:r>
            <a:r>
              <a:rPr lang="en-US" dirty="0" err="1"/>
              <a:t>dezvolta</a:t>
            </a:r>
            <a:r>
              <a:rPr lang="en-US" dirty="0"/>
              <a:t> </a:t>
            </a:r>
            <a:r>
              <a:rPr lang="en-US" dirty="0" err="1"/>
              <a:t>capacitati</a:t>
            </a:r>
            <a:r>
              <a:rPr lang="en-US" dirty="0"/>
              <a:t> de </a:t>
            </a:r>
            <a:r>
              <a:rPr lang="en-US" dirty="0" err="1"/>
              <a:t>detectare</a:t>
            </a:r>
            <a:r>
              <a:rPr lang="en-US" dirty="0"/>
              <a:t>, </a:t>
            </a:r>
            <a:r>
              <a:rPr lang="en-US" dirty="0" err="1"/>
              <a:t>inregistrare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a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externi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a </a:t>
            </a:r>
            <a:r>
              <a:rPr lang="en-US" dirty="0" err="1"/>
              <a:t>aparut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s-a </a:t>
            </a:r>
            <a:r>
              <a:rPr lang="en-US" dirty="0" err="1"/>
              <a:t>dezvoltat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fundalul</a:t>
            </a:r>
            <a:r>
              <a:rPr lang="en-US" dirty="0"/>
              <a:t> </a:t>
            </a:r>
            <a:r>
              <a:rPr lang="en-US" dirty="0" err="1"/>
              <a:t>excitabilitatii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Excitabilitatea</a:t>
            </a:r>
            <a:r>
              <a:rPr lang="en-US" dirty="0"/>
              <a:t>= </a:t>
            </a: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dirty="0" err="1"/>
              <a:t>biologica</a:t>
            </a:r>
            <a:r>
              <a:rPr lang="en-US" dirty="0"/>
              <a:t> </a:t>
            </a:r>
            <a:r>
              <a:rPr lang="en-US" dirty="0" err="1"/>
              <a:t>generala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asigura</a:t>
            </a:r>
            <a:r>
              <a:rPr lang="en-US" dirty="0"/>
              <a:t> </a:t>
            </a:r>
            <a:r>
              <a:rPr lang="en-US" dirty="0" err="1"/>
              <a:t>fiintelor</a:t>
            </a:r>
            <a:r>
              <a:rPr lang="en-US" dirty="0"/>
              <a:t> vii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receptiona</a:t>
            </a:r>
            <a:r>
              <a:rPr lang="en-US" dirty="0"/>
              <a:t> </a:t>
            </a:r>
            <a:r>
              <a:rPr lang="en-US" dirty="0" err="1"/>
              <a:t>influentele</a:t>
            </a:r>
            <a:r>
              <a:rPr lang="en-US" dirty="0"/>
              <a:t> </a:t>
            </a:r>
            <a:r>
              <a:rPr lang="en-US" dirty="0" err="1"/>
              <a:t>externe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a </a:t>
            </a:r>
            <a:r>
              <a:rPr lang="en-US" dirty="0" err="1"/>
              <a:t>raspunde</a:t>
            </a:r>
            <a:r>
              <a:rPr lang="en-US" dirty="0"/>
              <a:t> la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selectiv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-o stare de 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interna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</a:t>
            </a:r>
            <a:r>
              <a:rPr lang="en-US" dirty="0" err="1"/>
              <a:t>oricarei</a:t>
            </a:r>
            <a:r>
              <a:rPr lang="en-US" dirty="0"/>
              <a:t>  </a:t>
            </a:r>
            <a:r>
              <a:rPr lang="en-US" dirty="0" err="1"/>
              <a:t>fiinte</a:t>
            </a:r>
            <a:r>
              <a:rPr lang="en-US" dirty="0"/>
              <a:t> vii </a:t>
            </a:r>
            <a:r>
              <a:rPr lang="en-US" dirty="0" err="1"/>
              <a:t>si</a:t>
            </a:r>
            <a:r>
              <a:rPr lang="en-US" dirty="0"/>
              <a:t> nu </a:t>
            </a:r>
            <a:r>
              <a:rPr lang="en-US" dirty="0" err="1"/>
              <a:t>apare</a:t>
            </a:r>
            <a:r>
              <a:rPr lang="en-US" dirty="0"/>
              <a:t> ca </a:t>
            </a:r>
            <a:r>
              <a:rPr lang="en-US" dirty="0" err="1"/>
              <a:t>expresie</a:t>
            </a:r>
            <a:r>
              <a:rPr lang="en-US" dirty="0"/>
              <a:t> 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organe</a:t>
            </a:r>
            <a:r>
              <a:rPr lang="en-US" dirty="0"/>
              <a:t> </a:t>
            </a:r>
            <a:r>
              <a:rPr lang="en-US" dirty="0" err="1"/>
              <a:t>specializate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Organismul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receptor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efector</a:t>
            </a:r>
            <a:r>
              <a:rPr lang="en-US" dirty="0"/>
              <a:t> in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err="1"/>
              <a:t>Deplasarea</a:t>
            </a:r>
            <a:r>
              <a:rPr lang="en-US" dirty="0"/>
              <a:t> </a:t>
            </a:r>
            <a:r>
              <a:rPr lang="en-US" dirty="0" err="1"/>
              <a:t>sporeste</a:t>
            </a:r>
            <a:r>
              <a:rPr lang="en-US" dirty="0"/>
              <a:t> </a:t>
            </a:r>
            <a:r>
              <a:rPr lang="en-US" dirty="0" err="1"/>
              <a:t>considerabil</a:t>
            </a:r>
            <a:r>
              <a:rPr lang="en-US" dirty="0"/>
              <a:t> </a:t>
            </a:r>
            <a:r>
              <a:rPr lang="en-US" dirty="0" err="1"/>
              <a:t>cantitatea</a:t>
            </a:r>
            <a:r>
              <a:rPr lang="en-US" dirty="0"/>
              <a:t> de </a:t>
            </a:r>
            <a:r>
              <a:rPr lang="en-US" dirty="0" err="1"/>
              <a:t>informatie</a:t>
            </a:r>
            <a:r>
              <a:rPr lang="en-US" dirty="0"/>
              <a:t> cu care se </a:t>
            </a:r>
            <a:r>
              <a:rPr lang="en-US" dirty="0" err="1"/>
              <a:t>confrunta</a:t>
            </a:r>
            <a:r>
              <a:rPr lang="en-US" dirty="0"/>
              <a:t> </a:t>
            </a:r>
            <a:r>
              <a:rPr lang="en-US" dirty="0" err="1"/>
              <a:t>organismul</a:t>
            </a:r>
            <a:r>
              <a:rPr lang="en-US" dirty="0"/>
              <a:t>-&gt;</a:t>
            </a:r>
            <a:r>
              <a:rPr lang="en-US" dirty="0" err="1"/>
              <a:t>Acest</a:t>
            </a:r>
            <a:r>
              <a:rPr lang="en-US" dirty="0"/>
              <a:t> “</a:t>
            </a:r>
            <a:r>
              <a:rPr lang="en-US" dirty="0" err="1"/>
              <a:t>bombardament</a:t>
            </a:r>
            <a:r>
              <a:rPr lang="en-US" dirty="0"/>
              <a:t>” informational </a:t>
            </a:r>
            <a:r>
              <a:rPr lang="en-US" dirty="0" err="1"/>
              <a:t>complica</a:t>
            </a:r>
            <a:r>
              <a:rPr lang="en-US" dirty="0"/>
              <a:t> </a:t>
            </a:r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comportamente</a:t>
            </a:r>
            <a:r>
              <a:rPr lang="en-US" dirty="0"/>
              <a:t> </a:t>
            </a:r>
            <a:r>
              <a:rPr lang="en-US" dirty="0" err="1"/>
              <a:t>adaptative</a:t>
            </a:r>
            <a:r>
              <a:rPr lang="en-US" dirty="0"/>
              <a:t> </a:t>
            </a:r>
            <a:r>
              <a:rPr lang="en-US" dirty="0" err="1"/>
              <a:t>adecvate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0"/>
            <a:ext cx="8229600" cy="6858000"/>
          </a:xfrm>
        </p:spPr>
        <p:txBody>
          <a:bodyPr>
            <a:normAutofit/>
          </a:bodyPr>
          <a:lstStyle/>
          <a:p>
            <a:pPr algn="just"/>
            <a:r>
              <a:rPr lang="en-US" sz="1800" dirty="0" err="1"/>
              <a:t>Daca</a:t>
            </a:r>
            <a:r>
              <a:rPr lang="en-US" sz="1800" dirty="0"/>
              <a:t> din </a:t>
            </a:r>
            <a:r>
              <a:rPr lang="en-US" sz="1800" dirty="0" err="1"/>
              <a:t>punct</a:t>
            </a:r>
            <a:r>
              <a:rPr lang="en-US" sz="1800" dirty="0"/>
              <a:t> de </a:t>
            </a:r>
            <a:r>
              <a:rPr lang="en-US" sz="1800" dirty="0" err="1"/>
              <a:t>vedere</a:t>
            </a:r>
            <a:r>
              <a:rPr lang="en-US" sz="1800" dirty="0"/>
              <a:t> al </a:t>
            </a:r>
            <a:r>
              <a:rPr lang="en-US" sz="1800" dirty="0" err="1"/>
              <a:t>excitabilitatii</a:t>
            </a:r>
            <a:r>
              <a:rPr lang="en-US" sz="1800" dirty="0"/>
              <a:t> </a:t>
            </a:r>
            <a:r>
              <a:rPr lang="en-US" sz="1800" dirty="0" err="1"/>
              <a:t>avem</a:t>
            </a:r>
            <a:r>
              <a:rPr lang="en-US" sz="1800" dirty="0"/>
              <a:t> de-a face cu o </a:t>
            </a:r>
            <a:r>
              <a:rPr lang="en-US" sz="1800" dirty="0" err="1"/>
              <a:t>reactie</a:t>
            </a:r>
            <a:r>
              <a:rPr lang="en-US" sz="1800" dirty="0"/>
              <a:t> </a:t>
            </a:r>
            <a:r>
              <a:rPr lang="en-US" sz="1800" dirty="0" err="1"/>
              <a:t>primara</a:t>
            </a:r>
            <a:r>
              <a:rPr lang="en-US" sz="1800" dirty="0"/>
              <a:t>, </a:t>
            </a:r>
            <a:r>
              <a:rPr lang="en-US" sz="1800" dirty="0" err="1"/>
              <a:t>simpla</a:t>
            </a:r>
            <a:r>
              <a:rPr lang="en-US" sz="1800" dirty="0"/>
              <a:t>, </a:t>
            </a:r>
            <a:r>
              <a:rPr lang="en-US" sz="1800" dirty="0" err="1"/>
              <a:t>innascuta,orientata</a:t>
            </a:r>
            <a:r>
              <a:rPr lang="en-US" sz="1800" dirty="0"/>
              <a:t> </a:t>
            </a:r>
            <a:r>
              <a:rPr lang="en-US" sz="1800" dirty="0" err="1"/>
              <a:t>preponderent</a:t>
            </a:r>
            <a:r>
              <a:rPr lang="en-US" sz="1800" dirty="0"/>
              <a:t> </a:t>
            </a:r>
            <a:r>
              <a:rPr lang="en-US" sz="1800" dirty="0" err="1"/>
              <a:t>spre</a:t>
            </a:r>
            <a:r>
              <a:rPr lang="en-US" sz="1800" dirty="0"/>
              <a:t> </a:t>
            </a:r>
            <a:r>
              <a:rPr lang="en-US" sz="1800" dirty="0" err="1"/>
              <a:t>aparare</a:t>
            </a:r>
            <a:r>
              <a:rPr lang="en-US" sz="1800" dirty="0"/>
              <a:t> </a:t>
            </a:r>
            <a:r>
              <a:rPr lang="en-US" sz="1800" dirty="0" err="1"/>
              <a:t>fata</a:t>
            </a:r>
            <a:r>
              <a:rPr lang="en-US" sz="1800" dirty="0"/>
              <a:t> de </a:t>
            </a:r>
            <a:r>
              <a:rPr lang="en-US" sz="1800" dirty="0" err="1"/>
              <a:t>stimulii</a:t>
            </a:r>
            <a:r>
              <a:rPr lang="en-US" sz="1800" dirty="0"/>
              <a:t> </a:t>
            </a:r>
            <a:r>
              <a:rPr lang="en-US" sz="1800" dirty="0" err="1"/>
              <a:t>nocivi</a:t>
            </a:r>
            <a:r>
              <a:rPr lang="en-US" sz="1800" dirty="0"/>
              <a:t>, din </a:t>
            </a:r>
            <a:r>
              <a:rPr lang="en-US" sz="1800" dirty="0" err="1"/>
              <a:t>punct</a:t>
            </a:r>
            <a:r>
              <a:rPr lang="en-US" sz="1800" dirty="0"/>
              <a:t> de </a:t>
            </a:r>
            <a:r>
              <a:rPr lang="en-US" sz="1800" dirty="0" err="1"/>
              <a:t>vedere</a:t>
            </a:r>
            <a:r>
              <a:rPr lang="en-US" sz="1800" dirty="0"/>
              <a:t> al </a:t>
            </a:r>
            <a:r>
              <a:rPr lang="en-US" sz="1800" dirty="0" err="1"/>
              <a:t>sensibilitatii</a:t>
            </a:r>
            <a:r>
              <a:rPr lang="en-US" sz="1800" dirty="0"/>
              <a:t> </a:t>
            </a:r>
            <a:r>
              <a:rPr lang="en-US" sz="1800" dirty="0" err="1"/>
              <a:t>avem</a:t>
            </a:r>
            <a:r>
              <a:rPr lang="en-US" sz="1800" dirty="0"/>
              <a:t> de-a face cu o </a:t>
            </a:r>
            <a:r>
              <a:rPr lang="en-US" sz="1800" dirty="0" err="1"/>
              <a:t>reactie</a:t>
            </a:r>
            <a:r>
              <a:rPr lang="en-US" sz="1800" dirty="0"/>
              <a:t> </a:t>
            </a:r>
            <a:r>
              <a:rPr lang="en-US" sz="1800" dirty="0" err="1"/>
              <a:t>selectiva</a:t>
            </a:r>
            <a:r>
              <a:rPr lang="en-US" sz="1800" dirty="0"/>
              <a:t> </a:t>
            </a:r>
            <a:r>
              <a:rPr lang="en-US" sz="1800" dirty="0" err="1"/>
              <a:t>diferentiata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specializata</a:t>
            </a:r>
            <a:r>
              <a:rPr lang="en-US" sz="1800" dirty="0"/>
              <a:t> </a:t>
            </a:r>
            <a:r>
              <a:rPr lang="en-US" sz="1800" dirty="0" err="1"/>
              <a:t>ce</a:t>
            </a:r>
            <a:r>
              <a:rPr lang="en-US" sz="1800" dirty="0"/>
              <a:t> se </a:t>
            </a:r>
            <a:r>
              <a:rPr lang="en-US" sz="1800" dirty="0" err="1"/>
              <a:t>soldeaza</a:t>
            </a:r>
            <a:r>
              <a:rPr lang="en-US" sz="1800" dirty="0"/>
              <a:t> cu </a:t>
            </a:r>
            <a:r>
              <a:rPr lang="en-US" sz="1800" dirty="0" err="1"/>
              <a:t>comportamente</a:t>
            </a:r>
            <a:r>
              <a:rPr lang="en-US" sz="1800" dirty="0"/>
              <a:t> </a:t>
            </a:r>
            <a:r>
              <a:rPr lang="en-US" sz="1800" dirty="0" err="1"/>
              <a:t>adaptative</a:t>
            </a:r>
            <a:r>
              <a:rPr lang="en-US" sz="1800" dirty="0"/>
              <a:t>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complexe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Sensibilitatea,avand</a:t>
            </a:r>
            <a:r>
              <a:rPr lang="en-US" sz="1800" dirty="0"/>
              <a:t> ca </a:t>
            </a:r>
            <a:r>
              <a:rPr lang="en-US" sz="1800" dirty="0" err="1"/>
              <a:t>baza</a:t>
            </a:r>
            <a:r>
              <a:rPr lang="en-US" sz="1800" dirty="0"/>
              <a:t> </a:t>
            </a:r>
            <a:r>
              <a:rPr lang="en-US" sz="1800" dirty="0" err="1"/>
              <a:t>genetica</a:t>
            </a:r>
            <a:r>
              <a:rPr lang="en-US" sz="1800" dirty="0"/>
              <a:t> </a:t>
            </a:r>
            <a:r>
              <a:rPr lang="en-US" sz="1800" dirty="0" err="1"/>
              <a:t>excitabilitatea</a:t>
            </a:r>
            <a:r>
              <a:rPr lang="en-US" sz="1800" dirty="0"/>
              <a:t> </a:t>
            </a:r>
            <a:r>
              <a:rPr lang="en-US" sz="1800" dirty="0" err="1"/>
              <a:t>permite</a:t>
            </a:r>
            <a:r>
              <a:rPr lang="en-US" sz="1800" dirty="0"/>
              <a:t> </a:t>
            </a:r>
            <a:r>
              <a:rPr lang="en-US" sz="1800" dirty="0" err="1"/>
              <a:t>dezvoltarea</a:t>
            </a:r>
            <a:r>
              <a:rPr lang="en-US" sz="1800" dirty="0"/>
              <a:t> </a:t>
            </a:r>
            <a:r>
              <a:rPr lang="en-US" sz="1800" dirty="0" err="1"/>
              <a:t>unor</a:t>
            </a:r>
            <a:r>
              <a:rPr lang="en-US" sz="1800" dirty="0"/>
              <a:t> </a:t>
            </a:r>
            <a:r>
              <a:rPr lang="en-US" sz="1800" dirty="0" err="1"/>
              <a:t>comportamente</a:t>
            </a:r>
            <a:r>
              <a:rPr lang="en-US" sz="1800" dirty="0"/>
              <a:t> </a:t>
            </a:r>
            <a:r>
              <a:rPr lang="en-US" sz="1800" dirty="0" err="1"/>
              <a:t>adptative</a:t>
            </a:r>
            <a:r>
              <a:rPr lang="en-US" sz="1800" dirty="0"/>
              <a:t> </a:t>
            </a:r>
            <a:r>
              <a:rPr lang="en-US" sz="1800" dirty="0" err="1"/>
              <a:t>complexe</a:t>
            </a:r>
            <a:r>
              <a:rPr lang="en-US" sz="1800" dirty="0"/>
              <a:t> in </a:t>
            </a:r>
            <a:r>
              <a:rPr lang="en-US" sz="1800" dirty="0" err="1"/>
              <a:t>raport</a:t>
            </a:r>
            <a:r>
              <a:rPr lang="en-US" sz="1800" dirty="0"/>
              <a:t> cu </a:t>
            </a:r>
            <a:r>
              <a:rPr lang="en-US" sz="1800" dirty="0" err="1"/>
              <a:t>noi</a:t>
            </a:r>
            <a:r>
              <a:rPr lang="en-US" sz="1800" dirty="0"/>
              <a:t> stimuli din </a:t>
            </a:r>
            <a:r>
              <a:rPr lang="en-US" sz="1800" dirty="0" err="1"/>
              <a:t>mediul</a:t>
            </a:r>
            <a:r>
              <a:rPr lang="en-US" sz="1800" dirty="0"/>
              <a:t> </a:t>
            </a:r>
            <a:r>
              <a:rPr lang="en-US" sz="1800" dirty="0" err="1"/>
              <a:t>inconjurator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Dpdv</a:t>
            </a:r>
            <a:r>
              <a:rPr lang="en-US" sz="1800" dirty="0"/>
              <a:t> </a:t>
            </a:r>
            <a:r>
              <a:rPr lang="en-US" sz="1800" dirty="0" err="1"/>
              <a:t>evolutiv</a:t>
            </a:r>
            <a:r>
              <a:rPr lang="en-US" sz="1800" dirty="0"/>
              <a:t>-genetic, </a:t>
            </a:r>
            <a:r>
              <a:rPr lang="en-US" sz="1800" dirty="0" err="1"/>
              <a:t>functia</a:t>
            </a:r>
            <a:r>
              <a:rPr lang="en-US" sz="1800" dirty="0"/>
              <a:t> </a:t>
            </a:r>
            <a:r>
              <a:rPr lang="en-US" sz="1800" dirty="0" err="1"/>
              <a:t>sensibilitatii</a:t>
            </a:r>
            <a:r>
              <a:rPr lang="en-US" sz="1800" dirty="0"/>
              <a:t> s-a </a:t>
            </a:r>
            <a:r>
              <a:rPr lang="en-US" sz="1800" dirty="0" err="1"/>
              <a:t>dezvoltat</a:t>
            </a:r>
            <a:r>
              <a:rPr lang="en-US" sz="1800" dirty="0"/>
              <a:t> in </a:t>
            </a:r>
            <a:r>
              <a:rPr lang="en-US" sz="1800" dirty="0" err="1"/>
              <a:t>conditiile</a:t>
            </a:r>
            <a:r>
              <a:rPr lang="en-US" sz="1800" dirty="0"/>
              <a:t> </a:t>
            </a:r>
            <a:r>
              <a:rPr lang="en-US" sz="1800" dirty="0" err="1"/>
              <a:t>desprinderii</a:t>
            </a:r>
            <a:r>
              <a:rPr lang="en-US" sz="1800" dirty="0"/>
              <a:t> </a:t>
            </a:r>
            <a:r>
              <a:rPr lang="en-US" sz="1800" dirty="0" err="1"/>
              <a:t>treptate</a:t>
            </a:r>
            <a:r>
              <a:rPr lang="en-US" sz="1800" dirty="0"/>
              <a:t> din “</a:t>
            </a:r>
            <a:r>
              <a:rPr lang="en-US" sz="1800" dirty="0" err="1"/>
              <a:t>senzoriumul</a:t>
            </a:r>
            <a:r>
              <a:rPr lang="en-US" sz="1800" dirty="0"/>
              <a:t>  </a:t>
            </a:r>
            <a:r>
              <a:rPr lang="en-US" sz="1800" dirty="0" err="1"/>
              <a:t>comun</a:t>
            </a:r>
            <a:r>
              <a:rPr lang="en-US" sz="1800" dirty="0"/>
              <a:t>” a </a:t>
            </a:r>
            <a:r>
              <a:rPr lang="en-US" sz="1800" dirty="0" err="1"/>
              <a:t>unor</a:t>
            </a:r>
            <a:r>
              <a:rPr lang="en-US" sz="1800" dirty="0"/>
              <a:t> </a:t>
            </a:r>
            <a:r>
              <a:rPr lang="en-US" sz="1800" dirty="0" err="1"/>
              <a:t>organe</a:t>
            </a:r>
            <a:r>
              <a:rPr lang="en-US" sz="1800" dirty="0"/>
              <a:t> cu </a:t>
            </a:r>
            <a:r>
              <a:rPr lang="en-US" sz="1800" dirty="0" err="1"/>
              <a:t>functii</a:t>
            </a:r>
            <a:r>
              <a:rPr lang="en-US" sz="1800" dirty="0"/>
              <a:t> </a:t>
            </a:r>
            <a:r>
              <a:rPr lang="en-US" sz="1800" dirty="0" err="1"/>
              <a:t>receptoare</a:t>
            </a:r>
            <a:r>
              <a:rPr lang="en-US" sz="1800" dirty="0"/>
              <a:t> </a:t>
            </a:r>
            <a:r>
              <a:rPr lang="en-US" sz="1800" dirty="0" err="1"/>
              <a:t>diferentiate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, </a:t>
            </a:r>
            <a:r>
              <a:rPr lang="en-US" sz="1800" dirty="0" err="1"/>
              <a:t>apoi</a:t>
            </a:r>
            <a:r>
              <a:rPr lang="en-US" sz="1800" dirty="0"/>
              <a:t>, </a:t>
            </a:r>
            <a:r>
              <a:rPr lang="en-US" sz="1800" dirty="0" err="1"/>
              <a:t>prin</a:t>
            </a:r>
            <a:r>
              <a:rPr lang="en-US" sz="1800" dirty="0"/>
              <a:t> </a:t>
            </a:r>
            <a:r>
              <a:rPr lang="en-US" sz="1800" dirty="0" err="1"/>
              <a:t>constituirea</a:t>
            </a:r>
            <a:r>
              <a:rPr lang="en-US" sz="1800" dirty="0"/>
              <a:t> </a:t>
            </a:r>
            <a:r>
              <a:rPr lang="en-US" sz="1800" dirty="0" err="1"/>
              <a:t>unor</a:t>
            </a:r>
            <a:r>
              <a:rPr lang="en-US" sz="1800" dirty="0"/>
              <a:t> </a:t>
            </a:r>
            <a:r>
              <a:rPr lang="en-US" sz="1800" dirty="0" err="1"/>
              <a:t>cai</a:t>
            </a:r>
            <a:r>
              <a:rPr lang="en-US" sz="1800" dirty="0"/>
              <a:t> </a:t>
            </a:r>
            <a:r>
              <a:rPr lang="en-US" sz="1800" dirty="0" err="1"/>
              <a:t>specifice</a:t>
            </a:r>
            <a:r>
              <a:rPr lang="en-US" sz="1800" dirty="0"/>
              <a:t> de </a:t>
            </a:r>
            <a:r>
              <a:rPr lang="en-US" sz="1800" dirty="0" err="1"/>
              <a:t>conducere</a:t>
            </a:r>
            <a:r>
              <a:rPr lang="en-US" sz="1800" dirty="0"/>
              <a:t> a </a:t>
            </a:r>
            <a:r>
              <a:rPr lang="en-US" sz="1800" dirty="0" err="1"/>
              <a:t>excitatiei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a </a:t>
            </a:r>
            <a:r>
              <a:rPr lang="en-US" sz="1800" dirty="0" err="1"/>
              <a:t>unor</a:t>
            </a:r>
            <a:r>
              <a:rPr lang="en-US" sz="1800" dirty="0"/>
              <a:t> zone de </a:t>
            </a:r>
            <a:r>
              <a:rPr lang="en-US" sz="1800" dirty="0" err="1"/>
              <a:t>proiectie</a:t>
            </a:r>
            <a:r>
              <a:rPr lang="en-US" sz="1800" dirty="0"/>
              <a:t> </a:t>
            </a:r>
            <a:r>
              <a:rPr lang="en-US" sz="1800" dirty="0" err="1"/>
              <a:t>specializate</a:t>
            </a:r>
            <a:r>
              <a:rPr lang="en-US" sz="1800" dirty="0"/>
              <a:t> in </a:t>
            </a:r>
            <a:r>
              <a:rPr lang="en-US" sz="1800" dirty="0" err="1"/>
              <a:t>analiza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sinteza</a:t>
            </a:r>
            <a:r>
              <a:rPr lang="en-US" sz="1800" dirty="0"/>
              <a:t> </a:t>
            </a:r>
            <a:r>
              <a:rPr lang="en-US" sz="1800" dirty="0" err="1"/>
              <a:t>semnalelor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Sensibilitatea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miscarea</a:t>
            </a:r>
            <a:r>
              <a:rPr lang="en-US" sz="1800" dirty="0"/>
              <a:t> </a:t>
            </a:r>
            <a:r>
              <a:rPr lang="en-US" sz="1800" dirty="0" err="1"/>
              <a:t>realizeaza</a:t>
            </a:r>
            <a:r>
              <a:rPr lang="en-US" sz="1800" dirty="0"/>
              <a:t> o </a:t>
            </a:r>
            <a:r>
              <a:rPr lang="en-US" sz="1800" dirty="0" err="1"/>
              <a:t>corelare</a:t>
            </a:r>
            <a:r>
              <a:rPr lang="en-US" sz="1800" dirty="0"/>
              <a:t> </a:t>
            </a:r>
            <a:r>
              <a:rPr lang="en-US" sz="1800" dirty="0" err="1"/>
              <a:t>structurala</a:t>
            </a:r>
            <a:r>
              <a:rPr lang="en-US" sz="1800" dirty="0"/>
              <a:t> </a:t>
            </a:r>
            <a:r>
              <a:rPr lang="en-US" sz="1800" dirty="0" err="1"/>
              <a:t>functionala</a:t>
            </a:r>
            <a:r>
              <a:rPr lang="en-US" sz="1800" dirty="0"/>
              <a:t> </a:t>
            </a:r>
            <a:r>
              <a:rPr lang="en-US" sz="1800" dirty="0" err="1"/>
              <a:t>alcatuind</a:t>
            </a:r>
            <a:r>
              <a:rPr lang="en-US" sz="1800" dirty="0"/>
              <a:t> </a:t>
            </a:r>
            <a:r>
              <a:rPr lang="en-US" sz="1800" dirty="0" err="1"/>
              <a:t>impreuna</a:t>
            </a:r>
            <a:r>
              <a:rPr lang="en-US" sz="1800" dirty="0"/>
              <a:t> un </a:t>
            </a:r>
            <a:r>
              <a:rPr lang="en-US" sz="1800" dirty="0" err="1"/>
              <a:t>sistem</a:t>
            </a:r>
            <a:r>
              <a:rPr lang="en-US" sz="1800" dirty="0"/>
              <a:t> </a:t>
            </a:r>
            <a:r>
              <a:rPr lang="en-US" sz="1800" dirty="0" err="1"/>
              <a:t>unitar</a:t>
            </a:r>
            <a:r>
              <a:rPr lang="en-US" sz="1800" dirty="0"/>
              <a:t> de </a:t>
            </a:r>
            <a:r>
              <a:rPr lang="en-US" sz="1800" dirty="0" err="1"/>
              <a:t>comanda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control </a:t>
            </a:r>
            <a:r>
              <a:rPr lang="en-US" sz="1800" dirty="0" err="1"/>
              <a:t>dotat</a:t>
            </a:r>
            <a:r>
              <a:rPr lang="en-US" sz="1800" dirty="0"/>
              <a:t> cu </a:t>
            </a:r>
            <a:r>
              <a:rPr lang="en-US" sz="1800" dirty="0" err="1"/>
              <a:t>autoreglare</a:t>
            </a:r>
            <a:r>
              <a:rPr lang="en-US" sz="1800" dirty="0"/>
              <a:t>.-&gt; </a:t>
            </a:r>
            <a:r>
              <a:rPr lang="en-US" sz="1800" dirty="0" err="1"/>
              <a:t>Miscarea</a:t>
            </a:r>
            <a:r>
              <a:rPr lang="en-US" sz="1800" dirty="0"/>
              <a:t> </a:t>
            </a:r>
            <a:r>
              <a:rPr lang="en-US" sz="1800" dirty="0" err="1"/>
              <a:t>constituie</a:t>
            </a:r>
            <a:r>
              <a:rPr lang="en-US" sz="1800" dirty="0"/>
              <a:t> un factor genetic </a:t>
            </a:r>
            <a:r>
              <a:rPr lang="en-US" sz="1800" dirty="0" err="1"/>
              <a:t>dar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functional in </a:t>
            </a:r>
            <a:r>
              <a:rPr lang="en-US" sz="1800" dirty="0" err="1"/>
              <a:t>cadrul</a:t>
            </a:r>
            <a:r>
              <a:rPr lang="en-US" sz="1800" dirty="0"/>
              <a:t> </a:t>
            </a:r>
            <a:r>
              <a:rPr lang="en-US" sz="1800" dirty="0" err="1"/>
              <a:t>sensibilitatii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Datorita</a:t>
            </a:r>
            <a:r>
              <a:rPr lang="en-US" sz="1800" dirty="0"/>
              <a:t> </a:t>
            </a:r>
            <a:r>
              <a:rPr lang="en-US" sz="1800" dirty="0" err="1"/>
              <a:t>miscarii</a:t>
            </a:r>
            <a:r>
              <a:rPr lang="en-US" sz="1800" dirty="0"/>
              <a:t>, </a:t>
            </a:r>
            <a:r>
              <a:rPr lang="en-US" sz="1800" dirty="0" err="1"/>
              <a:t>organismul</a:t>
            </a:r>
            <a:r>
              <a:rPr lang="en-US" sz="1800" dirty="0"/>
              <a:t> </a:t>
            </a:r>
            <a:r>
              <a:rPr lang="en-US" sz="1800" dirty="0" err="1"/>
              <a:t>viu</a:t>
            </a:r>
            <a:r>
              <a:rPr lang="en-US" sz="1800" dirty="0"/>
              <a:t> </a:t>
            </a:r>
            <a:r>
              <a:rPr lang="en-US" sz="1800" dirty="0" err="1"/>
              <a:t>recepteaza</a:t>
            </a:r>
            <a:r>
              <a:rPr lang="en-US" sz="1800" dirty="0"/>
              <a:t> o </a:t>
            </a:r>
            <a:r>
              <a:rPr lang="en-US" sz="1800" dirty="0" err="1"/>
              <a:t>varietate</a:t>
            </a:r>
            <a:r>
              <a:rPr lang="en-US" sz="1800" dirty="0"/>
              <a:t> de stimuli </a:t>
            </a:r>
            <a:r>
              <a:rPr lang="en-US" sz="1800" dirty="0" err="1"/>
              <a:t>ceea</a:t>
            </a:r>
            <a:r>
              <a:rPr lang="en-US" sz="1800" dirty="0"/>
              <a:t> </a:t>
            </a:r>
            <a:r>
              <a:rPr lang="en-US" sz="1800" dirty="0" err="1"/>
              <a:t>ce</a:t>
            </a:r>
            <a:r>
              <a:rPr lang="en-US" sz="1800" dirty="0"/>
              <a:t> </a:t>
            </a:r>
            <a:r>
              <a:rPr lang="en-US" sz="1800" dirty="0" err="1"/>
              <a:t>impune</a:t>
            </a:r>
            <a:r>
              <a:rPr lang="en-US" sz="1800" dirty="0"/>
              <a:t> </a:t>
            </a:r>
            <a:r>
              <a:rPr lang="en-US" sz="1800" dirty="0" err="1"/>
              <a:t>diferentierea</a:t>
            </a:r>
            <a:r>
              <a:rPr lang="en-US" sz="1800" dirty="0"/>
              <a:t> </a:t>
            </a:r>
            <a:r>
              <a:rPr lang="en-US" sz="1800" dirty="0" err="1"/>
              <a:t>lor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stabilirea</a:t>
            </a:r>
            <a:r>
              <a:rPr lang="en-US" sz="1800" dirty="0"/>
              <a:t> </a:t>
            </a:r>
            <a:r>
              <a:rPr lang="en-US" sz="1800" dirty="0" err="1"/>
              <a:t>unui</a:t>
            </a:r>
            <a:r>
              <a:rPr lang="en-US" sz="1800" dirty="0"/>
              <a:t> </a:t>
            </a:r>
            <a:r>
              <a:rPr lang="en-US" sz="1800" dirty="0" err="1"/>
              <a:t>raport</a:t>
            </a:r>
            <a:r>
              <a:rPr lang="en-US" sz="1800" dirty="0"/>
              <a:t> cu </a:t>
            </a:r>
            <a:r>
              <a:rPr lang="en-US" sz="1800" dirty="0" err="1"/>
              <a:t>sens</a:t>
            </a:r>
            <a:r>
              <a:rPr lang="en-US" sz="1800" dirty="0"/>
              <a:t> </a:t>
            </a:r>
            <a:r>
              <a:rPr lang="en-US" sz="1800" dirty="0" err="1"/>
              <a:t>adaptativ</a:t>
            </a:r>
            <a:r>
              <a:rPr lang="en-US" sz="1800" dirty="0"/>
              <a:t> </a:t>
            </a:r>
            <a:r>
              <a:rPr lang="en-US" sz="1800" dirty="0" err="1"/>
              <a:t>intre</a:t>
            </a:r>
            <a:r>
              <a:rPr lang="en-US" sz="1800" dirty="0"/>
              <a:t> </a:t>
            </a:r>
            <a:r>
              <a:rPr lang="en-US" sz="1800" dirty="0" err="1"/>
              <a:t>stimulii</a:t>
            </a:r>
            <a:r>
              <a:rPr lang="en-US" sz="1800" dirty="0"/>
              <a:t> </a:t>
            </a:r>
            <a:r>
              <a:rPr lang="en-US" sz="1800" dirty="0" err="1"/>
              <a:t>indiferenti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necesitatile</a:t>
            </a:r>
            <a:r>
              <a:rPr lang="en-US" sz="1800" dirty="0"/>
              <a:t> </a:t>
            </a:r>
            <a:r>
              <a:rPr lang="en-US" sz="1800" dirty="0" err="1"/>
              <a:t>biologice</a:t>
            </a:r>
            <a:r>
              <a:rPr lang="en-US" sz="1800" dirty="0"/>
              <a:t>.-&gt;In </a:t>
            </a:r>
            <a:r>
              <a:rPr lang="en-US" sz="1800" dirty="0" err="1"/>
              <a:t>timp</a:t>
            </a:r>
            <a:r>
              <a:rPr lang="en-US" sz="1800" dirty="0"/>
              <a:t>, s-au </a:t>
            </a:r>
            <a:r>
              <a:rPr lang="en-US" sz="1800" dirty="0" err="1"/>
              <a:t>produs</a:t>
            </a:r>
            <a:r>
              <a:rPr lang="en-US" sz="1800" dirty="0"/>
              <a:t> </a:t>
            </a:r>
            <a:r>
              <a:rPr lang="en-US" sz="1800" dirty="0" err="1"/>
              <a:t>diferentieri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specializari</a:t>
            </a:r>
            <a:r>
              <a:rPr lang="en-US" sz="1800" dirty="0"/>
              <a:t> ale </a:t>
            </a:r>
            <a:r>
              <a:rPr lang="en-US" sz="1800" dirty="0" err="1"/>
              <a:t>organelor</a:t>
            </a:r>
            <a:r>
              <a:rPr lang="en-US" sz="1800" dirty="0"/>
              <a:t> de </a:t>
            </a:r>
            <a:r>
              <a:rPr lang="en-US" sz="1800" dirty="0" err="1"/>
              <a:t>simt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ale  </a:t>
            </a:r>
            <a:r>
              <a:rPr lang="en-US" sz="1800" dirty="0" err="1"/>
              <a:t>zonelor</a:t>
            </a:r>
            <a:r>
              <a:rPr lang="en-US" sz="1800" dirty="0"/>
              <a:t> de </a:t>
            </a:r>
            <a:r>
              <a:rPr lang="en-US" sz="1800" dirty="0" err="1"/>
              <a:t>proiectie</a:t>
            </a:r>
            <a:r>
              <a:rPr lang="en-US" sz="1800" dirty="0"/>
              <a:t> </a:t>
            </a:r>
            <a:r>
              <a:rPr lang="en-US" sz="1800" dirty="0" err="1"/>
              <a:t>specializata</a:t>
            </a:r>
            <a:r>
              <a:rPr lang="en-US" sz="1800" dirty="0"/>
              <a:t>.-&gt;</a:t>
            </a:r>
            <a:r>
              <a:rPr lang="en-US" sz="1800" dirty="0" err="1"/>
              <a:t>Astfel</a:t>
            </a:r>
            <a:r>
              <a:rPr lang="en-US" sz="1800" dirty="0"/>
              <a:t> s-a </a:t>
            </a:r>
            <a:r>
              <a:rPr lang="en-US" sz="1800" dirty="0" err="1"/>
              <a:t>constituit</a:t>
            </a:r>
            <a:r>
              <a:rPr lang="en-US" sz="1800" dirty="0"/>
              <a:t> </a:t>
            </a:r>
            <a:r>
              <a:rPr lang="en-US" sz="1800" dirty="0" err="1"/>
              <a:t>analizatorul</a:t>
            </a:r>
            <a:r>
              <a:rPr lang="en-US" sz="1800" dirty="0"/>
              <a:t> ca organ de </a:t>
            </a:r>
            <a:r>
              <a:rPr lang="en-US" sz="1800" dirty="0" err="1"/>
              <a:t>simt</a:t>
            </a:r>
            <a:r>
              <a:rPr lang="en-US" sz="1800" dirty="0"/>
              <a:t> </a:t>
            </a:r>
            <a:r>
              <a:rPr lang="en-US" sz="1800" dirty="0" err="1"/>
              <a:t>specializat</a:t>
            </a:r>
            <a:r>
              <a:rPr lang="en-US" sz="1800" dirty="0"/>
              <a:t> in </a:t>
            </a:r>
            <a:r>
              <a:rPr lang="en-US" sz="1800" dirty="0" err="1"/>
              <a:t>detectarea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integrarea</a:t>
            </a:r>
            <a:r>
              <a:rPr lang="en-US" sz="1800" dirty="0"/>
              <a:t> </a:t>
            </a:r>
            <a:r>
              <a:rPr lang="en-US" sz="1800" dirty="0" err="1"/>
              <a:t>informatiei</a:t>
            </a:r>
            <a:r>
              <a:rPr lang="en-US" sz="1800" dirty="0"/>
              <a:t> </a:t>
            </a:r>
            <a:r>
              <a:rPr lang="en-US" sz="1800" dirty="0" err="1"/>
              <a:t>oferite</a:t>
            </a:r>
            <a:r>
              <a:rPr lang="en-US" sz="1800" dirty="0"/>
              <a:t> de stimuli </a:t>
            </a:r>
            <a:r>
              <a:rPr lang="en-US" sz="1800" dirty="0" err="1"/>
              <a:t>intr</a:t>
            </a:r>
            <a:r>
              <a:rPr lang="en-US" sz="1800" dirty="0"/>
              <a:t>-o imagine-cod </a:t>
            </a:r>
            <a:r>
              <a:rPr lang="en-US" sz="1800" dirty="0" err="1"/>
              <a:t>specializata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Receptia</a:t>
            </a:r>
            <a:r>
              <a:rPr lang="en-US" sz="1800" dirty="0"/>
              <a:t> </a:t>
            </a:r>
            <a:r>
              <a:rPr lang="en-US" sz="1800" dirty="0" err="1"/>
              <a:t>senzoriala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facilitata</a:t>
            </a:r>
            <a:r>
              <a:rPr lang="en-US" sz="1800" dirty="0"/>
              <a:t> de </a:t>
            </a:r>
            <a:r>
              <a:rPr lang="en-US" sz="1800" dirty="0" err="1"/>
              <a:t>miscare</a:t>
            </a:r>
            <a:r>
              <a:rPr lang="en-US" sz="1800" dirty="0"/>
              <a:t> </a:t>
            </a:r>
            <a:r>
              <a:rPr lang="en-US" sz="1800" dirty="0" err="1"/>
              <a:t>intrucat</a:t>
            </a:r>
            <a:r>
              <a:rPr lang="en-US" sz="1800" dirty="0"/>
              <a:t> </a:t>
            </a:r>
            <a:r>
              <a:rPr lang="en-US" sz="1800" dirty="0" err="1"/>
              <a:t>pemite</a:t>
            </a:r>
            <a:r>
              <a:rPr lang="en-US" sz="1800" dirty="0"/>
              <a:t> </a:t>
            </a:r>
            <a:r>
              <a:rPr lang="en-US" sz="1800" dirty="0" err="1"/>
              <a:t>explorarea</a:t>
            </a:r>
            <a:r>
              <a:rPr lang="en-US" sz="1800" dirty="0"/>
              <a:t> </a:t>
            </a:r>
            <a:r>
              <a:rPr lang="en-US" sz="1800" dirty="0" err="1"/>
              <a:t>activa</a:t>
            </a:r>
            <a:r>
              <a:rPr lang="en-US" sz="1800" dirty="0"/>
              <a:t> a </a:t>
            </a:r>
            <a:r>
              <a:rPr lang="en-US" sz="1800" dirty="0" err="1"/>
              <a:t>stimulilor</a:t>
            </a:r>
            <a:r>
              <a:rPr lang="en-US" sz="1800" dirty="0"/>
              <a:t>, </a:t>
            </a:r>
            <a:r>
              <a:rPr lang="en-US" sz="1800" dirty="0" err="1"/>
              <a:t>detectarea</a:t>
            </a:r>
            <a:r>
              <a:rPr lang="en-US" sz="1800" dirty="0"/>
              <a:t> </a:t>
            </a:r>
            <a:r>
              <a:rPr lang="en-US" sz="1800" dirty="0" err="1"/>
              <a:t>unor</a:t>
            </a:r>
            <a:r>
              <a:rPr lang="en-US" sz="1800" dirty="0"/>
              <a:t> </a:t>
            </a:r>
            <a:r>
              <a:rPr lang="en-US" sz="1800" dirty="0" err="1"/>
              <a:t>insusiri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integrarea</a:t>
            </a:r>
            <a:r>
              <a:rPr lang="en-US" sz="1800" dirty="0"/>
              <a:t> </a:t>
            </a:r>
            <a:r>
              <a:rPr lang="en-US" sz="1800" dirty="0" err="1"/>
              <a:t>lor</a:t>
            </a:r>
            <a:r>
              <a:rPr lang="en-US" sz="1800" dirty="0"/>
              <a:t> </a:t>
            </a:r>
            <a:r>
              <a:rPr lang="en-US" sz="1800" dirty="0" err="1"/>
              <a:t>intr</a:t>
            </a:r>
            <a:r>
              <a:rPr lang="en-US" sz="1800" dirty="0"/>
              <a:t>-o imagine </a:t>
            </a:r>
            <a:r>
              <a:rPr lang="en-US" sz="1800" dirty="0" err="1"/>
              <a:t>semnificativa</a:t>
            </a:r>
            <a:r>
              <a:rPr lang="en-US" sz="1800" dirty="0"/>
              <a:t> </a:t>
            </a:r>
            <a:r>
              <a:rPr lang="en-US" sz="1800" dirty="0" err="1"/>
              <a:t>dpdv</a:t>
            </a:r>
            <a:r>
              <a:rPr lang="en-US" sz="1800" dirty="0"/>
              <a:t> biologic.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specificul</a:t>
            </a:r>
            <a:r>
              <a:rPr lang="en-US" dirty="0"/>
              <a:t> </a:t>
            </a:r>
            <a:r>
              <a:rPr lang="en-US" dirty="0" err="1"/>
              <a:t>psihologic</a:t>
            </a:r>
            <a:r>
              <a:rPr lang="en-US" dirty="0"/>
              <a:t> al </a:t>
            </a:r>
            <a:r>
              <a:rPr lang="en-US" dirty="0" err="1"/>
              <a:t>senzatiilor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dirty="0" err="1"/>
              <a:t>Integrarea</a:t>
            </a:r>
            <a:r>
              <a:rPr lang="en-US" sz="2000" dirty="0"/>
              <a:t> </a:t>
            </a:r>
            <a:r>
              <a:rPr lang="en-US" sz="2000" dirty="0" err="1"/>
              <a:t>senzatiei</a:t>
            </a:r>
            <a:r>
              <a:rPr lang="en-US" sz="2000" dirty="0"/>
              <a:t> in </a:t>
            </a:r>
            <a:r>
              <a:rPr lang="en-US" sz="2000" dirty="0" err="1"/>
              <a:t>cadrul</a:t>
            </a:r>
            <a:r>
              <a:rPr lang="en-US" sz="2000" dirty="0"/>
              <a:t> </a:t>
            </a:r>
            <a:r>
              <a:rPr lang="en-US" sz="2000" dirty="0" err="1"/>
              <a:t>functiei</a:t>
            </a:r>
            <a:r>
              <a:rPr lang="en-US" sz="2000" dirty="0"/>
              <a:t> </a:t>
            </a:r>
            <a:r>
              <a:rPr lang="en-US" sz="2000" dirty="0" err="1"/>
              <a:t>sensibilitatii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reliefarea</a:t>
            </a:r>
            <a:r>
              <a:rPr lang="en-US" sz="2000" dirty="0"/>
              <a:t> </a:t>
            </a:r>
            <a:r>
              <a:rPr lang="en-US" sz="2000" dirty="0" err="1"/>
              <a:t>dinamicii</a:t>
            </a:r>
            <a:r>
              <a:rPr lang="en-US" sz="2000" dirty="0"/>
              <a:t> </a:t>
            </a:r>
            <a:r>
              <a:rPr lang="en-US" sz="2000" dirty="0" err="1"/>
              <a:t>acesteia</a:t>
            </a:r>
            <a:r>
              <a:rPr lang="en-US" sz="2000" dirty="0"/>
              <a:t> in </a:t>
            </a:r>
            <a:r>
              <a:rPr lang="en-US" sz="2000" dirty="0" err="1"/>
              <a:t>sens</a:t>
            </a:r>
            <a:r>
              <a:rPr lang="en-US" sz="2000" dirty="0"/>
              <a:t> </a:t>
            </a:r>
            <a:r>
              <a:rPr lang="en-US" sz="2000" dirty="0" err="1"/>
              <a:t>procesual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calificarea</a:t>
            </a:r>
            <a:r>
              <a:rPr lang="en-US" sz="2000" dirty="0"/>
              <a:t> </a:t>
            </a:r>
            <a:r>
              <a:rPr lang="en-US" sz="2000" dirty="0" err="1"/>
              <a:t>ei</a:t>
            </a:r>
            <a:r>
              <a:rPr lang="en-US" sz="2000" dirty="0"/>
              <a:t> ca prim </a:t>
            </a:r>
            <a:r>
              <a:rPr lang="en-US" sz="2000" dirty="0" err="1"/>
              <a:t>nivel</a:t>
            </a:r>
            <a:r>
              <a:rPr lang="en-US" sz="2000" dirty="0"/>
              <a:t> de </a:t>
            </a:r>
            <a:r>
              <a:rPr lang="en-US" sz="2000" dirty="0" err="1"/>
              <a:t>prelucrare</a:t>
            </a:r>
            <a:r>
              <a:rPr lang="en-US" sz="2000" dirty="0"/>
              <a:t>, </a:t>
            </a:r>
            <a:r>
              <a:rPr lang="en-US" sz="2000" dirty="0" err="1"/>
              <a:t>interpretare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utilizare</a:t>
            </a:r>
            <a:r>
              <a:rPr lang="en-US" sz="2000" dirty="0"/>
              <a:t> a </a:t>
            </a:r>
            <a:r>
              <a:rPr lang="en-US" sz="2000" dirty="0" err="1"/>
              <a:t>informatiei</a:t>
            </a:r>
            <a:r>
              <a:rPr lang="en-US" sz="2000" dirty="0"/>
              <a:t> </a:t>
            </a:r>
            <a:r>
              <a:rPr lang="en-US" sz="2000" dirty="0" err="1"/>
              <a:t>despre</a:t>
            </a:r>
            <a:r>
              <a:rPr lang="en-US" sz="2000" dirty="0"/>
              <a:t> </a:t>
            </a:r>
            <a:r>
              <a:rPr lang="en-US" sz="2000" dirty="0" err="1"/>
              <a:t>insusirile</a:t>
            </a:r>
            <a:r>
              <a:rPr lang="en-US" sz="2000" dirty="0"/>
              <a:t> </a:t>
            </a:r>
            <a:r>
              <a:rPr lang="en-US" sz="2000" dirty="0" err="1"/>
              <a:t>obiectelor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fenomenelor</a:t>
            </a:r>
            <a:r>
              <a:rPr lang="en-US" sz="2000" dirty="0"/>
              <a:t> </a:t>
            </a:r>
            <a:r>
              <a:rPr lang="en-US" sz="2000" dirty="0" err="1"/>
              <a:t>lumii</a:t>
            </a:r>
            <a:r>
              <a:rPr lang="en-US" sz="2000" dirty="0"/>
              <a:t> </a:t>
            </a:r>
            <a:r>
              <a:rPr lang="en-US" sz="2000" dirty="0" err="1"/>
              <a:t>externe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despre</a:t>
            </a:r>
            <a:r>
              <a:rPr lang="en-US" sz="2000" dirty="0"/>
              <a:t> </a:t>
            </a:r>
            <a:r>
              <a:rPr lang="en-US" sz="2000" dirty="0" err="1"/>
              <a:t>starile</a:t>
            </a:r>
            <a:r>
              <a:rPr lang="en-US" sz="2000" dirty="0"/>
              <a:t> </a:t>
            </a:r>
            <a:r>
              <a:rPr lang="en-US" sz="2000" dirty="0" err="1"/>
              <a:t>mediului</a:t>
            </a:r>
            <a:r>
              <a:rPr lang="en-US" sz="2000" dirty="0"/>
              <a:t> intern.</a:t>
            </a:r>
          </a:p>
          <a:p>
            <a:pPr algn="just"/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aceasta</a:t>
            </a:r>
            <a:r>
              <a:rPr lang="en-US" sz="2000" dirty="0"/>
              <a:t> </a:t>
            </a:r>
            <a:r>
              <a:rPr lang="en-US" sz="2000" dirty="0" err="1"/>
              <a:t>cale</a:t>
            </a:r>
            <a:r>
              <a:rPr lang="en-US" sz="2000" dirty="0"/>
              <a:t> </a:t>
            </a:r>
            <a:r>
              <a:rPr lang="en-US" sz="2000" dirty="0" err="1"/>
              <a:t>desemnam</a:t>
            </a:r>
            <a:r>
              <a:rPr lang="en-US" sz="2000" dirty="0"/>
              <a:t> </a:t>
            </a:r>
            <a:r>
              <a:rPr lang="en-US" sz="2000" dirty="0" err="1"/>
              <a:t>capacitatea</a:t>
            </a:r>
            <a:r>
              <a:rPr lang="en-US" sz="2000" dirty="0"/>
              <a:t> </a:t>
            </a:r>
            <a:r>
              <a:rPr lang="en-US" sz="2000" dirty="0" err="1"/>
              <a:t>omului</a:t>
            </a:r>
            <a:r>
              <a:rPr lang="en-US" sz="2000" dirty="0"/>
              <a:t> de a </a:t>
            </a:r>
            <a:r>
              <a:rPr lang="en-US" sz="2000" dirty="0" err="1"/>
              <a:t>fi</a:t>
            </a:r>
            <a:r>
              <a:rPr lang="en-US" sz="2000" dirty="0"/>
              <a:t> </a:t>
            </a:r>
            <a:r>
              <a:rPr lang="en-US" sz="2000" dirty="0" err="1"/>
              <a:t>sensibil</a:t>
            </a:r>
            <a:r>
              <a:rPr lang="en-US" sz="2000" dirty="0"/>
              <a:t> la stimuli de </a:t>
            </a:r>
            <a:r>
              <a:rPr lang="en-US" sz="2000" dirty="0" err="1"/>
              <a:t>intensitate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scazuta</a:t>
            </a:r>
            <a:r>
              <a:rPr lang="en-US" sz="2000" dirty="0"/>
              <a:t> </a:t>
            </a:r>
            <a:r>
              <a:rPr lang="en-US" sz="2000" dirty="0" err="1"/>
              <a:t>ceea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/>
              <a:t>exprima</a:t>
            </a:r>
            <a:r>
              <a:rPr lang="en-US" sz="2000" dirty="0"/>
              <a:t> </a:t>
            </a:r>
            <a:r>
              <a:rPr lang="en-US" sz="2000" dirty="0" err="1"/>
              <a:t>nivelul</a:t>
            </a:r>
            <a:r>
              <a:rPr lang="en-US" sz="2000" dirty="0"/>
              <a:t> </a:t>
            </a:r>
            <a:r>
              <a:rPr lang="en-US" sz="2000" dirty="0" err="1"/>
              <a:t>inalt</a:t>
            </a:r>
            <a:r>
              <a:rPr lang="en-US" sz="2000" dirty="0"/>
              <a:t> de </a:t>
            </a:r>
            <a:r>
              <a:rPr lang="en-US" sz="2000" dirty="0" err="1"/>
              <a:t>receptivitate</a:t>
            </a:r>
            <a:r>
              <a:rPr lang="en-US" sz="2000" dirty="0"/>
              <a:t> </a:t>
            </a:r>
            <a:r>
              <a:rPr lang="en-US" sz="2000" dirty="0" err="1"/>
              <a:t>senzoriala</a:t>
            </a:r>
            <a:r>
              <a:rPr lang="en-US" sz="2000" dirty="0"/>
              <a:t> al </a:t>
            </a:r>
            <a:r>
              <a:rPr lang="en-US" sz="2000" dirty="0" err="1"/>
              <a:t>omului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 err="1"/>
              <a:t>Senzatia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indisolubil</a:t>
            </a:r>
            <a:r>
              <a:rPr lang="en-US" sz="2000" dirty="0"/>
              <a:t> </a:t>
            </a:r>
            <a:r>
              <a:rPr lang="en-US" sz="2000" dirty="0" err="1"/>
              <a:t>legata</a:t>
            </a:r>
            <a:r>
              <a:rPr lang="en-US" sz="2000" dirty="0"/>
              <a:t> de stimuli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particularitatile</a:t>
            </a:r>
            <a:r>
              <a:rPr lang="en-US" sz="2000" dirty="0"/>
              <a:t> </a:t>
            </a:r>
            <a:r>
              <a:rPr lang="en-US" sz="2000" dirty="0" err="1"/>
              <a:t>lor</a:t>
            </a:r>
            <a:r>
              <a:rPr lang="en-US" sz="2000" dirty="0"/>
              <a:t> </a:t>
            </a:r>
            <a:r>
              <a:rPr lang="en-US" sz="2000" dirty="0" err="1"/>
              <a:t>fizice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elaborarea</a:t>
            </a:r>
            <a:r>
              <a:rPr lang="en-US" sz="2000" dirty="0"/>
              <a:t> </a:t>
            </a:r>
            <a:r>
              <a:rPr lang="en-US" sz="2000" dirty="0" err="1"/>
              <a:t>unor</a:t>
            </a:r>
            <a:r>
              <a:rPr lang="en-US" sz="2000" dirty="0"/>
              <a:t> </a:t>
            </a:r>
            <a:r>
              <a:rPr lang="en-US" sz="2000" dirty="0" err="1"/>
              <a:t>reactii</a:t>
            </a:r>
            <a:r>
              <a:rPr lang="en-US" sz="2000" dirty="0"/>
              <a:t> </a:t>
            </a:r>
            <a:r>
              <a:rPr lang="en-US" sz="2000" dirty="0" err="1"/>
              <a:t>adaptative</a:t>
            </a:r>
            <a:r>
              <a:rPr lang="en-US" sz="2000" dirty="0"/>
              <a:t> la </a:t>
            </a:r>
            <a:r>
              <a:rPr lang="en-US" sz="2000" dirty="0" err="1"/>
              <a:t>solicitarile</a:t>
            </a:r>
            <a:r>
              <a:rPr lang="en-US" sz="2000" dirty="0"/>
              <a:t> </a:t>
            </a:r>
            <a:r>
              <a:rPr lang="en-US" sz="2000" dirty="0" err="1"/>
              <a:t>mediului</a:t>
            </a:r>
            <a:r>
              <a:rPr lang="en-US" sz="2000" dirty="0"/>
              <a:t>.</a:t>
            </a:r>
          </a:p>
          <a:p>
            <a:pPr algn="just"/>
            <a:r>
              <a:rPr lang="en-US" sz="2000" dirty="0" err="1"/>
              <a:t>Putem</a:t>
            </a:r>
            <a:r>
              <a:rPr lang="en-US" sz="2000" dirty="0"/>
              <a:t> </a:t>
            </a:r>
            <a:r>
              <a:rPr lang="en-US" sz="2000" dirty="0" err="1"/>
              <a:t>defini</a:t>
            </a:r>
            <a:r>
              <a:rPr lang="en-US" sz="2000" dirty="0"/>
              <a:t> SENZATIA </a:t>
            </a:r>
            <a:r>
              <a:rPr lang="en-US" sz="2000" dirty="0" err="1"/>
              <a:t>drept</a:t>
            </a:r>
            <a:r>
              <a:rPr lang="en-US" sz="2000" dirty="0"/>
              <a:t> </a:t>
            </a:r>
            <a:r>
              <a:rPr lang="en-US" sz="2000" dirty="0" err="1"/>
              <a:t>procesul</a:t>
            </a:r>
            <a:r>
              <a:rPr lang="en-US" sz="2000" dirty="0"/>
              <a:t> </a:t>
            </a:r>
            <a:r>
              <a:rPr lang="en-US" sz="2000" dirty="0" err="1"/>
              <a:t>psihic</a:t>
            </a:r>
            <a:r>
              <a:rPr lang="en-US" sz="2000" dirty="0"/>
              <a:t> de </a:t>
            </a:r>
            <a:r>
              <a:rPr lang="en-US" sz="2000" dirty="0" err="1"/>
              <a:t>receptare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prelucrare</a:t>
            </a:r>
            <a:r>
              <a:rPr lang="en-US" sz="2000" dirty="0"/>
              <a:t> a </a:t>
            </a:r>
            <a:r>
              <a:rPr lang="en-US" sz="2000" dirty="0" err="1"/>
              <a:t>stimulilor</a:t>
            </a:r>
            <a:r>
              <a:rPr lang="en-US" sz="2000" dirty="0"/>
              <a:t> din </a:t>
            </a:r>
            <a:r>
              <a:rPr lang="en-US" sz="2000" dirty="0" err="1"/>
              <a:t>mediul</a:t>
            </a:r>
            <a:r>
              <a:rPr lang="en-US" sz="2000" dirty="0"/>
              <a:t> extern </a:t>
            </a:r>
            <a:r>
              <a:rPr lang="en-US" sz="2000" dirty="0" err="1"/>
              <a:t>sau</a:t>
            </a:r>
            <a:r>
              <a:rPr lang="en-US" sz="2000" dirty="0"/>
              <a:t> intern cu </a:t>
            </a:r>
            <a:r>
              <a:rPr lang="en-US" sz="2000" dirty="0" err="1"/>
              <a:t>ajutorul</a:t>
            </a:r>
            <a:r>
              <a:rPr lang="en-US" sz="2000" dirty="0"/>
              <a:t> </a:t>
            </a:r>
            <a:r>
              <a:rPr lang="en-US" sz="2000" dirty="0" err="1"/>
              <a:t>unor</a:t>
            </a:r>
            <a:r>
              <a:rPr lang="en-US" sz="2000" dirty="0"/>
              <a:t> </a:t>
            </a:r>
            <a:r>
              <a:rPr lang="en-US" sz="2000" dirty="0" err="1"/>
              <a:t>analizatori</a:t>
            </a:r>
            <a:r>
              <a:rPr lang="en-US" sz="2000" dirty="0"/>
              <a:t> </a:t>
            </a:r>
            <a:r>
              <a:rPr lang="en-US" sz="2000" dirty="0" err="1"/>
              <a:t>specializati</a:t>
            </a:r>
            <a:r>
              <a:rPr lang="en-US" sz="2000" dirty="0"/>
              <a:t> in </a:t>
            </a:r>
            <a:r>
              <a:rPr lang="en-US" sz="2000" dirty="0" err="1"/>
              <a:t>vederea</a:t>
            </a:r>
            <a:r>
              <a:rPr lang="en-US" sz="2000" dirty="0"/>
              <a:t> </a:t>
            </a:r>
            <a:r>
              <a:rPr lang="en-US" sz="2000" dirty="0" err="1"/>
              <a:t>elaborarii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imagini</a:t>
            </a:r>
            <a:r>
              <a:rPr lang="en-US" sz="2000" dirty="0"/>
              <a:t> </a:t>
            </a:r>
            <a:r>
              <a:rPr lang="en-US" sz="2000" dirty="0" err="1"/>
              <a:t>senzoriale</a:t>
            </a:r>
            <a:r>
              <a:rPr lang="en-US" sz="2000" dirty="0"/>
              <a:t> cu </a:t>
            </a:r>
            <a:r>
              <a:rPr lang="en-US" sz="2000" dirty="0" err="1"/>
              <a:t>efect</a:t>
            </a:r>
            <a:r>
              <a:rPr lang="en-US" sz="2000" dirty="0"/>
              <a:t> </a:t>
            </a:r>
            <a:r>
              <a:rPr lang="en-US" sz="2000" dirty="0" err="1"/>
              <a:t>adaptativ</a:t>
            </a:r>
            <a:r>
              <a:rPr lang="en-US" sz="2000" dirty="0"/>
              <a:t>.</a:t>
            </a:r>
          </a:p>
          <a:p>
            <a:pPr algn="just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"/>
            <a:ext cx="8305800" cy="6477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err="1"/>
              <a:t>Dpdv</a:t>
            </a:r>
            <a:r>
              <a:rPr lang="en-US" dirty="0"/>
              <a:t> </a:t>
            </a:r>
            <a:r>
              <a:rPr lang="en-US" dirty="0" err="1"/>
              <a:t>psihologic</a:t>
            </a:r>
            <a:r>
              <a:rPr lang="en-US" dirty="0"/>
              <a:t> </a:t>
            </a:r>
            <a:r>
              <a:rPr lang="en-US" dirty="0" err="1"/>
              <a:t>specificul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conferit</a:t>
            </a:r>
            <a:r>
              <a:rPr lang="en-US" dirty="0"/>
              <a:t> de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particularitati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stimuli in </a:t>
            </a:r>
            <a:r>
              <a:rPr lang="en-US" dirty="0" err="1"/>
              <a:t>raport</a:t>
            </a:r>
            <a:r>
              <a:rPr lang="en-US" dirty="0"/>
              <a:t> cu care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analizatori</a:t>
            </a:r>
            <a:r>
              <a:rPr lang="en-US" dirty="0"/>
              <a:t> </a:t>
            </a:r>
            <a:r>
              <a:rPr lang="en-US" dirty="0" err="1"/>
              <a:t>specializati</a:t>
            </a:r>
            <a:r>
              <a:rPr lang="en-US" dirty="0"/>
              <a:t> </a:t>
            </a:r>
            <a:r>
              <a:rPr lang="en-US" dirty="0" err="1"/>
              <a:t>capabili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recepteze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a </a:t>
            </a:r>
            <a:r>
              <a:rPr lang="en-US" dirty="0" err="1"/>
              <a:t>acestor</a:t>
            </a:r>
            <a:r>
              <a:rPr lang="en-US" dirty="0"/>
              <a:t> stimuli. </a:t>
            </a:r>
            <a:r>
              <a:rPr lang="en-US" dirty="0" err="1"/>
              <a:t>Stimulii</a:t>
            </a:r>
            <a:r>
              <a:rPr lang="en-US" dirty="0"/>
              <a:t>= </a:t>
            </a:r>
            <a:r>
              <a:rPr lang="en-US" b="1" dirty="0" err="1"/>
              <a:t>interni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externi</a:t>
            </a:r>
            <a:r>
              <a:rPr lang="en-US" dirty="0"/>
              <a:t>; 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externi</a:t>
            </a:r>
            <a:r>
              <a:rPr lang="en-US" dirty="0"/>
              <a:t>=</a:t>
            </a:r>
            <a:r>
              <a:rPr lang="en-US" b="1" dirty="0" err="1"/>
              <a:t>nespecifici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universali</a:t>
            </a:r>
            <a:r>
              <a:rPr lang="en-US" dirty="0"/>
              <a:t>(nu </a:t>
            </a:r>
            <a:r>
              <a:rPr lang="en-US" dirty="0" err="1"/>
              <a:t>prezinta</a:t>
            </a:r>
            <a:r>
              <a:rPr lang="en-US" dirty="0"/>
              <a:t> </a:t>
            </a:r>
            <a:r>
              <a:rPr lang="en-US" dirty="0" err="1"/>
              <a:t>analizatori</a:t>
            </a:r>
            <a:r>
              <a:rPr lang="en-US" dirty="0"/>
              <a:t> </a:t>
            </a:r>
            <a:r>
              <a:rPr lang="en-US" dirty="0" err="1"/>
              <a:t>specializati</a:t>
            </a:r>
            <a:r>
              <a:rPr lang="en-US" dirty="0"/>
              <a:t> in </a:t>
            </a:r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specifici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modali</a:t>
            </a:r>
            <a:r>
              <a:rPr lang="en-US" dirty="0"/>
              <a:t>(</a:t>
            </a:r>
            <a:r>
              <a:rPr lang="en-US" dirty="0" err="1"/>
              <a:t>cei</a:t>
            </a:r>
            <a:r>
              <a:rPr lang="en-US" dirty="0"/>
              <a:t> in </a:t>
            </a:r>
            <a:r>
              <a:rPr lang="en-US" dirty="0" err="1"/>
              <a:t>raport</a:t>
            </a:r>
            <a:r>
              <a:rPr lang="en-US" dirty="0"/>
              <a:t> cu care, in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evolutiei</a:t>
            </a:r>
            <a:r>
              <a:rPr lang="en-US" dirty="0"/>
              <a:t> </a:t>
            </a:r>
            <a:r>
              <a:rPr lang="en-US" dirty="0" err="1"/>
              <a:t>filogenetice</a:t>
            </a:r>
            <a:r>
              <a:rPr lang="en-US" dirty="0"/>
              <a:t> s-au </a:t>
            </a:r>
            <a:r>
              <a:rPr lang="en-US" dirty="0" err="1"/>
              <a:t>constituit</a:t>
            </a:r>
            <a:r>
              <a:rPr lang="en-US" dirty="0"/>
              <a:t> </a:t>
            </a:r>
            <a:r>
              <a:rPr lang="en-US" dirty="0" err="1"/>
              <a:t>analizatori</a:t>
            </a:r>
            <a:r>
              <a:rPr lang="en-US" dirty="0"/>
              <a:t>, </a:t>
            </a:r>
            <a:r>
              <a:rPr lang="en-US" dirty="0" err="1"/>
              <a:t>organe</a:t>
            </a:r>
            <a:r>
              <a:rPr lang="en-US" dirty="0"/>
              <a:t> de </a:t>
            </a:r>
            <a:r>
              <a:rPr lang="en-US" dirty="0" err="1"/>
              <a:t>simt</a:t>
            </a:r>
            <a:r>
              <a:rPr lang="en-US" dirty="0"/>
              <a:t> </a:t>
            </a:r>
            <a:r>
              <a:rPr lang="en-US" dirty="0" err="1"/>
              <a:t>specializate</a:t>
            </a:r>
            <a:r>
              <a:rPr lang="en-US" dirty="0"/>
              <a:t>-&gt;de </a:t>
            </a:r>
            <a:r>
              <a:rPr lang="en-US" dirty="0" err="1"/>
              <a:t>ordin</a:t>
            </a:r>
            <a:r>
              <a:rPr lang="en-US" dirty="0"/>
              <a:t> optic, </a:t>
            </a:r>
            <a:r>
              <a:rPr lang="en-US" dirty="0" err="1"/>
              <a:t>acustic</a:t>
            </a:r>
            <a:r>
              <a:rPr lang="en-US" dirty="0"/>
              <a:t>, </a:t>
            </a:r>
            <a:r>
              <a:rPr lang="en-US" dirty="0" err="1"/>
              <a:t>chimic</a:t>
            </a:r>
            <a:r>
              <a:rPr lang="en-US" dirty="0"/>
              <a:t>, </a:t>
            </a:r>
            <a:r>
              <a:rPr lang="en-US" dirty="0" err="1"/>
              <a:t>termic</a:t>
            </a:r>
            <a:r>
              <a:rPr lang="en-US" dirty="0"/>
              <a:t>, </a:t>
            </a:r>
            <a:r>
              <a:rPr lang="en-US" dirty="0" err="1"/>
              <a:t>mecanic</a:t>
            </a:r>
            <a:r>
              <a:rPr lang="en-US" dirty="0"/>
              <a:t>)</a:t>
            </a:r>
          </a:p>
          <a:p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analizatorului</a:t>
            </a:r>
            <a:r>
              <a:rPr lang="en-US" dirty="0"/>
              <a:t> ca organ de </a:t>
            </a:r>
            <a:r>
              <a:rPr lang="en-US" dirty="0" err="1"/>
              <a:t>simt</a:t>
            </a:r>
            <a:r>
              <a:rPr lang="en-US" dirty="0"/>
              <a:t>(</a:t>
            </a:r>
            <a:r>
              <a:rPr lang="en-US" dirty="0" err="1"/>
              <a:t>structura</a:t>
            </a:r>
            <a:r>
              <a:rPr lang="en-US" dirty="0"/>
              <a:t>: receptor, </a:t>
            </a:r>
            <a:r>
              <a:rPr lang="en-US" dirty="0" err="1"/>
              <a:t>cai</a:t>
            </a:r>
            <a:r>
              <a:rPr lang="en-US" dirty="0"/>
              <a:t> de </a:t>
            </a:r>
            <a:r>
              <a:rPr lang="en-US" dirty="0" err="1"/>
              <a:t>transmitere</a:t>
            </a:r>
            <a:r>
              <a:rPr lang="en-US" dirty="0"/>
              <a:t>, </a:t>
            </a:r>
            <a:r>
              <a:rPr lang="en-US" dirty="0" err="1"/>
              <a:t>zona</a:t>
            </a:r>
            <a:r>
              <a:rPr lang="en-US" dirty="0"/>
              <a:t> de </a:t>
            </a:r>
            <a:r>
              <a:rPr lang="en-US" dirty="0" err="1"/>
              <a:t>proiectie</a:t>
            </a:r>
            <a:r>
              <a:rPr lang="en-US" dirty="0"/>
              <a:t> </a:t>
            </a:r>
            <a:r>
              <a:rPr lang="en-US" dirty="0" err="1"/>
              <a:t>corticala</a:t>
            </a:r>
            <a:r>
              <a:rPr lang="en-US" dirty="0"/>
              <a:t>)</a:t>
            </a:r>
          </a:p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-&gt;</a:t>
            </a:r>
            <a:r>
              <a:rPr lang="en-US" dirty="0" err="1"/>
              <a:t>senzatia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</a:t>
            </a:r>
            <a:r>
              <a:rPr lang="en-US" dirty="0" err="1"/>
              <a:t>prezentei</a:t>
            </a:r>
            <a:r>
              <a:rPr lang="en-US" dirty="0"/>
              <a:t> </a:t>
            </a:r>
            <a:r>
              <a:rPr lang="en-US" dirty="0" err="1"/>
              <a:t>stimulului</a:t>
            </a:r>
            <a:r>
              <a:rPr lang="en-US" dirty="0"/>
              <a:t> in </a:t>
            </a:r>
            <a:r>
              <a:rPr lang="en-US" dirty="0" err="1"/>
              <a:t>campul</a:t>
            </a:r>
            <a:r>
              <a:rPr lang="en-US" dirty="0"/>
              <a:t> de </a:t>
            </a:r>
            <a:r>
              <a:rPr lang="en-US" dirty="0" err="1"/>
              <a:t>actiune</a:t>
            </a:r>
            <a:r>
              <a:rPr lang="en-US" dirty="0"/>
              <a:t> al </a:t>
            </a:r>
            <a:r>
              <a:rPr lang="en-US" dirty="0" err="1"/>
              <a:t>receptorului</a:t>
            </a:r>
            <a:r>
              <a:rPr lang="en-US" dirty="0"/>
              <a:t>.</a:t>
            </a:r>
          </a:p>
          <a:p>
            <a:r>
              <a:rPr lang="en-US" dirty="0"/>
              <a:t>Un </a:t>
            </a:r>
            <a:r>
              <a:rPr lang="en-US" dirty="0" err="1"/>
              <a:t>continut</a:t>
            </a:r>
            <a:r>
              <a:rPr lang="en-US" dirty="0"/>
              <a:t> informational </a:t>
            </a:r>
            <a:r>
              <a:rPr lang="en-US" dirty="0" err="1"/>
              <a:t>specific,in</a:t>
            </a:r>
            <a:r>
              <a:rPr lang="en-US" dirty="0"/>
              <a:t> </a:t>
            </a:r>
            <a:r>
              <a:rPr lang="en-US" dirty="0" err="1"/>
              <a:t>conditiile</a:t>
            </a:r>
            <a:r>
              <a:rPr lang="en-US" dirty="0"/>
              <a:t> in care </a:t>
            </a:r>
            <a:r>
              <a:rPr lang="en-US" dirty="0" err="1"/>
              <a:t>senzatia</a:t>
            </a:r>
            <a:r>
              <a:rPr lang="en-US" dirty="0"/>
              <a:t> </a:t>
            </a:r>
            <a:r>
              <a:rPr lang="en-US" dirty="0" err="1"/>
              <a:t>reflecta</a:t>
            </a:r>
            <a:r>
              <a:rPr lang="en-US" dirty="0"/>
              <a:t> </a:t>
            </a:r>
            <a:r>
              <a:rPr lang="en-US" dirty="0" err="1"/>
              <a:t>insusirile</a:t>
            </a:r>
            <a:r>
              <a:rPr lang="en-US" dirty="0"/>
              <a:t> </a:t>
            </a:r>
            <a:r>
              <a:rPr lang="en-US" dirty="0" err="1"/>
              <a:t>concret</a:t>
            </a:r>
            <a:r>
              <a:rPr lang="en-US" dirty="0"/>
              <a:t>-intuitive simple, </a:t>
            </a:r>
            <a:r>
              <a:rPr lang="en-US" dirty="0" err="1"/>
              <a:t>primare</a:t>
            </a:r>
            <a:r>
              <a:rPr lang="en-US" dirty="0"/>
              <a:t> ale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fenomenelor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starilor</a:t>
            </a:r>
            <a:r>
              <a:rPr lang="en-US" dirty="0"/>
              <a:t> din </a:t>
            </a:r>
            <a:r>
              <a:rPr lang="en-US" dirty="0" err="1"/>
              <a:t>mediul</a:t>
            </a:r>
            <a:r>
              <a:rPr lang="en-US" dirty="0"/>
              <a:t> intern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610600" cy="6705600"/>
          </a:xfrm>
        </p:spPr>
        <p:txBody>
          <a:bodyPr numCol="1">
            <a:normAutofit fontScale="92500" lnSpcReduction="20000"/>
          </a:bodyPr>
          <a:lstStyle/>
          <a:p>
            <a:pPr algn="just"/>
            <a:r>
              <a:rPr lang="en-US" dirty="0" err="1"/>
              <a:t>Senzatia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primul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r>
              <a:rPr lang="en-US" dirty="0"/>
              <a:t> a </a:t>
            </a:r>
            <a:r>
              <a:rPr lang="en-US" dirty="0" err="1"/>
              <a:t>informatiilor</a:t>
            </a:r>
            <a:r>
              <a:rPr lang="en-US" dirty="0"/>
              <a:t>,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bazal</a:t>
            </a:r>
            <a:r>
              <a:rPr lang="en-US" dirty="0"/>
              <a:t> care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elaborarea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imagini</a:t>
            </a:r>
            <a:r>
              <a:rPr lang="en-US" dirty="0"/>
              <a:t> </a:t>
            </a:r>
            <a:r>
              <a:rPr lang="en-US" dirty="0" err="1"/>
              <a:t>subiective</a:t>
            </a:r>
            <a:r>
              <a:rPr lang="en-US" dirty="0"/>
              <a:t> in plan cortical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M.Zlate</a:t>
            </a:r>
            <a:r>
              <a:rPr lang="en-US" dirty="0"/>
              <a:t> </a:t>
            </a:r>
            <a:r>
              <a:rPr lang="en-US" dirty="0" err="1"/>
              <a:t>propune</a:t>
            </a:r>
            <a:r>
              <a:rPr lang="en-US" dirty="0"/>
              <a:t> 3 perspective de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senzatiilor</a:t>
            </a:r>
            <a:r>
              <a:rPr lang="en-US" dirty="0"/>
              <a:t>:</a:t>
            </a:r>
          </a:p>
          <a:p>
            <a:pPr lvl="1" algn="just"/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opozitie</a:t>
            </a:r>
            <a:r>
              <a:rPr lang="en-US" dirty="0"/>
              <a:t> cu </a:t>
            </a:r>
            <a:r>
              <a:rPr lang="en-US" dirty="0" err="1"/>
              <a:t>excitatia</a:t>
            </a:r>
            <a:endParaRPr lang="en-US" dirty="0"/>
          </a:p>
          <a:p>
            <a:pPr lvl="1" algn="just"/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opozitie</a:t>
            </a:r>
            <a:r>
              <a:rPr lang="en-US" dirty="0"/>
              <a:t> cu </a:t>
            </a:r>
            <a:r>
              <a:rPr lang="en-US" dirty="0" err="1"/>
              <a:t>perceptia</a:t>
            </a:r>
            <a:endParaRPr lang="en-US" dirty="0"/>
          </a:p>
          <a:p>
            <a:pPr lvl="1" algn="just"/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psihofiziologica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opozitie</a:t>
            </a:r>
            <a:r>
              <a:rPr lang="en-US" dirty="0"/>
              <a:t> cu </a:t>
            </a:r>
            <a:r>
              <a:rPr lang="en-US" dirty="0" err="1"/>
              <a:t>excitatia</a:t>
            </a:r>
            <a:r>
              <a:rPr lang="en-US" dirty="0"/>
              <a:t>: </a:t>
            </a:r>
            <a:r>
              <a:rPr lang="en-US" dirty="0" err="1"/>
              <a:t>excitatia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reversibila</a:t>
            </a:r>
            <a:r>
              <a:rPr lang="en-US" dirty="0"/>
              <a:t> sub </a:t>
            </a:r>
            <a:r>
              <a:rPr lang="en-US" dirty="0" err="1"/>
              <a:t>influenta</a:t>
            </a:r>
            <a:r>
              <a:rPr lang="en-US" dirty="0"/>
              <a:t> </a:t>
            </a:r>
            <a:r>
              <a:rPr lang="en-US" dirty="0" err="1"/>
              <a:t>stimulului</a:t>
            </a:r>
            <a:r>
              <a:rPr lang="en-US" dirty="0"/>
              <a:t>,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senzatia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transmiterea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 </a:t>
            </a:r>
            <a:r>
              <a:rPr lang="en-US" dirty="0" err="1"/>
              <a:t>nervos</a:t>
            </a:r>
            <a:r>
              <a:rPr lang="en-US" dirty="0"/>
              <a:t>, a </a:t>
            </a:r>
            <a:r>
              <a:rPr lang="en-US" dirty="0" err="1"/>
              <a:t>excitatiei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centrii</a:t>
            </a:r>
            <a:r>
              <a:rPr lang="en-US" dirty="0"/>
              <a:t> </a:t>
            </a:r>
            <a:r>
              <a:rPr lang="en-US" dirty="0" err="1"/>
              <a:t>corticali</a:t>
            </a:r>
            <a:r>
              <a:rPr lang="en-US" dirty="0"/>
              <a:t>.-&gt;</a:t>
            </a:r>
            <a:r>
              <a:rPr lang="en-US" dirty="0" err="1"/>
              <a:t>Unii</a:t>
            </a:r>
            <a:r>
              <a:rPr lang="en-US" dirty="0"/>
              <a:t> stimuli pot </a:t>
            </a:r>
            <a:r>
              <a:rPr lang="en-US" dirty="0" err="1"/>
              <a:t>ramane</a:t>
            </a:r>
            <a:r>
              <a:rPr lang="en-US" dirty="0"/>
              <a:t> </a:t>
            </a:r>
            <a:r>
              <a:rPr lang="en-US" dirty="0" err="1"/>
              <a:t>pur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 stimuli </a:t>
            </a:r>
            <a:r>
              <a:rPr lang="en-US" dirty="0" err="1"/>
              <a:t>reflexogeni</a:t>
            </a:r>
            <a:r>
              <a:rPr lang="en-US" dirty="0"/>
              <a:t> care nu </a:t>
            </a:r>
            <a:r>
              <a:rPr lang="en-US" dirty="0" err="1"/>
              <a:t>angajeaza</a:t>
            </a:r>
            <a:r>
              <a:rPr lang="en-US" dirty="0"/>
              <a:t> in mod direct o </a:t>
            </a:r>
            <a:r>
              <a:rPr lang="en-US" dirty="0" err="1"/>
              <a:t>senzatie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pot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reactie</a:t>
            </a:r>
            <a:r>
              <a:rPr lang="en-US" dirty="0"/>
              <a:t> </a:t>
            </a:r>
            <a:r>
              <a:rPr lang="en-US" dirty="0" err="1"/>
              <a:t>comportamentala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77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opozitie</a:t>
            </a:r>
            <a:r>
              <a:rPr lang="en-US" dirty="0"/>
              <a:t> cu </a:t>
            </a:r>
            <a:r>
              <a:rPr lang="en-US" dirty="0" err="1"/>
              <a:t>perceptia</a:t>
            </a:r>
            <a:r>
              <a:rPr lang="en-US" dirty="0"/>
              <a:t>: s-a </a:t>
            </a:r>
            <a:r>
              <a:rPr lang="en-US" dirty="0" err="1"/>
              <a:t>realizat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evidentierea</a:t>
            </a:r>
            <a:r>
              <a:rPr lang="en-US" dirty="0"/>
              <a:t> </a:t>
            </a:r>
            <a:r>
              <a:rPr lang="en-US" dirty="0" err="1"/>
              <a:t>superioritatii</a:t>
            </a:r>
            <a:r>
              <a:rPr lang="en-US" dirty="0"/>
              <a:t> </a:t>
            </a:r>
            <a:r>
              <a:rPr lang="en-US" dirty="0" err="1"/>
              <a:t>perceptiei</a:t>
            </a:r>
            <a:r>
              <a:rPr lang="en-US" dirty="0"/>
              <a:t> in </a:t>
            </a:r>
            <a:r>
              <a:rPr lang="en-US" dirty="0" err="1"/>
              <a:t>raport</a:t>
            </a:r>
            <a:r>
              <a:rPr lang="en-US" dirty="0"/>
              <a:t> cu </a:t>
            </a:r>
            <a:r>
              <a:rPr lang="en-US" dirty="0" err="1"/>
              <a:t>senzatia</a:t>
            </a:r>
            <a:r>
              <a:rPr lang="en-US" dirty="0"/>
              <a:t>.-&gt;</a:t>
            </a:r>
            <a:r>
              <a:rPr lang="en-US" dirty="0" err="1"/>
              <a:t>Senzatia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, </a:t>
            </a:r>
            <a:r>
              <a:rPr lang="en-US" dirty="0" err="1"/>
              <a:t>primar</a:t>
            </a:r>
            <a:r>
              <a:rPr lang="en-US" dirty="0"/>
              <a:t>, </a:t>
            </a:r>
            <a:r>
              <a:rPr lang="en-US" dirty="0" err="1"/>
              <a:t>elementar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caruia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reflectate</a:t>
            </a:r>
            <a:r>
              <a:rPr lang="en-US" dirty="0"/>
              <a:t> </a:t>
            </a:r>
            <a:r>
              <a:rPr lang="en-US" dirty="0" err="1"/>
              <a:t>insusirile</a:t>
            </a:r>
            <a:r>
              <a:rPr lang="en-US" dirty="0"/>
              <a:t> </a:t>
            </a:r>
            <a:r>
              <a:rPr lang="en-US" dirty="0" err="1"/>
              <a:t>concret</a:t>
            </a:r>
            <a:r>
              <a:rPr lang="en-US" dirty="0"/>
              <a:t>-intuitive simple, </a:t>
            </a:r>
            <a:r>
              <a:rPr lang="en-US" dirty="0" err="1"/>
              <a:t>elementare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</a:t>
            </a:r>
            <a:r>
              <a:rPr lang="en-US" dirty="0" err="1"/>
              <a:t>relatiei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stimuli-&gt;</a:t>
            </a:r>
            <a:r>
              <a:rPr lang="en-US" dirty="0" err="1"/>
              <a:t>Senzatia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ca prim contact al </a:t>
            </a:r>
            <a:r>
              <a:rPr lang="en-US" dirty="0" err="1"/>
              <a:t>organismului</a:t>
            </a:r>
            <a:r>
              <a:rPr lang="en-US" dirty="0"/>
              <a:t> cu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senzoriali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perceptia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senzoriali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interpretati,analizati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integrati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psihofiziologica</a:t>
            </a:r>
            <a:r>
              <a:rPr lang="en-US" dirty="0"/>
              <a:t>: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evidentiata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raportarea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 la </a:t>
            </a:r>
            <a:r>
              <a:rPr lang="en-US" dirty="0" err="1"/>
              <a:t>activitatea</a:t>
            </a:r>
            <a:r>
              <a:rPr lang="en-US" dirty="0"/>
              <a:t> </a:t>
            </a:r>
            <a:r>
              <a:rPr lang="en-US" dirty="0" err="1"/>
              <a:t>corticala</a:t>
            </a:r>
            <a:r>
              <a:rPr lang="en-US" dirty="0"/>
              <a:t> </a:t>
            </a:r>
            <a:r>
              <a:rPr lang="en-US" dirty="0" err="1"/>
              <a:t>evidentiindu</a:t>
            </a:r>
            <a:r>
              <a:rPr lang="en-US" dirty="0"/>
              <a:t>-se </a:t>
            </a:r>
            <a:r>
              <a:rPr lang="en-US" dirty="0" err="1"/>
              <a:t>paradigma</a:t>
            </a:r>
            <a:r>
              <a:rPr lang="en-US" dirty="0"/>
              <a:t> </a:t>
            </a:r>
            <a:r>
              <a:rPr lang="en-US" dirty="0" err="1"/>
              <a:t>identitatii</a:t>
            </a:r>
            <a:r>
              <a:rPr lang="en-US" dirty="0"/>
              <a:t> </a:t>
            </a:r>
            <a:r>
              <a:rPr lang="en-US" dirty="0" err="1"/>
              <a:t>functionale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senzatie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constienta</a:t>
            </a:r>
            <a:r>
              <a:rPr lang="en-US" dirty="0"/>
              <a:t>.-&gt;A </a:t>
            </a:r>
            <a:r>
              <a:rPr lang="en-US" dirty="0" err="1"/>
              <a:t>simti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constient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.-&gt;</a:t>
            </a:r>
            <a:r>
              <a:rPr lang="en-US" dirty="0" err="1"/>
              <a:t>Avem</a:t>
            </a:r>
            <a:r>
              <a:rPr lang="en-US" dirty="0"/>
              <a:t> de-a face cu o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reciproca:nu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simturile</a:t>
            </a:r>
            <a:r>
              <a:rPr lang="en-US" dirty="0"/>
              <a:t> </a:t>
            </a:r>
            <a:r>
              <a:rPr lang="en-US" dirty="0" err="1"/>
              <a:t>ascut</a:t>
            </a:r>
            <a:r>
              <a:rPr lang="en-US" dirty="0"/>
              <a:t> </a:t>
            </a:r>
            <a:r>
              <a:rPr lang="en-US" dirty="0" err="1"/>
              <a:t>mintea</a:t>
            </a:r>
            <a:r>
              <a:rPr lang="en-US" dirty="0"/>
              <a:t> </a:t>
            </a:r>
            <a:r>
              <a:rPr lang="en-US" dirty="0" err="1"/>
              <a:t>omului</a:t>
            </a:r>
            <a:r>
              <a:rPr lang="en-US" dirty="0"/>
              <a:t>  </a:t>
            </a:r>
            <a:r>
              <a:rPr lang="en-US" dirty="0" err="1"/>
              <a:t>ci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mintea</a:t>
            </a:r>
            <a:r>
              <a:rPr lang="en-US" dirty="0"/>
              <a:t> </a:t>
            </a:r>
            <a:r>
              <a:rPr lang="en-US" dirty="0" err="1"/>
              <a:t>contribuie</a:t>
            </a:r>
            <a:r>
              <a:rPr lang="en-US" dirty="0"/>
              <a:t> la </a:t>
            </a:r>
            <a:r>
              <a:rPr lang="en-US" dirty="0" err="1"/>
              <a:t>ascutirea</a:t>
            </a:r>
            <a:r>
              <a:rPr lang="en-US" dirty="0"/>
              <a:t> </a:t>
            </a:r>
            <a:r>
              <a:rPr lang="en-US" dirty="0" err="1"/>
              <a:t>simturilor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Calitatile</a:t>
            </a:r>
            <a:r>
              <a:rPr lang="en-US" dirty="0"/>
              <a:t> </a:t>
            </a:r>
            <a:r>
              <a:rPr lang="en-US" dirty="0" err="1"/>
              <a:t>senzatiilor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err="1"/>
              <a:t>Imaginea</a:t>
            </a:r>
            <a:r>
              <a:rPr lang="en-US" dirty="0"/>
              <a:t> </a:t>
            </a:r>
            <a:r>
              <a:rPr lang="en-US" dirty="0" err="1"/>
              <a:t>senzoriala</a:t>
            </a:r>
            <a:r>
              <a:rPr lang="en-US" dirty="0"/>
              <a:t> ca </a:t>
            </a:r>
            <a:r>
              <a:rPr lang="en-US" dirty="0" err="1"/>
              <a:t>produs</a:t>
            </a:r>
            <a:r>
              <a:rPr lang="en-US" dirty="0"/>
              <a:t> al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prezinta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calitati</a:t>
            </a:r>
            <a:r>
              <a:rPr lang="en-US" dirty="0"/>
              <a:t>:</a:t>
            </a:r>
          </a:p>
          <a:p>
            <a:r>
              <a:rPr lang="en-US" b="1" dirty="0" err="1"/>
              <a:t>Intensitatea</a:t>
            </a:r>
            <a:r>
              <a:rPr lang="en-US" b="1" dirty="0"/>
              <a:t> </a:t>
            </a:r>
            <a:r>
              <a:rPr lang="en-US" b="1" dirty="0" err="1"/>
              <a:t>senzatiei</a:t>
            </a:r>
            <a:r>
              <a:rPr lang="en-US" dirty="0"/>
              <a:t>-&gt;un </a:t>
            </a:r>
            <a:r>
              <a:rPr lang="en-US" dirty="0" err="1"/>
              <a:t>atribut</a:t>
            </a:r>
            <a:r>
              <a:rPr lang="en-US" dirty="0"/>
              <a:t> de </a:t>
            </a:r>
            <a:r>
              <a:rPr lang="en-US" dirty="0" err="1"/>
              <a:t>ordin</a:t>
            </a:r>
            <a:r>
              <a:rPr lang="en-US" dirty="0"/>
              <a:t> </a:t>
            </a:r>
            <a:r>
              <a:rPr lang="en-US" dirty="0" err="1"/>
              <a:t>cantitativ</a:t>
            </a:r>
            <a:r>
              <a:rPr lang="en-US" dirty="0"/>
              <a:t>-&gt;</a:t>
            </a:r>
            <a:r>
              <a:rPr lang="en-US" dirty="0" err="1"/>
              <a:t>exprima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fizica</a:t>
            </a:r>
            <a:r>
              <a:rPr lang="en-US" dirty="0"/>
              <a:t> a </a:t>
            </a:r>
            <a:r>
              <a:rPr lang="en-US" dirty="0" err="1"/>
              <a:t>stimulului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magnitudinea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forta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.-&gt;In </a:t>
            </a:r>
            <a:r>
              <a:rPr lang="en-US" dirty="0" err="1"/>
              <a:t>principiu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stimulului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in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limite</a:t>
            </a:r>
            <a:r>
              <a:rPr lang="en-US" dirty="0"/>
              <a:t>.-&gt;</a:t>
            </a:r>
            <a:r>
              <a:rPr lang="en-US" dirty="0" err="1"/>
              <a:t>Astfel,in</a:t>
            </a:r>
            <a:r>
              <a:rPr lang="en-US" dirty="0"/>
              <a:t> mod normal </a:t>
            </a:r>
            <a:r>
              <a:rPr lang="en-US" dirty="0" err="1"/>
              <a:t>senzatia</a:t>
            </a:r>
            <a:r>
              <a:rPr lang="en-US" dirty="0"/>
              <a:t> </a:t>
            </a:r>
            <a:r>
              <a:rPr lang="en-US" dirty="0" err="1"/>
              <a:t>atinge</a:t>
            </a:r>
            <a:r>
              <a:rPr lang="en-US" dirty="0"/>
              <a:t> un </a:t>
            </a:r>
            <a:r>
              <a:rPr lang="en-US" dirty="0" err="1"/>
              <a:t>prag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constientizata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in care </a:t>
            </a:r>
            <a:r>
              <a:rPr lang="en-US" dirty="0" err="1"/>
              <a:t>stimulul</a:t>
            </a:r>
            <a:r>
              <a:rPr lang="en-US" dirty="0"/>
              <a:t> </a:t>
            </a:r>
            <a:r>
              <a:rPr lang="en-US" dirty="0" err="1"/>
              <a:t>manifesta</a:t>
            </a:r>
            <a:r>
              <a:rPr lang="en-US" dirty="0"/>
              <a:t>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magnitudine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intensitate</a:t>
            </a:r>
            <a:r>
              <a:rPr lang="en-US" dirty="0"/>
              <a:t>.-&gt;Nu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spune</a:t>
            </a:r>
            <a:r>
              <a:rPr lang="en-US" dirty="0"/>
              <a:t> ca </a:t>
            </a:r>
            <a:r>
              <a:rPr lang="en-US" dirty="0" err="1"/>
              <a:t>exista</a:t>
            </a:r>
            <a:r>
              <a:rPr lang="en-US" dirty="0"/>
              <a:t> o </a:t>
            </a:r>
            <a:r>
              <a:rPr lang="en-US" dirty="0" err="1"/>
              <a:t>proportionalitate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stimularii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;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senzatie</a:t>
            </a:r>
            <a:r>
              <a:rPr lang="en-US" dirty="0"/>
              <a:t> </a:t>
            </a:r>
            <a:r>
              <a:rPr lang="en-US" dirty="0" err="1"/>
              <a:t>prezinta</a:t>
            </a:r>
            <a:r>
              <a:rPr lang="en-US" dirty="0"/>
              <a:t> un </a:t>
            </a:r>
            <a:r>
              <a:rPr lang="en-US" dirty="0" err="1"/>
              <a:t>prag</a:t>
            </a:r>
            <a:r>
              <a:rPr lang="en-US" dirty="0"/>
              <a:t> maximal </a:t>
            </a:r>
            <a:r>
              <a:rPr lang="en-US" dirty="0" err="1"/>
              <a:t>care,daca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depasit</a:t>
            </a:r>
            <a:r>
              <a:rPr lang="en-US" dirty="0"/>
              <a:t>, </a:t>
            </a:r>
            <a:r>
              <a:rPr lang="en-US" dirty="0" err="1"/>
              <a:t>provoaca</a:t>
            </a:r>
            <a:r>
              <a:rPr lang="en-US" dirty="0"/>
              <a:t> </a:t>
            </a:r>
            <a:r>
              <a:rPr lang="en-US" dirty="0" err="1"/>
              <a:t>trecerea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alt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calitativ</a:t>
            </a:r>
            <a:r>
              <a:rPr lang="en-US" dirty="0"/>
              <a:t>: </a:t>
            </a:r>
            <a:r>
              <a:rPr lang="en-US" dirty="0" err="1"/>
              <a:t>senzatie</a:t>
            </a:r>
            <a:r>
              <a:rPr lang="en-US" dirty="0"/>
              <a:t> </a:t>
            </a:r>
            <a:r>
              <a:rPr lang="en-US" dirty="0" err="1"/>
              <a:t>nespecifica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de </a:t>
            </a:r>
            <a:r>
              <a:rPr lang="en-US" dirty="0" err="1"/>
              <a:t>durere</a:t>
            </a:r>
            <a:r>
              <a:rPr lang="en-US" dirty="0"/>
              <a:t>.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800"/>
            <a:ext cx="9144000" cy="6553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Durata</a:t>
            </a:r>
            <a:r>
              <a:rPr lang="en-US" dirty="0"/>
              <a:t>-&gt;un </a:t>
            </a:r>
            <a:r>
              <a:rPr lang="en-US" dirty="0" err="1"/>
              <a:t>atribut</a:t>
            </a:r>
            <a:r>
              <a:rPr lang="en-US" dirty="0"/>
              <a:t> de </a:t>
            </a:r>
            <a:r>
              <a:rPr lang="en-US" dirty="0" err="1"/>
              <a:t>ordin</a:t>
            </a:r>
            <a:r>
              <a:rPr lang="en-US" dirty="0"/>
              <a:t> temporal al </a:t>
            </a:r>
            <a:r>
              <a:rPr lang="en-US" dirty="0" err="1"/>
              <a:t>imaginii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-&gt;</a:t>
            </a:r>
            <a:r>
              <a:rPr lang="en-US" dirty="0" err="1"/>
              <a:t>exprima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stimularii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de </a:t>
            </a:r>
            <a:r>
              <a:rPr lang="en-US" dirty="0" err="1"/>
              <a:t>manifestare</a:t>
            </a:r>
            <a:r>
              <a:rPr lang="en-US" dirty="0"/>
              <a:t> a </a:t>
            </a:r>
            <a:r>
              <a:rPr lang="en-US" dirty="0" err="1"/>
              <a:t>senzatiei</a:t>
            </a:r>
            <a:r>
              <a:rPr lang="en-US" dirty="0"/>
              <a:t>.-&gt;Se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vorbi</a:t>
            </a:r>
            <a:r>
              <a:rPr lang="en-US" dirty="0"/>
              <a:t> de o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incat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imaginii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in </a:t>
            </a:r>
            <a:r>
              <a:rPr lang="en-US" dirty="0" err="1"/>
              <a:t>concordanta</a:t>
            </a:r>
            <a:r>
              <a:rPr lang="en-US" dirty="0"/>
              <a:t> cu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stimularii</a:t>
            </a:r>
            <a:r>
              <a:rPr lang="en-US" dirty="0"/>
              <a:t>.-&gt;</a:t>
            </a:r>
            <a:r>
              <a:rPr lang="en-US" dirty="0" err="1"/>
              <a:t>Stimulul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perceput</a:t>
            </a:r>
            <a:r>
              <a:rPr lang="en-US" dirty="0"/>
              <a:t> de la bun </a:t>
            </a:r>
            <a:r>
              <a:rPr lang="en-US" dirty="0" err="1"/>
              <a:t>inceput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in care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porneste</a:t>
            </a:r>
            <a:r>
              <a:rPr lang="en-US" dirty="0"/>
              <a:t> de la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subliminale</a:t>
            </a:r>
            <a:r>
              <a:rPr lang="en-US" dirty="0"/>
              <a:t>.-&gt;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senzatie</a:t>
            </a:r>
            <a:r>
              <a:rPr lang="en-US" dirty="0"/>
              <a:t> </a:t>
            </a:r>
            <a:r>
              <a:rPr lang="en-US" dirty="0" err="1"/>
              <a:t>prezinta</a:t>
            </a:r>
            <a:r>
              <a:rPr lang="en-US" dirty="0"/>
              <a:t> un </a:t>
            </a:r>
            <a:r>
              <a:rPr lang="en-US" dirty="0" err="1"/>
              <a:t>anumit</a:t>
            </a:r>
            <a:r>
              <a:rPr lang="en-US" dirty="0"/>
              <a:t> tip de </a:t>
            </a:r>
            <a:r>
              <a:rPr lang="en-US" dirty="0" err="1"/>
              <a:t>latenta</a:t>
            </a:r>
            <a:r>
              <a:rPr lang="en-US" dirty="0"/>
              <a:t> </a:t>
            </a:r>
            <a:r>
              <a:rPr lang="en-US" dirty="0" err="1"/>
              <a:t>necesar</a:t>
            </a:r>
            <a:r>
              <a:rPr lang="en-US" dirty="0"/>
              <a:t> </a:t>
            </a:r>
            <a:r>
              <a:rPr lang="en-US" dirty="0" err="1"/>
              <a:t>declansarii</a:t>
            </a:r>
            <a:r>
              <a:rPr lang="en-US" dirty="0"/>
              <a:t>.-&gt;</a:t>
            </a:r>
            <a:r>
              <a:rPr lang="en-US" dirty="0" err="1"/>
              <a:t>Latenta</a:t>
            </a:r>
            <a:r>
              <a:rPr lang="en-US" dirty="0"/>
              <a:t> </a:t>
            </a:r>
            <a:r>
              <a:rPr lang="en-US" dirty="0" err="1"/>
              <a:t>excitatiei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 se </a:t>
            </a:r>
            <a:r>
              <a:rPr lang="en-US" dirty="0" err="1"/>
              <a:t>datoreaza</a:t>
            </a:r>
            <a:r>
              <a:rPr lang="en-US" dirty="0"/>
              <a:t> </a:t>
            </a:r>
            <a:r>
              <a:rPr lang="en-US" dirty="0" err="1"/>
              <a:t>proceselor</a:t>
            </a:r>
            <a:r>
              <a:rPr lang="en-US" dirty="0"/>
              <a:t> </a:t>
            </a:r>
            <a:r>
              <a:rPr lang="en-US" dirty="0" err="1"/>
              <a:t>neurochimice</a:t>
            </a:r>
            <a:r>
              <a:rPr lang="en-US" dirty="0"/>
              <a:t> de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celulei</a:t>
            </a:r>
            <a:r>
              <a:rPr lang="en-US" dirty="0"/>
              <a:t> </a:t>
            </a:r>
            <a:r>
              <a:rPr lang="en-US" dirty="0" err="1"/>
              <a:t>nervoase</a:t>
            </a:r>
            <a:r>
              <a:rPr lang="en-US" dirty="0"/>
              <a:t>.-&gt;</a:t>
            </a:r>
            <a:r>
              <a:rPr lang="en-US" dirty="0" err="1"/>
              <a:t>Neuronul</a:t>
            </a:r>
            <a:r>
              <a:rPr lang="en-US" dirty="0"/>
              <a:t> </a:t>
            </a:r>
            <a:r>
              <a:rPr lang="en-US" dirty="0" err="1"/>
              <a:t>actioneaza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legea</a:t>
            </a:r>
            <a:r>
              <a:rPr lang="en-US" dirty="0"/>
              <a:t> “</a:t>
            </a:r>
            <a:r>
              <a:rPr lang="en-US" dirty="0" err="1"/>
              <a:t>totul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nimic</a:t>
            </a:r>
            <a:r>
              <a:rPr lang="en-US" dirty="0"/>
              <a:t>”-&gt;intra in stare de </a:t>
            </a:r>
            <a:r>
              <a:rPr lang="en-US" dirty="0" err="1"/>
              <a:t>excitatie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in </a:t>
            </a:r>
            <a:r>
              <a:rPr lang="en-US" dirty="0" err="1"/>
              <a:t>momentul</a:t>
            </a:r>
            <a:r>
              <a:rPr lang="en-US" dirty="0"/>
              <a:t> in care se </a:t>
            </a:r>
            <a:r>
              <a:rPr lang="en-US" dirty="0" err="1"/>
              <a:t>realizeaza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sumatie</a:t>
            </a:r>
            <a:r>
              <a:rPr lang="en-US" dirty="0"/>
              <a:t> </a:t>
            </a:r>
            <a:r>
              <a:rPr lang="en-US" dirty="0" err="1"/>
              <a:t>excitatorie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abia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acestei</a:t>
            </a:r>
            <a:r>
              <a:rPr lang="en-US" dirty="0"/>
              <a:t> </a:t>
            </a:r>
            <a:r>
              <a:rPr lang="en-US" dirty="0" err="1"/>
              <a:t>sumatii</a:t>
            </a:r>
            <a:r>
              <a:rPr lang="en-US" dirty="0"/>
              <a:t> </a:t>
            </a:r>
            <a:r>
              <a:rPr lang="en-US" dirty="0" err="1"/>
              <a:t>neuronul</a:t>
            </a:r>
            <a:r>
              <a:rPr lang="en-US" dirty="0"/>
              <a:t> </a:t>
            </a:r>
            <a:r>
              <a:rPr lang="en-US" dirty="0" err="1"/>
              <a:t>declanseaza</a:t>
            </a:r>
            <a:r>
              <a:rPr lang="en-US" dirty="0"/>
              <a:t> </a:t>
            </a:r>
            <a:r>
              <a:rPr lang="en-US" dirty="0" err="1"/>
              <a:t>impulsurile</a:t>
            </a:r>
            <a:r>
              <a:rPr lang="en-US" dirty="0"/>
              <a:t> </a:t>
            </a:r>
            <a:r>
              <a:rPr lang="en-US" dirty="0" err="1"/>
              <a:t>excitatorii</a:t>
            </a:r>
            <a:r>
              <a:rPr lang="en-US" dirty="0"/>
              <a:t>.-&gt;</a:t>
            </a:r>
            <a:r>
              <a:rPr lang="en-US" b="1" dirty="0" err="1"/>
              <a:t>timpul</a:t>
            </a:r>
            <a:r>
              <a:rPr lang="en-US" b="1" dirty="0"/>
              <a:t> de </a:t>
            </a:r>
            <a:r>
              <a:rPr lang="en-US" b="1" dirty="0" err="1"/>
              <a:t>reactie</a:t>
            </a:r>
            <a:r>
              <a:rPr lang="en-US" dirty="0" err="1"/>
              <a:t>.;Pe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parte, </a:t>
            </a:r>
            <a:r>
              <a:rPr lang="en-US" dirty="0" err="1"/>
              <a:t>senzatia</a:t>
            </a:r>
            <a:r>
              <a:rPr lang="en-US" dirty="0"/>
              <a:t> nu-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inceteaza</a:t>
            </a:r>
            <a:r>
              <a:rPr lang="en-US" dirty="0"/>
              <a:t> </a:t>
            </a:r>
            <a:r>
              <a:rPr lang="en-US" dirty="0" err="1"/>
              <a:t>actiunea</a:t>
            </a:r>
            <a:r>
              <a:rPr lang="en-US" dirty="0"/>
              <a:t> </a:t>
            </a:r>
            <a:r>
              <a:rPr lang="en-US" dirty="0" err="1"/>
              <a:t>spontan,automat,mecanic</a:t>
            </a:r>
            <a:r>
              <a:rPr lang="en-US" dirty="0"/>
              <a:t>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incetarea</a:t>
            </a:r>
            <a:r>
              <a:rPr lang="en-US" dirty="0"/>
              <a:t> </a:t>
            </a:r>
            <a:r>
              <a:rPr lang="en-US" dirty="0" err="1"/>
              <a:t>actiunii</a:t>
            </a:r>
            <a:r>
              <a:rPr lang="en-US" dirty="0"/>
              <a:t> </a:t>
            </a:r>
            <a:r>
              <a:rPr lang="en-US" dirty="0" err="1"/>
              <a:t>stimulului</a:t>
            </a:r>
            <a:r>
              <a:rPr lang="en-US" dirty="0"/>
              <a:t>-&gt;</a:t>
            </a:r>
            <a:r>
              <a:rPr lang="en-US" b="1" dirty="0" err="1"/>
              <a:t>postefect</a:t>
            </a:r>
            <a:r>
              <a:rPr lang="en-US" dirty="0"/>
              <a:t>.-&gt;se </a:t>
            </a:r>
            <a:r>
              <a:rPr lang="en-US" dirty="0" err="1"/>
              <a:t>mentine</a:t>
            </a:r>
            <a:r>
              <a:rPr lang="en-US" dirty="0"/>
              <a:t> o </a:t>
            </a:r>
            <a:r>
              <a:rPr lang="en-US" dirty="0" err="1"/>
              <a:t>perioada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scurta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activarea</a:t>
            </a:r>
            <a:r>
              <a:rPr lang="en-US" dirty="0"/>
              <a:t> </a:t>
            </a:r>
            <a:r>
              <a:rPr lang="en-US" dirty="0" err="1"/>
              <a:t>urmatoarelor</a:t>
            </a:r>
            <a:r>
              <a:rPr lang="en-US" dirty="0"/>
              <a:t> </a:t>
            </a:r>
            <a:r>
              <a:rPr lang="en-US" dirty="0" err="1"/>
              <a:t>secvente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r>
              <a:rPr lang="en-US" dirty="0"/>
              <a:t> </a:t>
            </a:r>
            <a:r>
              <a:rPr lang="en-US" dirty="0" err="1"/>
              <a:t>senzoriala</a:t>
            </a:r>
            <a:r>
              <a:rPr lang="en-US" dirty="0"/>
              <a:t>.</a:t>
            </a:r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err="1"/>
              <a:t>Calitatea</a:t>
            </a:r>
            <a:r>
              <a:rPr lang="en-US" b="1" dirty="0"/>
              <a:t> </a:t>
            </a:r>
            <a:r>
              <a:rPr lang="en-US" b="1" dirty="0" err="1"/>
              <a:t>imaginii</a:t>
            </a:r>
            <a:r>
              <a:rPr lang="en-US" b="1" dirty="0"/>
              <a:t> </a:t>
            </a:r>
            <a:r>
              <a:rPr lang="en-US" b="1" dirty="0" err="1"/>
              <a:t>senzoriale</a:t>
            </a:r>
            <a:r>
              <a:rPr lang="en-US" b="1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atribut</a:t>
            </a:r>
            <a:r>
              <a:rPr lang="en-US" dirty="0"/>
              <a:t> al </a:t>
            </a:r>
            <a:r>
              <a:rPr lang="en-US" dirty="0" err="1"/>
              <a:t>continutului</a:t>
            </a:r>
            <a:r>
              <a:rPr lang="en-US" dirty="0"/>
              <a:t> informational specific </a:t>
            </a:r>
            <a:r>
              <a:rPr lang="en-US" dirty="0" err="1"/>
              <a:t>diferitelor</a:t>
            </a:r>
            <a:r>
              <a:rPr lang="en-US" dirty="0"/>
              <a:t> </a:t>
            </a:r>
            <a:r>
              <a:rPr lang="en-US" dirty="0" err="1"/>
              <a:t>modalitati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-&gt;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in </a:t>
            </a:r>
            <a:r>
              <a:rPr lang="en-US" dirty="0" err="1"/>
              <a:t>stransa</a:t>
            </a:r>
            <a:r>
              <a:rPr lang="en-US" dirty="0"/>
              <a:t> </a:t>
            </a:r>
            <a:r>
              <a:rPr lang="en-US" dirty="0" err="1"/>
              <a:t>legatura</a:t>
            </a:r>
            <a:r>
              <a:rPr lang="en-US" dirty="0"/>
              <a:t> cu </a:t>
            </a:r>
            <a:r>
              <a:rPr lang="en-US" dirty="0" err="1"/>
              <a:t>calitatea</a:t>
            </a:r>
            <a:r>
              <a:rPr lang="en-US" dirty="0"/>
              <a:t>, </a:t>
            </a:r>
            <a:r>
              <a:rPr lang="en-US" dirty="0" err="1"/>
              <a:t>specificul</a:t>
            </a:r>
            <a:r>
              <a:rPr lang="en-US" dirty="0"/>
              <a:t> </a:t>
            </a:r>
            <a:r>
              <a:rPr lang="en-US" dirty="0" err="1"/>
              <a:t>imaginii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: stimuli </a:t>
            </a:r>
            <a:r>
              <a:rPr lang="en-US" dirty="0" err="1"/>
              <a:t>optici-senzatii</a:t>
            </a:r>
            <a:r>
              <a:rPr lang="en-US" dirty="0"/>
              <a:t> </a:t>
            </a:r>
            <a:r>
              <a:rPr lang="en-US" dirty="0" err="1"/>
              <a:t>vizuale</a:t>
            </a:r>
            <a:r>
              <a:rPr lang="en-US" dirty="0"/>
              <a:t>; stimuli </a:t>
            </a:r>
            <a:r>
              <a:rPr lang="en-US" dirty="0" err="1"/>
              <a:t>acustici-senzatii</a:t>
            </a:r>
            <a:r>
              <a:rPr lang="en-US" dirty="0"/>
              <a:t> </a:t>
            </a:r>
            <a:r>
              <a:rPr lang="en-US" dirty="0" err="1"/>
              <a:t>auditive</a:t>
            </a:r>
            <a:r>
              <a:rPr lang="en-US" dirty="0"/>
              <a:t>; stimuli </a:t>
            </a:r>
            <a:r>
              <a:rPr lang="en-US" dirty="0" err="1"/>
              <a:t>chimici-senzatii</a:t>
            </a:r>
            <a:r>
              <a:rPr lang="en-US" dirty="0"/>
              <a:t> gustative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olfactive</a:t>
            </a:r>
            <a:r>
              <a:rPr lang="en-US" dirty="0"/>
              <a:t>; stimuli </a:t>
            </a:r>
            <a:r>
              <a:rPr lang="en-US" dirty="0" err="1"/>
              <a:t>mecanici-senzatii</a:t>
            </a:r>
            <a:r>
              <a:rPr lang="en-US" dirty="0"/>
              <a:t> </a:t>
            </a:r>
            <a:r>
              <a:rPr lang="en-US" dirty="0" err="1"/>
              <a:t>tactilo-chinestezice</a:t>
            </a:r>
            <a:r>
              <a:rPr lang="en-US" dirty="0"/>
              <a:t>; stimuli </a:t>
            </a:r>
            <a:r>
              <a:rPr lang="en-US" dirty="0" err="1"/>
              <a:t>termici-senzatii</a:t>
            </a:r>
            <a:r>
              <a:rPr lang="en-US" dirty="0"/>
              <a:t> </a:t>
            </a:r>
            <a:r>
              <a:rPr lang="en-US" dirty="0" err="1"/>
              <a:t>termice</a:t>
            </a:r>
            <a:r>
              <a:rPr lang="en-US" dirty="0"/>
              <a:t> etc.</a:t>
            </a:r>
          </a:p>
          <a:p>
            <a:r>
              <a:rPr lang="en-US" b="1" dirty="0" err="1"/>
              <a:t>Tonalitatea</a:t>
            </a:r>
            <a:r>
              <a:rPr lang="en-US" b="1" dirty="0"/>
              <a:t> </a:t>
            </a:r>
            <a:r>
              <a:rPr lang="en-US" b="1" dirty="0" err="1"/>
              <a:t>afectiva</a:t>
            </a:r>
            <a:r>
              <a:rPr lang="en-US" b="1" dirty="0"/>
              <a:t> a </a:t>
            </a:r>
            <a:r>
              <a:rPr lang="en-US" b="1" dirty="0" err="1"/>
              <a:t>imaginii</a:t>
            </a:r>
            <a:r>
              <a:rPr lang="en-US" b="1" dirty="0"/>
              <a:t> </a:t>
            </a:r>
            <a:r>
              <a:rPr lang="en-US" b="1" dirty="0" err="1"/>
              <a:t>senzoriale</a:t>
            </a:r>
            <a:r>
              <a:rPr lang="en-US" dirty="0"/>
              <a:t>-&gt;</a:t>
            </a:r>
            <a:r>
              <a:rPr lang="en-US" dirty="0" err="1"/>
              <a:t>ecoul</a:t>
            </a:r>
            <a:r>
              <a:rPr lang="en-US" dirty="0"/>
              <a:t> </a:t>
            </a:r>
            <a:r>
              <a:rPr lang="en-US" dirty="0" err="1"/>
              <a:t>afectiv</a:t>
            </a:r>
            <a:r>
              <a:rPr lang="en-US" dirty="0"/>
              <a:t> al </a:t>
            </a:r>
            <a:r>
              <a:rPr lang="en-US" dirty="0" err="1"/>
              <a:t>senzatiei</a:t>
            </a:r>
            <a:r>
              <a:rPr lang="en-US" dirty="0"/>
              <a:t>-&gt;o </a:t>
            </a:r>
            <a:r>
              <a:rPr lang="en-US" dirty="0" err="1"/>
              <a:t>traire</a:t>
            </a:r>
            <a:r>
              <a:rPr lang="en-US" dirty="0"/>
              <a:t> </a:t>
            </a:r>
            <a:r>
              <a:rPr lang="en-US" dirty="0" err="1"/>
              <a:t>afectiva</a:t>
            </a:r>
            <a:r>
              <a:rPr lang="en-US" dirty="0"/>
              <a:t> </a:t>
            </a:r>
            <a:r>
              <a:rPr lang="en-US" dirty="0" err="1"/>
              <a:t>simpla,primara</a:t>
            </a:r>
            <a:r>
              <a:rPr lang="en-US" dirty="0"/>
              <a:t>, slab </a:t>
            </a:r>
            <a:r>
              <a:rPr lang="en-US" dirty="0" err="1"/>
              <a:t>diferentiata,slab</a:t>
            </a:r>
            <a:r>
              <a:rPr lang="en-US" dirty="0"/>
              <a:t> </a:t>
            </a:r>
            <a:r>
              <a:rPr lang="en-US" dirty="0" err="1"/>
              <a:t>verbalizata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slab </a:t>
            </a:r>
            <a:r>
              <a:rPr lang="en-US" dirty="0" err="1"/>
              <a:t>constientizata</a:t>
            </a:r>
            <a:r>
              <a:rPr lang="en-US" dirty="0"/>
              <a:t>.-&gt;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o </a:t>
            </a:r>
            <a:r>
              <a:rPr lang="en-US" dirty="0" err="1"/>
              <a:t>impresie</a:t>
            </a:r>
            <a:r>
              <a:rPr lang="en-US" dirty="0"/>
              <a:t> </a:t>
            </a:r>
            <a:r>
              <a:rPr lang="en-US" dirty="0" err="1"/>
              <a:t>afectiv</a:t>
            </a:r>
            <a:r>
              <a:rPr lang="en-US" dirty="0"/>
              <a:t> </a:t>
            </a:r>
            <a:r>
              <a:rPr lang="en-US" dirty="0" err="1"/>
              <a:t>senzoriala</a:t>
            </a:r>
            <a:r>
              <a:rPr lang="en-US" dirty="0"/>
              <a:t>.-&gt;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ordine</a:t>
            </a:r>
            <a:r>
              <a:rPr lang="en-US" dirty="0"/>
              <a:t> </a:t>
            </a:r>
            <a:r>
              <a:rPr lang="en-US" dirty="0" err="1"/>
              <a:t>descendenta</a:t>
            </a:r>
            <a:r>
              <a:rPr lang="en-US" dirty="0"/>
              <a:t> a </a:t>
            </a:r>
            <a:r>
              <a:rPr lang="en-US" dirty="0" err="1"/>
              <a:t>intensitatii</a:t>
            </a:r>
            <a:r>
              <a:rPr lang="en-US" dirty="0"/>
              <a:t> </a:t>
            </a:r>
            <a:r>
              <a:rPr lang="en-US" dirty="0" err="1"/>
              <a:t>tonalitatii</a:t>
            </a:r>
            <a:r>
              <a:rPr lang="en-US" dirty="0"/>
              <a:t> </a:t>
            </a:r>
            <a:r>
              <a:rPr lang="en-US" dirty="0" err="1"/>
              <a:t>afective</a:t>
            </a:r>
            <a:r>
              <a:rPr lang="en-US" dirty="0"/>
              <a:t>: </a:t>
            </a:r>
            <a:r>
              <a:rPr lang="en-US" dirty="0" err="1"/>
              <a:t>senzatia</a:t>
            </a:r>
            <a:r>
              <a:rPr lang="en-US" dirty="0"/>
              <a:t> de </a:t>
            </a:r>
            <a:r>
              <a:rPr lang="en-US" dirty="0" err="1"/>
              <a:t>durere</a:t>
            </a:r>
            <a:r>
              <a:rPr lang="en-US" dirty="0"/>
              <a:t>, </a:t>
            </a:r>
            <a:r>
              <a:rPr lang="en-US" dirty="0" err="1"/>
              <a:t>s.vestibulare</a:t>
            </a:r>
            <a:r>
              <a:rPr lang="en-US" dirty="0"/>
              <a:t>, </a:t>
            </a:r>
            <a:r>
              <a:rPr lang="en-US" dirty="0" err="1"/>
              <a:t>organice</a:t>
            </a:r>
            <a:r>
              <a:rPr lang="en-US" dirty="0"/>
              <a:t>, interne, </a:t>
            </a:r>
            <a:r>
              <a:rPr lang="en-US" dirty="0" err="1"/>
              <a:t>s.olfactive,gustative,auditive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vizuale</a:t>
            </a:r>
            <a:r>
              <a:rPr lang="en-US" dirty="0"/>
              <a:t>.-&gt;nu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confundam</a:t>
            </a:r>
            <a:r>
              <a:rPr lang="en-US" dirty="0"/>
              <a:t> </a:t>
            </a:r>
            <a:r>
              <a:rPr lang="en-US" dirty="0" err="1"/>
              <a:t>reactiile</a:t>
            </a:r>
            <a:r>
              <a:rPr lang="en-US" dirty="0"/>
              <a:t> </a:t>
            </a:r>
            <a:r>
              <a:rPr lang="en-US" dirty="0" err="1"/>
              <a:t>afective</a:t>
            </a:r>
            <a:r>
              <a:rPr lang="en-US" dirty="0"/>
              <a:t> </a:t>
            </a:r>
            <a:r>
              <a:rPr lang="en-US" dirty="0" err="1"/>
              <a:t>declansate</a:t>
            </a:r>
            <a:r>
              <a:rPr lang="en-US" dirty="0"/>
              <a:t> de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vizuali</a:t>
            </a:r>
            <a:r>
              <a:rPr lang="en-US" dirty="0"/>
              <a:t> </a:t>
            </a:r>
            <a:r>
              <a:rPr lang="en-US" dirty="0" err="1"/>
              <a:t>cromatici</a:t>
            </a:r>
            <a:r>
              <a:rPr lang="en-US" dirty="0"/>
              <a:t> cu </a:t>
            </a:r>
            <a:r>
              <a:rPr lang="en-US" dirty="0" err="1"/>
              <a:t>simpla</a:t>
            </a:r>
            <a:r>
              <a:rPr lang="en-US" dirty="0"/>
              <a:t> </a:t>
            </a:r>
            <a:r>
              <a:rPr lang="en-US" dirty="0" err="1"/>
              <a:t>tonalitate</a:t>
            </a:r>
            <a:r>
              <a:rPr lang="en-US" dirty="0"/>
              <a:t> </a:t>
            </a:r>
            <a:r>
              <a:rPr lang="en-US" dirty="0" err="1"/>
              <a:t>afectiva</a:t>
            </a:r>
            <a:r>
              <a:rPr lang="en-US" dirty="0"/>
              <a:t>-&gt; </a:t>
            </a:r>
            <a:r>
              <a:rPr lang="en-US" dirty="0" err="1"/>
              <a:t>tonalitatea</a:t>
            </a:r>
            <a:r>
              <a:rPr lang="en-US" dirty="0"/>
              <a:t> </a:t>
            </a:r>
            <a:r>
              <a:rPr lang="en-US" dirty="0" err="1"/>
              <a:t>afectiva</a:t>
            </a:r>
            <a:r>
              <a:rPr lang="en-US" dirty="0"/>
              <a:t> are in </a:t>
            </a:r>
            <a:r>
              <a:rPr lang="en-US" dirty="0" err="1"/>
              <a:t>primul</a:t>
            </a:r>
            <a:r>
              <a:rPr lang="en-US" dirty="0"/>
              <a:t> rand o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adaptativa</a:t>
            </a:r>
            <a:r>
              <a:rPr lang="en-US" dirty="0"/>
              <a:t>-&gt;</a:t>
            </a:r>
            <a:r>
              <a:rPr lang="en-US" dirty="0" err="1"/>
              <a:t>declanseaza</a:t>
            </a:r>
            <a:r>
              <a:rPr lang="en-US" dirty="0"/>
              <a:t> </a:t>
            </a:r>
            <a:r>
              <a:rPr lang="en-US" dirty="0" err="1"/>
              <a:t>mecanismele</a:t>
            </a:r>
            <a:r>
              <a:rPr lang="en-US" dirty="0"/>
              <a:t> de </a:t>
            </a:r>
            <a:r>
              <a:rPr lang="en-US" dirty="0" err="1"/>
              <a:t>aparare</a:t>
            </a:r>
            <a:r>
              <a:rPr lang="en-US" dirty="0"/>
              <a:t> ale </a:t>
            </a:r>
            <a:r>
              <a:rPr lang="en-US" dirty="0" err="1"/>
              <a:t>organismului</a:t>
            </a:r>
            <a:r>
              <a:rPr lang="en-US" dirty="0"/>
              <a:t> </a:t>
            </a:r>
            <a:r>
              <a:rPr lang="en-US" dirty="0" err="1"/>
              <a:t>punandu</a:t>
            </a:r>
            <a:r>
              <a:rPr lang="en-US" dirty="0"/>
              <a:t>-l in stare de </a:t>
            </a:r>
            <a:r>
              <a:rPr lang="en-US" dirty="0" err="1"/>
              <a:t>alerta</a:t>
            </a:r>
            <a:r>
              <a:rPr lang="en-US" dirty="0"/>
              <a:t>.</a:t>
            </a:r>
          </a:p>
          <a:p>
            <a:r>
              <a:rPr lang="en-US" b="1" dirty="0" err="1"/>
              <a:t>Valoarea</a:t>
            </a:r>
            <a:r>
              <a:rPr lang="en-US" b="1" dirty="0"/>
              <a:t> </a:t>
            </a:r>
            <a:r>
              <a:rPr lang="en-US" b="1" dirty="0" err="1"/>
              <a:t>cognitiva</a:t>
            </a:r>
            <a:r>
              <a:rPr lang="en-US" dirty="0"/>
              <a:t>-&gt;</a:t>
            </a:r>
            <a:r>
              <a:rPr lang="en-US" dirty="0" err="1"/>
              <a:t>pozitia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scala</a:t>
            </a:r>
            <a:r>
              <a:rPr lang="en-US" dirty="0"/>
              <a:t> a </a:t>
            </a:r>
            <a:r>
              <a:rPr lang="en-US" dirty="0" err="1"/>
              <a:t>importantei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semnificatiei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cunoasterea</a:t>
            </a:r>
            <a:r>
              <a:rPr lang="en-US" dirty="0"/>
              <a:t> </a:t>
            </a:r>
            <a:r>
              <a:rPr lang="en-US" dirty="0" err="1"/>
              <a:t>senzoriala</a:t>
            </a:r>
            <a:r>
              <a:rPr lang="en-US" dirty="0"/>
              <a:t>.-&gt;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primul</a:t>
            </a:r>
            <a:r>
              <a:rPr lang="en-US" dirty="0"/>
              <a:t> plan se </a:t>
            </a:r>
            <a:r>
              <a:rPr lang="en-US" dirty="0" err="1"/>
              <a:t>impunn</a:t>
            </a:r>
            <a:r>
              <a:rPr lang="en-US" dirty="0"/>
              <a:t> </a:t>
            </a:r>
            <a:r>
              <a:rPr lang="en-US" dirty="0" err="1"/>
              <a:t>s.vizuale,apoi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auditive,cele</a:t>
            </a:r>
            <a:r>
              <a:rPr lang="en-US" dirty="0"/>
              <a:t> </a:t>
            </a:r>
            <a:r>
              <a:rPr lang="en-US" dirty="0" err="1"/>
              <a:t>tactilo-kinestezice</a:t>
            </a:r>
            <a:r>
              <a:rPr lang="en-US" dirty="0"/>
              <a:t> </a:t>
            </a:r>
            <a:r>
              <a:rPr lang="en-US" dirty="0" err="1"/>
              <a:t>etvc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 err="1"/>
              <a:t>Legile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intensitatii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pragurilor</a:t>
            </a:r>
            <a:r>
              <a:rPr lang="en-US" b="1" dirty="0"/>
              <a:t> </a:t>
            </a:r>
            <a:r>
              <a:rPr lang="en-US" b="1" dirty="0" err="1"/>
              <a:t>senzoriale</a:t>
            </a:r>
            <a:endParaRPr lang="en-US" b="1" dirty="0"/>
          </a:p>
          <a:p>
            <a:pPr algn="just">
              <a:buNone/>
            </a:pPr>
            <a:r>
              <a:rPr lang="en-US" dirty="0" err="1"/>
              <a:t>Cercetarile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Weber </a:t>
            </a:r>
            <a:r>
              <a:rPr lang="en-US" dirty="0" err="1"/>
              <a:t>si</a:t>
            </a:r>
            <a:r>
              <a:rPr lang="en-US" dirty="0"/>
              <a:t> Fechner au </a:t>
            </a:r>
            <a:r>
              <a:rPr lang="en-US" dirty="0" err="1"/>
              <a:t>condus</a:t>
            </a:r>
            <a:r>
              <a:rPr lang="en-US" dirty="0"/>
              <a:t> la </a:t>
            </a:r>
            <a:r>
              <a:rPr lang="en-US" dirty="0" err="1"/>
              <a:t>elaborarea</a:t>
            </a:r>
            <a:r>
              <a:rPr lang="en-US" dirty="0"/>
              <a:t> </a:t>
            </a:r>
            <a:r>
              <a:rPr lang="en-US" dirty="0" err="1"/>
              <a:t>conceptului</a:t>
            </a:r>
            <a:r>
              <a:rPr lang="en-US" dirty="0"/>
              <a:t> de </a:t>
            </a:r>
            <a:r>
              <a:rPr lang="en-US" dirty="0" err="1"/>
              <a:t>prag</a:t>
            </a:r>
            <a:r>
              <a:rPr lang="en-US" dirty="0"/>
              <a:t> </a:t>
            </a:r>
            <a:r>
              <a:rPr lang="en-US" dirty="0" err="1"/>
              <a:t>senzorial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primelor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 </a:t>
            </a:r>
            <a:r>
              <a:rPr lang="en-US" dirty="0" err="1"/>
              <a:t>evaluare</a:t>
            </a:r>
            <a:r>
              <a:rPr lang="en-US" dirty="0"/>
              <a:t> ale </a:t>
            </a:r>
            <a:r>
              <a:rPr lang="en-US" dirty="0" err="1"/>
              <a:t>pragului</a:t>
            </a:r>
            <a:r>
              <a:rPr lang="en-US" dirty="0"/>
              <a:t>.</a:t>
            </a:r>
          </a:p>
          <a:p>
            <a:pPr lvl="2" algn="just"/>
            <a:r>
              <a:rPr lang="en-US" dirty="0" err="1"/>
              <a:t>Pragul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 minimal=</a:t>
            </a:r>
            <a:r>
              <a:rPr lang="en-US" dirty="0" err="1"/>
              <a:t>valoarea</a:t>
            </a:r>
            <a:r>
              <a:rPr lang="en-US" dirty="0"/>
              <a:t> minima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stimul</a:t>
            </a:r>
            <a:r>
              <a:rPr lang="en-US" dirty="0"/>
              <a:t> </a:t>
            </a:r>
            <a:r>
              <a:rPr lang="en-US" dirty="0" err="1"/>
              <a:t>necesara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senzatii</a:t>
            </a:r>
            <a:r>
              <a:rPr lang="en-US" dirty="0"/>
              <a:t> </a:t>
            </a:r>
            <a:r>
              <a:rPr lang="en-US" dirty="0" err="1"/>
              <a:t>specifice</a:t>
            </a:r>
            <a:endParaRPr lang="en-US" dirty="0"/>
          </a:p>
          <a:p>
            <a:pPr lvl="2" algn="just"/>
            <a:r>
              <a:rPr lang="en-US" dirty="0" err="1"/>
              <a:t>Pragul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 maximal=</a:t>
            </a:r>
            <a:r>
              <a:rPr lang="en-US" dirty="0" err="1"/>
              <a:t>valoarea</a:t>
            </a:r>
            <a:r>
              <a:rPr lang="en-US" dirty="0"/>
              <a:t> maxima a </a:t>
            </a:r>
            <a:r>
              <a:rPr lang="en-US" dirty="0" err="1"/>
              <a:t>intensitatii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stimul</a:t>
            </a:r>
            <a:r>
              <a:rPr lang="en-US" dirty="0"/>
              <a:t> </a:t>
            </a:r>
            <a:r>
              <a:rPr lang="en-US" dirty="0" err="1"/>
              <a:t>necesara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suficienta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determina</a:t>
            </a:r>
            <a:r>
              <a:rPr lang="en-US" dirty="0"/>
              <a:t> </a:t>
            </a:r>
            <a:r>
              <a:rPr lang="en-US" dirty="0" err="1"/>
              <a:t>inca</a:t>
            </a:r>
            <a:r>
              <a:rPr lang="en-US" dirty="0"/>
              <a:t> o </a:t>
            </a:r>
            <a:r>
              <a:rPr lang="en-US" dirty="0" err="1"/>
              <a:t>senzatie</a:t>
            </a:r>
            <a:r>
              <a:rPr lang="en-US" dirty="0"/>
              <a:t> </a:t>
            </a:r>
            <a:r>
              <a:rPr lang="en-US" dirty="0" err="1"/>
              <a:t>specifica.Dincolo</a:t>
            </a:r>
            <a:r>
              <a:rPr lang="en-US" dirty="0"/>
              <a:t> de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senzatia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pierde</a:t>
            </a:r>
            <a:r>
              <a:rPr lang="en-US" dirty="0"/>
              <a:t> </a:t>
            </a:r>
            <a:r>
              <a:rPr lang="en-US" dirty="0" err="1"/>
              <a:t>specificitatea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transforma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senzatie</a:t>
            </a:r>
            <a:r>
              <a:rPr lang="en-US" dirty="0"/>
              <a:t> </a:t>
            </a:r>
            <a:r>
              <a:rPr lang="en-US" dirty="0" err="1"/>
              <a:t>nespecifica</a:t>
            </a:r>
            <a:r>
              <a:rPr lang="en-US" dirty="0"/>
              <a:t> de </a:t>
            </a:r>
            <a:r>
              <a:rPr lang="en-US" dirty="0" err="1"/>
              <a:t>durere</a:t>
            </a:r>
            <a:r>
              <a:rPr lang="en-US" dirty="0"/>
              <a:t>.</a:t>
            </a:r>
          </a:p>
          <a:p>
            <a:pPr lvl="2" algn="just"/>
            <a:r>
              <a:rPr lang="en-US" dirty="0" err="1"/>
              <a:t>Conceptul</a:t>
            </a:r>
            <a:r>
              <a:rPr lang="en-US" dirty="0"/>
              <a:t> de </a:t>
            </a:r>
            <a:r>
              <a:rPr lang="en-US" dirty="0" err="1"/>
              <a:t>prag</a:t>
            </a:r>
            <a:r>
              <a:rPr lang="en-US" dirty="0"/>
              <a:t> </a:t>
            </a:r>
            <a:r>
              <a:rPr lang="en-US" dirty="0" err="1"/>
              <a:t>vizeaza</a:t>
            </a:r>
            <a:r>
              <a:rPr lang="en-US" dirty="0"/>
              <a:t> </a:t>
            </a:r>
            <a:r>
              <a:rPr lang="en-US" dirty="0" err="1"/>
              <a:t>particularitatile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ale </a:t>
            </a:r>
            <a:r>
              <a:rPr lang="en-US" dirty="0" err="1"/>
              <a:t>intensitatii</a:t>
            </a:r>
            <a:r>
              <a:rPr lang="en-US" dirty="0"/>
              <a:t> </a:t>
            </a:r>
            <a:r>
              <a:rPr lang="en-US" dirty="0" err="1"/>
              <a:t>stimulului</a:t>
            </a:r>
            <a:endParaRPr lang="en-US" dirty="0"/>
          </a:p>
          <a:p>
            <a:pPr lvl="2" algn="just"/>
            <a:r>
              <a:rPr lang="en-US" dirty="0" err="1"/>
              <a:t>Conceptul</a:t>
            </a:r>
            <a:r>
              <a:rPr lang="en-US" dirty="0"/>
              <a:t> de </a:t>
            </a:r>
            <a:r>
              <a:rPr lang="en-US" dirty="0" err="1"/>
              <a:t>sensibilitate</a:t>
            </a:r>
            <a:r>
              <a:rPr lang="en-US" dirty="0"/>
              <a:t> se </a:t>
            </a:r>
            <a:r>
              <a:rPr lang="en-US" dirty="0" err="1"/>
              <a:t>refera</a:t>
            </a:r>
            <a:r>
              <a:rPr lang="en-US" dirty="0"/>
              <a:t> la </a:t>
            </a:r>
            <a:r>
              <a:rPr lang="en-US" dirty="0" err="1"/>
              <a:t>particularitatile</a:t>
            </a:r>
            <a:r>
              <a:rPr lang="en-US" dirty="0"/>
              <a:t> </a:t>
            </a:r>
            <a:r>
              <a:rPr lang="en-US" dirty="0" err="1"/>
              <a:t>analizatorului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67056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pragurilor</a:t>
            </a:r>
            <a:r>
              <a:rPr lang="en-US" b="1" dirty="0"/>
              <a:t> absolute</a:t>
            </a:r>
            <a:r>
              <a:rPr lang="en-US" dirty="0"/>
              <a:t>-&gt;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pragului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raport</a:t>
            </a:r>
            <a:r>
              <a:rPr lang="en-US" dirty="0"/>
              <a:t> </a:t>
            </a:r>
            <a:r>
              <a:rPr lang="en-US" dirty="0" err="1"/>
              <a:t>invers</a:t>
            </a:r>
            <a:r>
              <a:rPr lang="en-US" dirty="0"/>
              <a:t> </a:t>
            </a:r>
            <a:r>
              <a:rPr lang="en-US" dirty="0" err="1"/>
              <a:t>proportional.Cercetarile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Weber au </a:t>
            </a:r>
            <a:r>
              <a:rPr lang="en-US" dirty="0" err="1"/>
              <a:t>demonstrat</a:t>
            </a:r>
            <a:r>
              <a:rPr lang="en-US" dirty="0"/>
              <a:t> ca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fiecarui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raporturi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 de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intensitatii</a:t>
            </a:r>
            <a:r>
              <a:rPr lang="en-US" dirty="0"/>
              <a:t> </a:t>
            </a:r>
            <a:r>
              <a:rPr lang="en-US" dirty="0" err="1"/>
              <a:t>stimulului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modificarii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initiale</a:t>
            </a:r>
            <a:r>
              <a:rPr lang="en-US" dirty="0"/>
              <a:t>.</a:t>
            </a:r>
          </a:p>
          <a:p>
            <a:r>
              <a:rPr lang="en-US" dirty="0" err="1"/>
              <a:t>Studiile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Fechner au </a:t>
            </a:r>
            <a:r>
              <a:rPr lang="en-US" dirty="0" err="1"/>
              <a:t>condus</a:t>
            </a:r>
            <a:r>
              <a:rPr lang="en-US" dirty="0"/>
              <a:t> la </a:t>
            </a:r>
            <a:r>
              <a:rPr lang="en-US" dirty="0" err="1"/>
              <a:t>elaborarea</a:t>
            </a:r>
            <a:r>
              <a:rPr lang="en-US" dirty="0"/>
              <a:t> </a:t>
            </a:r>
            <a:r>
              <a:rPr lang="en-US" dirty="0" err="1"/>
              <a:t>legii</a:t>
            </a:r>
            <a:r>
              <a:rPr lang="en-US" dirty="0"/>
              <a:t> </a:t>
            </a:r>
            <a:r>
              <a:rPr lang="en-US" dirty="0" err="1"/>
              <a:t>pragurilor</a:t>
            </a:r>
            <a:r>
              <a:rPr lang="en-US" dirty="0"/>
              <a:t> </a:t>
            </a:r>
            <a:r>
              <a:rPr lang="en-US" dirty="0" err="1"/>
              <a:t>diferentiale.</a:t>
            </a:r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pragului</a:t>
            </a:r>
            <a:r>
              <a:rPr lang="en-US" b="1" dirty="0"/>
              <a:t> </a:t>
            </a:r>
            <a:r>
              <a:rPr lang="en-US" b="1" dirty="0" err="1"/>
              <a:t>diferential</a:t>
            </a:r>
            <a:r>
              <a:rPr lang="en-US" b="1" dirty="0"/>
              <a:t> </a:t>
            </a:r>
            <a:r>
              <a:rPr lang="en-US" dirty="0"/>
              <a:t>-&gt;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cresterii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in </a:t>
            </a:r>
            <a:r>
              <a:rPr lang="en-US" dirty="0" err="1"/>
              <a:t>progresie</a:t>
            </a:r>
            <a:r>
              <a:rPr lang="en-US" dirty="0"/>
              <a:t> </a:t>
            </a:r>
            <a:r>
              <a:rPr lang="en-US" dirty="0" err="1"/>
              <a:t>aritmetica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necesara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intensitatii</a:t>
            </a:r>
            <a:r>
              <a:rPr lang="en-US" dirty="0"/>
              <a:t> </a:t>
            </a:r>
            <a:r>
              <a:rPr lang="en-US" dirty="0" err="1"/>
              <a:t>stimulului</a:t>
            </a:r>
            <a:r>
              <a:rPr lang="en-US" dirty="0"/>
              <a:t> in </a:t>
            </a:r>
            <a:r>
              <a:rPr lang="en-US" dirty="0" err="1"/>
              <a:t>progresie</a:t>
            </a:r>
            <a:r>
              <a:rPr lang="en-US" dirty="0"/>
              <a:t> </a:t>
            </a:r>
            <a:r>
              <a:rPr lang="en-US" dirty="0" err="1"/>
              <a:t>geometrica</a:t>
            </a:r>
            <a:r>
              <a:rPr lang="en-US" dirty="0"/>
              <a:t>.</a:t>
            </a:r>
          </a:p>
          <a:p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contrastului</a:t>
            </a:r>
            <a:r>
              <a:rPr lang="en-US" dirty="0"/>
              <a:t>-&gt;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ca </a:t>
            </a:r>
            <a:r>
              <a:rPr lang="en-US" dirty="0" err="1"/>
              <a:t>efect</a:t>
            </a:r>
            <a:r>
              <a:rPr lang="en-US" dirty="0"/>
              <a:t> al </a:t>
            </a:r>
            <a:r>
              <a:rPr lang="en-US" dirty="0" err="1"/>
              <a:t>raporturilor</a:t>
            </a:r>
            <a:r>
              <a:rPr lang="en-US" dirty="0"/>
              <a:t> </a:t>
            </a:r>
            <a:r>
              <a:rPr lang="en-US" dirty="0" err="1"/>
              <a:t>spatio-temporale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de </a:t>
            </a:r>
            <a:r>
              <a:rPr lang="en-US" dirty="0" err="1"/>
              <a:t>intensitati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care </a:t>
            </a:r>
            <a:r>
              <a:rPr lang="en-US" dirty="0" err="1"/>
              <a:t>actioneaza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succesiv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aceluiasi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.-&gt;2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contraste</a:t>
            </a:r>
            <a:r>
              <a:rPr lang="en-US" dirty="0"/>
              <a:t>: </a:t>
            </a:r>
            <a:r>
              <a:rPr lang="en-US" dirty="0" err="1"/>
              <a:t>simultan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succesiv</a:t>
            </a:r>
            <a:r>
              <a:rPr lang="en-US" dirty="0"/>
              <a:t>. </a:t>
            </a:r>
            <a:r>
              <a:rPr lang="en-US" dirty="0" err="1"/>
              <a:t>Contrastul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 se </a:t>
            </a:r>
            <a:r>
              <a:rPr lang="en-US" dirty="0" err="1"/>
              <a:t>manifesta</a:t>
            </a:r>
            <a:r>
              <a:rPr lang="en-US" dirty="0"/>
              <a:t> fie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accentuarea</a:t>
            </a:r>
            <a:r>
              <a:rPr lang="en-US" dirty="0"/>
              <a:t> </a:t>
            </a:r>
            <a:r>
              <a:rPr lang="en-US" dirty="0" err="1"/>
              <a:t>reciproca</a:t>
            </a:r>
            <a:r>
              <a:rPr lang="en-US" dirty="0"/>
              <a:t> a </a:t>
            </a:r>
            <a:r>
              <a:rPr lang="en-US" dirty="0" err="1"/>
              <a:t>claritatii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pregnantei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prezentati</a:t>
            </a:r>
            <a:r>
              <a:rPr lang="en-US" dirty="0"/>
              <a:t> in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fie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accentuarea</a:t>
            </a:r>
            <a:r>
              <a:rPr lang="en-US" dirty="0"/>
              <a:t> </a:t>
            </a:r>
            <a:r>
              <a:rPr lang="en-US" dirty="0" err="1"/>
              <a:t>stimulului</a:t>
            </a:r>
            <a:r>
              <a:rPr lang="en-US" dirty="0"/>
              <a:t> principal sub </a:t>
            </a:r>
            <a:r>
              <a:rPr lang="en-US" dirty="0" err="1"/>
              <a:t>influenta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de </a:t>
            </a:r>
            <a:r>
              <a:rPr lang="en-US" dirty="0" err="1"/>
              <a:t>fond.O</a:t>
            </a:r>
            <a:r>
              <a:rPr lang="en-US" dirty="0"/>
              <a:t> </a:t>
            </a:r>
            <a:r>
              <a:rPr lang="en-US" dirty="0" err="1"/>
              <a:t>conditie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ca </a:t>
            </a:r>
            <a:r>
              <a:rPr lang="en-US" dirty="0" err="1"/>
              <a:t>deosebirile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stimuli </a:t>
            </a:r>
            <a:r>
              <a:rPr lang="en-US" dirty="0" err="1"/>
              <a:t>sa</a:t>
            </a:r>
            <a:r>
              <a:rPr lang="en-US" dirty="0"/>
              <a:t> nu fie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(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-&gt;</a:t>
            </a:r>
            <a:r>
              <a:rPr lang="en-US" dirty="0" err="1"/>
              <a:t>alternanta;prea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-&gt;</a:t>
            </a:r>
            <a:r>
              <a:rPr lang="en-US" dirty="0" err="1"/>
              <a:t>amestec</a:t>
            </a:r>
            <a:r>
              <a:rPr lang="en-US" dirty="0"/>
              <a:t>). </a:t>
            </a:r>
            <a:r>
              <a:rPr lang="en-US" dirty="0" err="1"/>
              <a:t>Constrastul</a:t>
            </a:r>
            <a:r>
              <a:rPr lang="en-US" dirty="0"/>
              <a:t> </a:t>
            </a:r>
            <a:r>
              <a:rPr lang="en-US" dirty="0" err="1"/>
              <a:t>succesiv</a:t>
            </a:r>
            <a:r>
              <a:rPr lang="en-US" dirty="0"/>
              <a:t> se </a:t>
            </a:r>
            <a:r>
              <a:rPr lang="en-US" dirty="0" err="1"/>
              <a:t>manifesta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ca </a:t>
            </a:r>
            <a:r>
              <a:rPr lang="en-US" dirty="0" err="1"/>
              <a:t>efect</a:t>
            </a:r>
            <a:r>
              <a:rPr lang="en-US" dirty="0"/>
              <a:t> al </a:t>
            </a:r>
            <a:r>
              <a:rPr lang="en-US" dirty="0" err="1"/>
              <a:t>ordinii</a:t>
            </a:r>
            <a:r>
              <a:rPr lang="en-US" dirty="0"/>
              <a:t> de </a:t>
            </a:r>
            <a:r>
              <a:rPr lang="en-US" dirty="0" err="1"/>
              <a:t>prezentare</a:t>
            </a:r>
            <a:r>
              <a:rPr lang="en-US" dirty="0"/>
              <a:t> a </a:t>
            </a:r>
            <a:r>
              <a:rPr lang="en-US" dirty="0" err="1"/>
              <a:t>stimulilor</a:t>
            </a:r>
            <a:r>
              <a:rPr lang="en-US" dirty="0"/>
              <a:t>.-&gt;Se </a:t>
            </a:r>
            <a:r>
              <a:rPr lang="en-US" dirty="0" err="1"/>
              <a:t>constata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analizatorului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stimulat</a:t>
            </a:r>
            <a:r>
              <a:rPr lang="en-US" dirty="0"/>
              <a:t> la </a:t>
            </a:r>
            <a:r>
              <a:rPr lang="en-US" dirty="0" err="1"/>
              <a:t>scurt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actiunea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indelungata</a:t>
            </a:r>
            <a:r>
              <a:rPr lang="en-US" dirty="0"/>
              <a:t> a </a:t>
            </a:r>
            <a:r>
              <a:rPr lang="en-US" dirty="0" err="1"/>
              <a:t>altui</a:t>
            </a:r>
            <a:r>
              <a:rPr lang="en-US" dirty="0"/>
              <a:t> </a:t>
            </a:r>
            <a:r>
              <a:rPr lang="en-US" dirty="0" err="1"/>
              <a:t>stimul</a:t>
            </a:r>
            <a:r>
              <a:rPr lang="en-US" dirty="0"/>
              <a:t> de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modalitate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diferit</a:t>
            </a:r>
            <a:r>
              <a:rPr lang="en-US" dirty="0"/>
              <a:t> ca </a:t>
            </a:r>
            <a:r>
              <a:rPr lang="en-US" dirty="0" err="1"/>
              <a:t>intensitate</a:t>
            </a:r>
            <a:r>
              <a:rPr lang="en-US" dirty="0"/>
              <a:t>.</a:t>
            </a:r>
          </a:p>
          <a:p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adaptarii</a:t>
            </a:r>
            <a:r>
              <a:rPr lang="en-US" b="1" dirty="0"/>
              <a:t> </a:t>
            </a:r>
            <a:r>
              <a:rPr lang="en-US" dirty="0"/>
              <a:t>-&gt;</a:t>
            </a:r>
            <a:r>
              <a:rPr lang="en-US" dirty="0" err="1"/>
              <a:t>evidentiaza</a:t>
            </a:r>
            <a:r>
              <a:rPr lang="en-US" dirty="0"/>
              <a:t> </a:t>
            </a:r>
            <a:r>
              <a:rPr lang="en-US" dirty="0" err="1"/>
              <a:t>dinamica</a:t>
            </a:r>
            <a:r>
              <a:rPr lang="en-US" dirty="0"/>
              <a:t> </a:t>
            </a:r>
            <a:r>
              <a:rPr lang="en-US" dirty="0" err="1"/>
              <a:t>proceselor</a:t>
            </a:r>
            <a:r>
              <a:rPr lang="en-US" dirty="0"/>
              <a:t> de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analizatorului</a:t>
            </a:r>
            <a:r>
              <a:rPr lang="en-US" dirty="0"/>
              <a:t>.-&gt;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lege</a:t>
            </a:r>
            <a:r>
              <a:rPr lang="en-US" dirty="0"/>
              <a:t> </a:t>
            </a:r>
            <a:r>
              <a:rPr lang="en-US" dirty="0" err="1"/>
              <a:t>psihofiziologica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relationala</a:t>
            </a:r>
            <a:r>
              <a:rPr lang="en-US" dirty="0"/>
              <a:t>-&gt;</a:t>
            </a:r>
            <a:r>
              <a:rPr lang="en-US" dirty="0" err="1"/>
              <a:t>demonstreaza</a:t>
            </a:r>
            <a:r>
              <a:rPr lang="en-US" dirty="0"/>
              <a:t> </a:t>
            </a:r>
            <a:r>
              <a:rPr lang="en-US" dirty="0" err="1"/>
              <a:t>specificitatea</a:t>
            </a:r>
            <a:r>
              <a:rPr lang="en-US" dirty="0"/>
              <a:t> </a:t>
            </a:r>
            <a:r>
              <a:rPr lang="en-US" dirty="0" err="1"/>
              <a:t>proceselor</a:t>
            </a:r>
            <a:r>
              <a:rPr lang="en-US" dirty="0"/>
              <a:t> care se </a:t>
            </a:r>
            <a:r>
              <a:rPr lang="en-US" dirty="0" err="1"/>
              <a:t>produc</a:t>
            </a:r>
            <a:r>
              <a:rPr lang="en-US" dirty="0"/>
              <a:t>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analizatorului</a:t>
            </a:r>
            <a:r>
              <a:rPr lang="en-US" dirty="0"/>
              <a:t>-&gt; </a:t>
            </a:r>
            <a:r>
              <a:rPr lang="en-US" dirty="0" err="1"/>
              <a:t>demonstreaza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nivelului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analizatorului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</a:t>
            </a:r>
            <a:r>
              <a:rPr lang="en-US" dirty="0" err="1"/>
              <a:t>stimularii</a:t>
            </a:r>
            <a:r>
              <a:rPr lang="en-US" dirty="0"/>
              <a:t> </a:t>
            </a:r>
            <a:r>
              <a:rPr lang="en-US" dirty="0" err="1"/>
              <a:t>prelungite</a:t>
            </a:r>
            <a:r>
              <a:rPr lang="en-US" dirty="0"/>
              <a:t> a </a:t>
            </a:r>
            <a:r>
              <a:rPr lang="en-US" dirty="0" err="1"/>
              <a:t>acestuia</a:t>
            </a:r>
            <a:r>
              <a:rPr lang="en-US" dirty="0"/>
              <a:t>.-&gt; </a:t>
            </a:r>
            <a:r>
              <a:rPr lang="en-US" dirty="0" err="1"/>
              <a:t>stimularea</a:t>
            </a:r>
            <a:r>
              <a:rPr lang="en-US" dirty="0"/>
              <a:t> </a:t>
            </a:r>
            <a:r>
              <a:rPr lang="en-US" dirty="0" err="1"/>
              <a:t>prelungita</a:t>
            </a:r>
            <a:r>
              <a:rPr lang="en-US" dirty="0"/>
              <a:t> a </a:t>
            </a:r>
            <a:r>
              <a:rPr lang="en-US" dirty="0" err="1"/>
              <a:t>analizatorului</a:t>
            </a:r>
            <a:r>
              <a:rPr lang="en-US" dirty="0"/>
              <a:t> cu stimuli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scazuta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scadere</a:t>
            </a:r>
            <a:r>
              <a:rPr lang="en-US" dirty="0"/>
              <a:t> a </a:t>
            </a:r>
            <a:r>
              <a:rPr lang="en-US" dirty="0" err="1"/>
              <a:t>pragului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nivelului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(</a:t>
            </a:r>
            <a:r>
              <a:rPr lang="en-US" dirty="0" err="1"/>
              <a:t>adaptare</a:t>
            </a:r>
            <a:r>
              <a:rPr lang="en-US" dirty="0"/>
              <a:t> </a:t>
            </a:r>
            <a:r>
              <a:rPr lang="en-US" dirty="0" err="1"/>
              <a:t>ascendenta</a:t>
            </a:r>
            <a:r>
              <a:rPr lang="en-US" dirty="0"/>
              <a:t>)-&gt;</a:t>
            </a:r>
            <a:r>
              <a:rPr lang="en-US" dirty="0" err="1"/>
              <a:t>stimularea</a:t>
            </a:r>
            <a:r>
              <a:rPr lang="en-US" dirty="0"/>
              <a:t> </a:t>
            </a:r>
            <a:r>
              <a:rPr lang="en-US" dirty="0" err="1"/>
              <a:t>prelungita</a:t>
            </a:r>
            <a:r>
              <a:rPr lang="en-US" dirty="0"/>
              <a:t> a </a:t>
            </a:r>
            <a:r>
              <a:rPr lang="en-US" dirty="0" err="1"/>
              <a:t>analizatorului</a:t>
            </a:r>
            <a:r>
              <a:rPr lang="en-US" dirty="0"/>
              <a:t> cu stimuli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crescuta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pragurilor,o</a:t>
            </a:r>
            <a:r>
              <a:rPr lang="en-US" dirty="0"/>
              <a:t> </a:t>
            </a:r>
            <a:r>
              <a:rPr lang="en-US" dirty="0" err="1"/>
              <a:t>scadere</a:t>
            </a:r>
            <a:r>
              <a:rPr lang="en-US" dirty="0"/>
              <a:t> a </a:t>
            </a:r>
            <a:r>
              <a:rPr lang="en-US" dirty="0" err="1"/>
              <a:t>intensitatii</a:t>
            </a:r>
            <a:r>
              <a:rPr lang="en-US" dirty="0"/>
              <a:t>(</a:t>
            </a:r>
            <a:r>
              <a:rPr lang="en-US" dirty="0" err="1"/>
              <a:t>adaptare</a:t>
            </a:r>
            <a:r>
              <a:rPr lang="en-US" dirty="0"/>
              <a:t> </a:t>
            </a:r>
            <a:r>
              <a:rPr lang="en-US" dirty="0" err="1"/>
              <a:t>descendenta</a:t>
            </a:r>
            <a:r>
              <a:rPr lang="en-US" dirty="0"/>
              <a:t>);</a:t>
            </a:r>
            <a:r>
              <a:rPr lang="en-US" dirty="0" err="1"/>
              <a:t>Psihofiziologul</a:t>
            </a:r>
            <a:r>
              <a:rPr lang="en-US" dirty="0"/>
              <a:t> Adrian </a:t>
            </a:r>
            <a:r>
              <a:rPr lang="en-US" dirty="0" err="1"/>
              <a:t>impartea</a:t>
            </a:r>
            <a:r>
              <a:rPr lang="en-US" dirty="0"/>
              <a:t> </a:t>
            </a:r>
            <a:r>
              <a:rPr lang="en-US" dirty="0" err="1"/>
              <a:t>analizatorii</a:t>
            </a:r>
            <a:r>
              <a:rPr lang="en-US" dirty="0"/>
              <a:t> in 3 </a:t>
            </a:r>
            <a:r>
              <a:rPr lang="en-US" dirty="0" err="1"/>
              <a:t>categorii</a:t>
            </a:r>
            <a:r>
              <a:rPr lang="en-US" dirty="0"/>
              <a:t>: rapid </a:t>
            </a:r>
            <a:r>
              <a:rPr lang="en-US" dirty="0" err="1"/>
              <a:t>adaptabil</a:t>
            </a:r>
            <a:r>
              <a:rPr lang="en-US" dirty="0"/>
              <a:t>, </a:t>
            </a:r>
            <a:r>
              <a:rPr lang="en-US" dirty="0" err="1"/>
              <a:t>mediu</a:t>
            </a:r>
            <a:r>
              <a:rPr lang="en-US" dirty="0"/>
              <a:t> </a:t>
            </a:r>
            <a:r>
              <a:rPr lang="en-US" dirty="0" err="1"/>
              <a:t>adaptabil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lent </a:t>
            </a:r>
            <a:r>
              <a:rPr lang="en-US" dirty="0" err="1"/>
              <a:t>adaptabil</a:t>
            </a:r>
            <a:r>
              <a:rPr lang="en-US" dirty="0"/>
              <a:t>.-&gt;</a:t>
            </a:r>
            <a:r>
              <a:rPr lang="en-US" dirty="0" err="1"/>
              <a:t>viteza</a:t>
            </a:r>
            <a:r>
              <a:rPr lang="en-US" dirty="0"/>
              <a:t> </a:t>
            </a:r>
            <a:r>
              <a:rPr lang="en-US" dirty="0" err="1"/>
              <a:t>adaptarii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in </a:t>
            </a:r>
            <a:r>
              <a:rPr lang="en-US" dirty="0" err="1"/>
              <a:t>stransa</a:t>
            </a:r>
            <a:r>
              <a:rPr lang="en-US" dirty="0"/>
              <a:t> </a:t>
            </a:r>
            <a:r>
              <a:rPr lang="en-US" dirty="0" err="1"/>
              <a:t>legatura</a:t>
            </a:r>
            <a:r>
              <a:rPr lang="en-US" dirty="0"/>
              <a:t> cu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adaptativa</a:t>
            </a:r>
            <a:r>
              <a:rPr lang="en-US" dirty="0"/>
              <a:t> a </a:t>
            </a:r>
            <a:r>
              <a:rPr lang="en-US" dirty="0" err="1"/>
              <a:t>analizatorului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integritatea</a:t>
            </a:r>
            <a:r>
              <a:rPr lang="en-US" dirty="0"/>
              <a:t> </a:t>
            </a:r>
            <a:r>
              <a:rPr lang="en-US" dirty="0" err="1"/>
              <a:t>organismului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9144000" cy="6705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sensibilizarii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depresiei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interactiunii</a:t>
            </a:r>
            <a:r>
              <a:rPr lang="en-US" b="1" dirty="0"/>
              <a:t> </a:t>
            </a:r>
            <a:r>
              <a:rPr lang="en-US" b="1" dirty="0" err="1"/>
              <a:t>analizatorilor</a:t>
            </a:r>
            <a:r>
              <a:rPr lang="en-US" dirty="0"/>
              <a:t>-&gt;</a:t>
            </a:r>
            <a:r>
              <a:rPr lang="en-US" dirty="0" err="1"/>
              <a:t>analizatorii</a:t>
            </a:r>
            <a:r>
              <a:rPr lang="en-US" dirty="0"/>
              <a:t> nu </a:t>
            </a:r>
            <a:r>
              <a:rPr lang="en-US" dirty="0" err="1"/>
              <a:t>functioneaza</a:t>
            </a:r>
            <a:r>
              <a:rPr lang="en-US" dirty="0"/>
              <a:t> </a:t>
            </a:r>
            <a:r>
              <a:rPr lang="en-US" dirty="0" err="1"/>
              <a:t>separat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a se </a:t>
            </a:r>
            <a:r>
              <a:rPr lang="en-US" dirty="0" err="1"/>
              <a:t>influenta</a:t>
            </a:r>
            <a:r>
              <a:rPr lang="en-US" dirty="0"/>
              <a:t> </a:t>
            </a:r>
            <a:r>
              <a:rPr lang="en-US" dirty="0" err="1"/>
              <a:t>reciproc</a:t>
            </a:r>
            <a:r>
              <a:rPr lang="en-US" dirty="0"/>
              <a:t> in </a:t>
            </a:r>
            <a:r>
              <a:rPr lang="en-US" dirty="0" err="1"/>
              <a:t>dinamica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procesuala</a:t>
            </a:r>
            <a:r>
              <a:rPr lang="en-US" dirty="0"/>
              <a:t>.-&gt;</a:t>
            </a:r>
            <a:r>
              <a:rPr lang="en-US" dirty="0" err="1"/>
              <a:t>analizatorii</a:t>
            </a:r>
            <a:r>
              <a:rPr lang="en-US" dirty="0"/>
              <a:t> </a:t>
            </a:r>
            <a:r>
              <a:rPr lang="en-US" dirty="0" err="1"/>
              <a:t>interactioneaza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influenteaza</a:t>
            </a:r>
            <a:r>
              <a:rPr lang="en-US" dirty="0"/>
              <a:t> </a:t>
            </a:r>
            <a:r>
              <a:rPr lang="en-US" dirty="0" err="1"/>
              <a:t>reciproc</a:t>
            </a:r>
            <a:r>
              <a:rPr lang="en-US" dirty="0"/>
              <a:t>.-&gt; </a:t>
            </a:r>
            <a:r>
              <a:rPr lang="en-US" dirty="0" err="1"/>
              <a:t>interactiune</a:t>
            </a:r>
            <a:r>
              <a:rPr lang="en-US" dirty="0"/>
              <a:t> de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: </a:t>
            </a:r>
            <a:r>
              <a:rPr lang="en-US" i="1" dirty="0"/>
              <a:t>a)</a:t>
            </a:r>
            <a:r>
              <a:rPr lang="en-US" i="1" dirty="0" err="1"/>
              <a:t>interactiune</a:t>
            </a:r>
            <a:r>
              <a:rPr lang="en-US" i="1" dirty="0"/>
              <a:t> </a:t>
            </a:r>
            <a:r>
              <a:rPr lang="en-US" i="1" dirty="0" err="1"/>
              <a:t>intramodala</a:t>
            </a:r>
            <a:r>
              <a:rPr lang="en-US" dirty="0"/>
              <a:t>(se </a:t>
            </a:r>
            <a:r>
              <a:rPr lang="en-US" dirty="0" err="1"/>
              <a:t>manifesta</a:t>
            </a:r>
            <a:r>
              <a:rPr lang="en-US" dirty="0"/>
              <a:t>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unuia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aceluiasi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partile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 </a:t>
            </a:r>
            <a:r>
              <a:rPr lang="en-US" dirty="0" err="1"/>
              <a:t>pereche</a:t>
            </a:r>
            <a:r>
              <a:rPr lang="en-US" dirty="0"/>
              <a:t> se </a:t>
            </a:r>
            <a:r>
              <a:rPr lang="en-US" dirty="0" err="1"/>
              <a:t>influenteaza</a:t>
            </a:r>
            <a:r>
              <a:rPr lang="en-US" dirty="0"/>
              <a:t> </a:t>
            </a:r>
            <a:r>
              <a:rPr lang="en-US" dirty="0" err="1"/>
              <a:t>reciproc</a:t>
            </a:r>
            <a:r>
              <a:rPr lang="en-US" dirty="0"/>
              <a:t> </a:t>
            </a:r>
            <a:r>
              <a:rPr lang="en-US" dirty="0" err="1"/>
              <a:t>provocand</a:t>
            </a:r>
            <a:r>
              <a:rPr lang="en-US" dirty="0"/>
              <a:t> </a:t>
            </a:r>
            <a:r>
              <a:rPr lang="en-US" dirty="0" err="1"/>
              <a:t>cresterea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(</a:t>
            </a:r>
            <a:r>
              <a:rPr lang="en-US" dirty="0" err="1"/>
              <a:t>sensibilizarea</a:t>
            </a:r>
            <a:r>
              <a:rPr lang="en-US" dirty="0"/>
              <a:t>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scaderea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(</a:t>
            </a:r>
            <a:r>
              <a:rPr lang="en-US" dirty="0" err="1"/>
              <a:t>depresia</a:t>
            </a:r>
            <a:r>
              <a:rPr lang="en-US" dirty="0"/>
              <a:t>));b)</a:t>
            </a:r>
            <a:r>
              <a:rPr lang="en-US" i="1" dirty="0" err="1"/>
              <a:t>interactiunea</a:t>
            </a:r>
            <a:r>
              <a:rPr lang="en-US" i="1" dirty="0"/>
              <a:t> </a:t>
            </a:r>
            <a:r>
              <a:rPr lang="en-US" i="1" dirty="0" err="1"/>
              <a:t>intermodala</a:t>
            </a:r>
            <a:r>
              <a:rPr lang="en-US" b="1" i="1" dirty="0"/>
              <a:t> </a:t>
            </a:r>
            <a:r>
              <a:rPr lang="en-US" i="1" dirty="0"/>
              <a:t>(</a:t>
            </a:r>
            <a:r>
              <a:rPr lang="en-US" dirty="0"/>
              <a:t>se </a:t>
            </a:r>
            <a:r>
              <a:rPr lang="en-US" dirty="0" err="1"/>
              <a:t>manifesta</a:t>
            </a:r>
            <a:r>
              <a:rPr lang="en-US" dirty="0"/>
              <a:t> ca </a:t>
            </a:r>
            <a:r>
              <a:rPr lang="en-US" dirty="0" err="1"/>
              <a:t>sensibilizare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depresie</a:t>
            </a:r>
            <a:r>
              <a:rPr lang="en-US" dirty="0"/>
              <a:t> ca </a:t>
            </a:r>
            <a:r>
              <a:rPr lang="en-US" dirty="0" err="1"/>
              <a:t>efect</a:t>
            </a:r>
            <a:r>
              <a:rPr lang="en-US" dirty="0"/>
              <a:t> al </a:t>
            </a:r>
            <a:r>
              <a:rPr lang="en-US" dirty="0" err="1"/>
              <a:t>stimularii</a:t>
            </a:r>
            <a:r>
              <a:rPr lang="en-US" dirty="0"/>
              <a:t> </a:t>
            </a:r>
            <a:r>
              <a:rPr lang="en-US" dirty="0" err="1"/>
              <a:t>altui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-&gt;de </a:t>
            </a:r>
            <a:r>
              <a:rPr lang="en-US" dirty="0" err="1"/>
              <a:t>obicei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interactiuni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analizatorii</a:t>
            </a:r>
            <a:r>
              <a:rPr lang="en-US" dirty="0"/>
              <a:t> </a:t>
            </a:r>
            <a:r>
              <a:rPr lang="en-US" dirty="0" err="1"/>
              <a:t>apropiati</a:t>
            </a:r>
            <a:r>
              <a:rPr lang="en-US" dirty="0"/>
              <a:t> ca </a:t>
            </a:r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de </a:t>
            </a:r>
            <a:r>
              <a:rPr lang="en-US" dirty="0" err="1"/>
              <a:t>semnalizare</a:t>
            </a:r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caz</a:t>
            </a:r>
            <a:r>
              <a:rPr lang="en-US" dirty="0"/>
              <a:t> particular al </a:t>
            </a:r>
            <a:r>
              <a:rPr lang="en-US" dirty="0" err="1"/>
              <a:t>interactiunii</a:t>
            </a:r>
            <a:r>
              <a:rPr lang="en-US" dirty="0"/>
              <a:t> </a:t>
            </a:r>
            <a:r>
              <a:rPr lang="en-US" dirty="0" err="1"/>
              <a:t>analizatorilor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fenomenul</a:t>
            </a:r>
            <a:r>
              <a:rPr lang="en-US" dirty="0"/>
              <a:t> de </a:t>
            </a:r>
            <a:r>
              <a:rPr lang="en-US" b="1" dirty="0" err="1"/>
              <a:t>sinestezie</a:t>
            </a:r>
            <a:r>
              <a:rPr lang="en-US" b="1" dirty="0"/>
              <a:t>.</a:t>
            </a:r>
            <a:r>
              <a:rPr lang="en-US" dirty="0"/>
              <a:t>-&gt;</a:t>
            </a:r>
            <a:r>
              <a:rPr lang="en-US" dirty="0" err="1"/>
              <a:t>asistam</a:t>
            </a:r>
            <a:r>
              <a:rPr lang="en-US" dirty="0"/>
              <a:t> la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 ca </a:t>
            </a:r>
            <a:r>
              <a:rPr lang="en-US" dirty="0" err="1"/>
              <a:t>efect</a:t>
            </a:r>
            <a:r>
              <a:rPr lang="en-US" dirty="0"/>
              <a:t> al </a:t>
            </a:r>
            <a:r>
              <a:rPr lang="en-US" dirty="0" err="1"/>
              <a:t>actiunii</a:t>
            </a:r>
            <a:r>
              <a:rPr lang="en-US" dirty="0"/>
              <a:t> </a:t>
            </a:r>
            <a:r>
              <a:rPr lang="en-US" dirty="0" err="1"/>
              <a:t>altui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ca </a:t>
            </a:r>
            <a:r>
              <a:rPr lang="en-US" dirty="0" err="1"/>
              <a:t>acel</a:t>
            </a:r>
            <a:r>
              <a:rPr lang="en-US" dirty="0"/>
              <a:t> </a:t>
            </a:r>
            <a:r>
              <a:rPr lang="en-US" dirty="0" err="1"/>
              <a:t>analizator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stimulat</a:t>
            </a:r>
            <a:r>
              <a:rPr lang="en-US" dirty="0"/>
              <a:t> in mod specific.-&gt;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greu</a:t>
            </a:r>
            <a:r>
              <a:rPr lang="en-US" dirty="0"/>
              <a:t> de </a:t>
            </a:r>
            <a:r>
              <a:rPr lang="en-US" dirty="0" err="1"/>
              <a:t>adus</a:t>
            </a:r>
            <a:r>
              <a:rPr lang="en-US" dirty="0"/>
              <a:t> </a:t>
            </a:r>
            <a:r>
              <a:rPr lang="en-US" dirty="0" err="1"/>
              <a:t>dovezi</a:t>
            </a:r>
            <a:r>
              <a:rPr lang="en-US" dirty="0"/>
              <a:t> </a:t>
            </a:r>
            <a:r>
              <a:rPr lang="en-US" dirty="0" err="1"/>
              <a:t>experimentale</a:t>
            </a:r>
            <a:r>
              <a:rPr lang="en-US" dirty="0"/>
              <a:t> </a:t>
            </a:r>
            <a:r>
              <a:rPr lang="en-US" dirty="0" err="1"/>
              <a:t>riguroase</a:t>
            </a:r>
            <a:r>
              <a:rPr lang="en-US" dirty="0"/>
              <a:t> in </a:t>
            </a:r>
            <a:r>
              <a:rPr lang="en-US" dirty="0" err="1"/>
              <a:t>sprijinul</a:t>
            </a:r>
            <a:r>
              <a:rPr lang="en-US" dirty="0"/>
              <a:t> </a:t>
            </a:r>
            <a:r>
              <a:rPr lang="en-US" dirty="0" err="1"/>
              <a:t>acestui</a:t>
            </a:r>
            <a:r>
              <a:rPr lang="en-US" dirty="0"/>
              <a:t> </a:t>
            </a:r>
            <a:r>
              <a:rPr lang="en-US" dirty="0" err="1"/>
              <a:t>fenomen</a:t>
            </a:r>
            <a:r>
              <a:rPr lang="en-US" dirty="0"/>
              <a:t>-&gt;nu ne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relatarile</a:t>
            </a:r>
            <a:r>
              <a:rPr lang="en-US" dirty="0"/>
              <a:t> </a:t>
            </a:r>
            <a:r>
              <a:rPr lang="en-US" dirty="0" err="1"/>
              <a:t>subiective</a:t>
            </a:r>
            <a:r>
              <a:rPr lang="en-US" dirty="0"/>
              <a:t> ale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masura</a:t>
            </a:r>
            <a:r>
              <a:rPr lang="en-US" dirty="0"/>
              <a:t> </a:t>
            </a:r>
            <a:r>
              <a:rPr lang="en-US" dirty="0" err="1"/>
              <a:t>obiectiv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senzatii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/>
              <a:t>Senzatiile</a:t>
            </a:r>
            <a:r>
              <a:rPr lang="en-US" dirty="0"/>
              <a:t> </a:t>
            </a:r>
            <a:r>
              <a:rPr lang="en-US" dirty="0" err="1"/>
              <a:t>vizuale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Spectrul</a:t>
            </a:r>
            <a:r>
              <a:rPr lang="en-US" dirty="0"/>
              <a:t> </a:t>
            </a:r>
            <a:r>
              <a:rPr lang="en-US" dirty="0" err="1"/>
              <a:t>undelor</a:t>
            </a:r>
            <a:r>
              <a:rPr lang="en-US" dirty="0"/>
              <a:t> </a:t>
            </a:r>
            <a:r>
              <a:rPr lang="en-US" dirty="0" err="1"/>
              <a:t>vizibile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cuprins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397 </a:t>
            </a:r>
            <a:r>
              <a:rPr lang="en-US" dirty="0" err="1"/>
              <a:t>si</a:t>
            </a:r>
            <a:r>
              <a:rPr lang="en-US" dirty="0"/>
              <a:t> 723 um;0.01-0.04um-undele </a:t>
            </a:r>
            <a:r>
              <a:rPr lang="en-US" dirty="0" err="1"/>
              <a:t>ultraviolete</a:t>
            </a:r>
            <a:r>
              <a:rPr lang="en-US" dirty="0"/>
              <a:t>; 0.8-350um-undele </a:t>
            </a:r>
            <a:r>
              <a:rPr lang="en-US" dirty="0" err="1"/>
              <a:t>infrarosii</a:t>
            </a:r>
            <a:r>
              <a:rPr lang="en-US" dirty="0"/>
              <a:t>.</a:t>
            </a:r>
          </a:p>
          <a:p>
            <a:r>
              <a:rPr lang="en-US" dirty="0" err="1"/>
              <a:t>Luminozitatea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surse</a:t>
            </a:r>
            <a:r>
              <a:rPr lang="en-US" dirty="0"/>
              <a:t> de a </a:t>
            </a:r>
            <a:r>
              <a:rPr lang="en-US" dirty="0" err="1"/>
              <a:t>emite</a:t>
            </a:r>
            <a:r>
              <a:rPr lang="en-US" dirty="0"/>
              <a:t> </a:t>
            </a:r>
            <a:r>
              <a:rPr lang="en-US" dirty="0" err="1"/>
              <a:t>lumina</a:t>
            </a:r>
            <a:r>
              <a:rPr lang="en-US" dirty="0"/>
              <a:t> </a:t>
            </a:r>
            <a:r>
              <a:rPr lang="en-US" dirty="0" err="1"/>
              <a:t>proprie</a:t>
            </a:r>
            <a:endParaRPr lang="en-US" dirty="0"/>
          </a:p>
          <a:p>
            <a:r>
              <a:rPr lang="en-US" dirty="0" err="1"/>
              <a:t>Iluminarea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suprafetelor</a:t>
            </a:r>
            <a:r>
              <a:rPr lang="en-US" dirty="0"/>
              <a:t> care </a:t>
            </a:r>
            <a:r>
              <a:rPr lang="en-US" dirty="0" err="1"/>
              <a:t>reflecta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difuzeaza</a:t>
            </a:r>
            <a:r>
              <a:rPr lang="en-US" dirty="0"/>
              <a:t> </a:t>
            </a:r>
            <a:r>
              <a:rPr lang="en-US" dirty="0" err="1"/>
              <a:t>lumina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surse</a:t>
            </a:r>
            <a:r>
              <a:rPr lang="en-US" dirty="0"/>
              <a:t> </a:t>
            </a:r>
            <a:r>
              <a:rPr lang="en-US" dirty="0" err="1"/>
              <a:t>straine</a:t>
            </a:r>
            <a:r>
              <a:rPr lang="en-US" dirty="0"/>
              <a:t>-&gt;</a:t>
            </a:r>
            <a:r>
              <a:rPr lang="en-US" dirty="0" err="1"/>
              <a:t>corpurile</a:t>
            </a:r>
            <a:r>
              <a:rPr lang="en-US" dirty="0"/>
              <a:t> care </a:t>
            </a:r>
            <a:r>
              <a:rPr lang="en-US" dirty="0" err="1"/>
              <a:t>reflecta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radiatiile</a:t>
            </a:r>
            <a:r>
              <a:rPr lang="en-US" dirty="0"/>
              <a:t> </a:t>
            </a:r>
            <a:r>
              <a:rPr lang="en-US" dirty="0" err="1"/>
              <a:t>apar</a:t>
            </a:r>
            <a:r>
              <a:rPr lang="en-US" dirty="0"/>
              <a:t> </a:t>
            </a:r>
            <a:r>
              <a:rPr lang="en-US" dirty="0" err="1"/>
              <a:t>albe,cele</a:t>
            </a:r>
            <a:r>
              <a:rPr lang="en-US" dirty="0"/>
              <a:t> care absorb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radiatiile</a:t>
            </a:r>
            <a:r>
              <a:rPr lang="en-US" dirty="0"/>
              <a:t> </a:t>
            </a:r>
            <a:r>
              <a:rPr lang="en-US" dirty="0" err="1"/>
              <a:t>apar</a:t>
            </a:r>
            <a:r>
              <a:rPr lang="en-US" dirty="0"/>
              <a:t> </a:t>
            </a:r>
            <a:r>
              <a:rPr lang="en-US" dirty="0" err="1"/>
              <a:t>negre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in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absorbite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</a:t>
            </a:r>
            <a:r>
              <a:rPr lang="en-US" dirty="0"/>
              <a:t>, </a:t>
            </a:r>
            <a:r>
              <a:rPr lang="en-US" dirty="0" err="1"/>
              <a:t>corpul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luminos</a:t>
            </a:r>
            <a:r>
              <a:rPr lang="en-US" dirty="0"/>
              <a:t> </a:t>
            </a:r>
            <a:r>
              <a:rPr lang="en-US" dirty="0" err="1"/>
              <a:t>prezentand</a:t>
            </a:r>
            <a:r>
              <a:rPr lang="en-US" dirty="0"/>
              <a:t> </a:t>
            </a:r>
            <a:r>
              <a:rPr lang="en-US" dirty="0" err="1"/>
              <a:t>culoarea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 </a:t>
            </a:r>
            <a:r>
              <a:rPr lang="en-US" dirty="0" err="1"/>
              <a:t>radiatiei</a:t>
            </a:r>
            <a:r>
              <a:rPr lang="en-US" dirty="0"/>
              <a:t> cu </a:t>
            </a:r>
            <a:r>
              <a:rPr lang="en-US" dirty="0" err="1"/>
              <a:t>lungimea</a:t>
            </a:r>
            <a:r>
              <a:rPr lang="en-US" dirty="0"/>
              <a:t> de </a:t>
            </a:r>
            <a:r>
              <a:rPr lang="en-US" dirty="0" err="1"/>
              <a:t>unda</a:t>
            </a:r>
            <a:r>
              <a:rPr lang="en-US" dirty="0"/>
              <a:t> </a:t>
            </a:r>
            <a:r>
              <a:rPr lang="en-US" dirty="0" err="1"/>
              <a:t>respinsa</a:t>
            </a:r>
            <a:r>
              <a:rPr lang="en-US" dirty="0"/>
              <a:t>.</a:t>
            </a:r>
          </a:p>
          <a:p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retinei:aria</a:t>
            </a:r>
            <a:r>
              <a:rPr lang="en-US" dirty="0"/>
              <a:t> </a:t>
            </a:r>
            <a:r>
              <a:rPr lang="en-US" dirty="0" err="1"/>
              <a:t>periferica</a:t>
            </a:r>
            <a:r>
              <a:rPr lang="en-US" dirty="0"/>
              <a:t> se </a:t>
            </a:r>
            <a:r>
              <a:rPr lang="en-US" dirty="0" err="1"/>
              <a:t>numeste</a:t>
            </a:r>
            <a:r>
              <a:rPr lang="en-US" dirty="0"/>
              <a:t> </a:t>
            </a:r>
            <a:r>
              <a:rPr lang="en-US" i="1" dirty="0" err="1"/>
              <a:t>ora</a:t>
            </a:r>
            <a:r>
              <a:rPr lang="en-US" i="1" dirty="0"/>
              <a:t> </a:t>
            </a:r>
            <a:r>
              <a:rPr lang="en-US" i="1" dirty="0" err="1"/>
              <a:t>serata</a:t>
            </a:r>
            <a:r>
              <a:rPr lang="en-US" i="1" dirty="0"/>
              <a:t>;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continuata</a:t>
            </a:r>
            <a:r>
              <a:rPr lang="en-US" dirty="0"/>
              <a:t> cu o </a:t>
            </a:r>
            <a:r>
              <a:rPr lang="en-US" dirty="0" err="1"/>
              <a:t>zona</a:t>
            </a:r>
            <a:r>
              <a:rPr lang="en-US" dirty="0"/>
              <a:t> </a:t>
            </a:r>
            <a:r>
              <a:rPr lang="en-US" dirty="0" err="1"/>
              <a:t>numita</a:t>
            </a:r>
            <a:r>
              <a:rPr lang="en-US" dirty="0"/>
              <a:t> </a:t>
            </a:r>
            <a:r>
              <a:rPr lang="en-US" i="1" dirty="0"/>
              <a:t>macula </a:t>
            </a:r>
            <a:r>
              <a:rPr lang="en-US" i="1" dirty="0" err="1"/>
              <a:t>latea</a:t>
            </a:r>
            <a:r>
              <a:rPr lang="en-US" i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 err="1"/>
              <a:t>pata</a:t>
            </a:r>
            <a:r>
              <a:rPr lang="en-US" i="1" dirty="0"/>
              <a:t> </a:t>
            </a:r>
            <a:r>
              <a:rPr lang="en-US" i="1" dirty="0" err="1"/>
              <a:t>galbena</a:t>
            </a:r>
            <a:r>
              <a:rPr lang="en-US" dirty="0"/>
              <a:t> care </a:t>
            </a:r>
            <a:r>
              <a:rPr lang="en-US" dirty="0" err="1"/>
              <a:t>incepe</a:t>
            </a:r>
            <a:r>
              <a:rPr lang="en-US" dirty="0"/>
              <a:t> de la </a:t>
            </a:r>
            <a:r>
              <a:rPr lang="en-US" dirty="0" err="1"/>
              <a:t>prelungirea</a:t>
            </a:r>
            <a:r>
              <a:rPr lang="en-US" dirty="0"/>
              <a:t> </a:t>
            </a:r>
            <a:r>
              <a:rPr lang="en-US" dirty="0" err="1"/>
              <a:t>axului</a:t>
            </a:r>
            <a:r>
              <a:rPr lang="en-US" dirty="0"/>
              <a:t> optic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temporala</a:t>
            </a:r>
            <a:r>
              <a:rPr lang="en-US" dirty="0"/>
              <a:t> a </a:t>
            </a:r>
            <a:r>
              <a:rPr lang="en-US" dirty="0" err="1"/>
              <a:t>ochiului.</a:t>
            </a:r>
            <a:r>
              <a:rPr lang="en-US" i="1" dirty="0" err="1"/>
              <a:t>Foveea</a:t>
            </a:r>
            <a:r>
              <a:rPr lang="en-US" i="1" dirty="0"/>
              <a:t> </a:t>
            </a:r>
            <a:r>
              <a:rPr lang="en-US" i="1" dirty="0" err="1"/>
              <a:t>centrala</a:t>
            </a:r>
            <a:r>
              <a:rPr lang="en-US" i="1" dirty="0"/>
              <a:t> </a:t>
            </a:r>
            <a:r>
              <a:rPr lang="en-US" dirty="0"/>
              <a:t>se </a:t>
            </a:r>
            <a:r>
              <a:rPr lang="en-US" dirty="0" err="1"/>
              <a:t>afla</a:t>
            </a:r>
            <a:r>
              <a:rPr lang="en-US" dirty="0"/>
              <a:t> in </a:t>
            </a:r>
            <a:r>
              <a:rPr lang="en-US" dirty="0" err="1"/>
              <a:t>prelungirea</a:t>
            </a:r>
            <a:r>
              <a:rPr lang="en-US" dirty="0"/>
              <a:t> </a:t>
            </a:r>
            <a:r>
              <a:rPr lang="en-US" dirty="0" err="1"/>
              <a:t>axului</a:t>
            </a:r>
            <a:r>
              <a:rPr lang="en-US" dirty="0"/>
              <a:t> </a:t>
            </a:r>
            <a:r>
              <a:rPr lang="en-US" dirty="0" err="1"/>
              <a:t>vizual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are </a:t>
            </a:r>
            <a:r>
              <a:rPr lang="en-US" dirty="0" err="1"/>
              <a:t>receptorii</a:t>
            </a:r>
            <a:r>
              <a:rPr lang="en-US" dirty="0"/>
              <a:t> </a:t>
            </a:r>
            <a:r>
              <a:rPr lang="en-US" dirty="0" err="1"/>
              <a:t>vizuali</a:t>
            </a:r>
            <a:r>
              <a:rPr lang="en-US" dirty="0"/>
              <a:t> </a:t>
            </a:r>
            <a:r>
              <a:rPr lang="en-US" dirty="0" err="1"/>
              <a:t>dispusi</a:t>
            </a:r>
            <a:r>
              <a:rPr lang="en-US" dirty="0"/>
              <a:t> radial. </a:t>
            </a:r>
            <a:r>
              <a:rPr lang="en-US" dirty="0" err="1"/>
              <a:t>Distributia</a:t>
            </a:r>
            <a:r>
              <a:rPr lang="en-US" dirty="0"/>
              <a:t> </a:t>
            </a:r>
            <a:r>
              <a:rPr lang="en-US" dirty="0" err="1"/>
              <a:t>celulelor</a:t>
            </a:r>
            <a:r>
              <a:rPr lang="en-US" dirty="0"/>
              <a:t> cu con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bastonase</a:t>
            </a:r>
            <a:r>
              <a:rPr lang="en-US" dirty="0"/>
              <a:t> se </a:t>
            </a:r>
            <a:r>
              <a:rPr lang="en-US" dirty="0" err="1"/>
              <a:t>prezinta</a:t>
            </a:r>
            <a:r>
              <a:rPr lang="en-US" dirty="0"/>
              <a:t> in </a:t>
            </a:r>
            <a:r>
              <a:rPr lang="en-US" dirty="0" err="1"/>
              <a:t>felul</a:t>
            </a:r>
            <a:r>
              <a:rPr lang="en-US" dirty="0"/>
              <a:t> </a:t>
            </a:r>
            <a:r>
              <a:rPr lang="en-US" dirty="0" err="1"/>
              <a:t>urmator</a:t>
            </a:r>
            <a:r>
              <a:rPr lang="en-US" dirty="0"/>
              <a:t>: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masura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ne </a:t>
            </a:r>
            <a:r>
              <a:rPr lang="en-US" dirty="0" err="1"/>
              <a:t>deplasam</a:t>
            </a:r>
            <a:r>
              <a:rPr lang="en-US" dirty="0"/>
              <a:t> de la macula </a:t>
            </a:r>
            <a:r>
              <a:rPr lang="en-US" dirty="0" err="1"/>
              <a:t>lateea</a:t>
            </a:r>
            <a:r>
              <a:rPr lang="en-US" dirty="0"/>
              <a:t> la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serata</a:t>
            </a:r>
            <a:r>
              <a:rPr lang="en-US" dirty="0"/>
              <a:t> </a:t>
            </a:r>
            <a:r>
              <a:rPr lang="en-US" dirty="0" err="1"/>
              <a:t>raportul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numarul</a:t>
            </a:r>
            <a:r>
              <a:rPr lang="en-US" dirty="0"/>
              <a:t> </a:t>
            </a:r>
            <a:r>
              <a:rPr lang="en-US" dirty="0" err="1"/>
              <a:t>conurilor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al </a:t>
            </a:r>
            <a:r>
              <a:rPr lang="en-US" dirty="0" err="1"/>
              <a:t>bastonaselor</a:t>
            </a:r>
            <a:r>
              <a:rPr lang="en-US" dirty="0"/>
              <a:t> se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treptat,predominand</a:t>
            </a:r>
            <a:r>
              <a:rPr lang="en-US" dirty="0"/>
              <a:t> </a:t>
            </a:r>
            <a:r>
              <a:rPr lang="en-US" dirty="0" err="1"/>
              <a:t>celulele</a:t>
            </a:r>
            <a:r>
              <a:rPr lang="en-US" dirty="0"/>
              <a:t> cu </a:t>
            </a:r>
            <a:r>
              <a:rPr lang="en-US" dirty="0" err="1"/>
              <a:t>bastonase.In</a:t>
            </a:r>
            <a:r>
              <a:rPr lang="en-US" dirty="0"/>
              <a:t>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foveei</a:t>
            </a:r>
            <a:r>
              <a:rPr lang="en-US" dirty="0"/>
              <a:t> </a:t>
            </a:r>
            <a:r>
              <a:rPr lang="en-US" dirty="0" err="1"/>
              <a:t>centrale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celule</a:t>
            </a:r>
            <a:r>
              <a:rPr lang="en-US" dirty="0"/>
              <a:t> cu </a:t>
            </a:r>
            <a:r>
              <a:rPr lang="en-US" dirty="0" err="1"/>
              <a:t>conuri</a:t>
            </a:r>
            <a:r>
              <a:rPr lang="en-US" dirty="0"/>
              <a:t>, </a:t>
            </a:r>
            <a:r>
              <a:rPr lang="en-US" dirty="0" err="1"/>
              <a:t>responsabile</a:t>
            </a:r>
            <a:r>
              <a:rPr lang="en-US" dirty="0"/>
              <a:t> de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cromatica.</a:t>
            </a:r>
            <a:r>
              <a:rPr lang="en-US" i="1" dirty="0" err="1"/>
              <a:t>Pata</a:t>
            </a:r>
            <a:r>
              <a:rPr lang="en-US" i="1" dirty="0"/>
              <a:t> </a:t>
            </a:r>
            <a:r>
              <a:rPr lang="en-US" i="1" dirty="0" err="1"/>
              <a:t>oarba</a:t>
            </a:r>
            <a:r>
              <a:rPr lang="en-US" i="1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zona</a:t>
            </a:r>
            <a:r>
              <a:rPr lang="en-US" dirty="0"/>
              <a:t> </a:t>
            </a:r>
            <a:r>
              <a:rPr lang="en-US" dirty="0" err="1"/>
              <a:t>retinei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fibrele</a:t>
            </a:r>
            <a:r>
              <a:rPr lang="en-US" dirty="0"/>
              <a:t> </a:t>
            </a:r>
            <a:r>
              <a:rPr lang="en-US" dirty="0" err="1"/>
              <a:t>nervoase</a:t>
            </a:r>
            <a:r>
              <a:rPr lang="en-US" dirty="0"/>
              <a:t> </a:t>
            </a:r>
            <a:r>
              <a:rPr lang="en-US" dirty="0" err="1"/>
              <a:t>parasesc</a:t>
            </a:r>
            <a:r>
              <a:rPr lang="en-US" dirty="0"/>
              <a:t> </a:t>
            </a:r>
            <a:r>
              <a:rPr lang="en-US" dirty="0" err="1"/>
              <a:t>retina.In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zona</a:t>
            </a:r>
            <a:r>
              <a:rPr lang="en-US" dirty="0"/>
              <a:t> nu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celule</a:t>
            </a:r>
            <a:r>
              <a:rPr lang="en-US" dirty="0"/>
              <a:t> </a:t>
            </a:r>
            <a:r>
              <a:rPr lang="en-US" dirty="0" err="1"/>
              <a:t>receptoare</a:t>
            </a:r>
            <a:r>
              <a:rPr lang="en-US" dirty="0"/>
              <a:t>. </a:t>
            </a:r>
            <a:r>
              <a:rPr lang="en-US" dirty="0" err="1"/>
              <a:t>Zona</a:t>
            </a:r>
            <a:r>
              <a:rPr lang="en-US" dirty="0"/>
              <a:t> de maxima </a:t>
            </a:r>
            <a:r>
              <a:rPr lang="en-US" dirty="0" err="1"/>
              <a:t>intensitate</a:t>
            </a:r>
            <a:r>
              <a:rPr lang="en-US" dirty="0"/>
              <a:t> la </a:t>
            </a:r>
            <a:r>
              <a:rPr lang="en-US" dirty="0" err="1"/>
              <a:t>intuneric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in macula </a:t>
            </a:r>
            <a:r>
              <a:rPr lang="en-US" dirty="0" err="1"/>
              <a:t>lateea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fotopica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scotopica</a:t>
            </a:r>
            <a:r>
              <a:rPr lang="en-US" dirty="0"/>
              <a:t>: </a:t>
            </a:r>
            <a:r>
              <a:rPr lang="en-US" dirty="0" err="1"/>
              <a:t>senzatiile</a:t>
            </a:r>
            <a:r>
              <a:rPr lang="en-US" dirty="0"/>
              <a:t> </a:t>
            </a:r>
            <a:r>
              <a:rPr lang="en-US" dirty="0" err="1"/>
              <a:t>vizuale</a:t>
            </a:r>
            <a:r>
              <a:rPr lang="en-US" dirty="0"/>
              <a:t> </a:t>
            </a:r>
            <a:r>
              <a:rPr lang="en-US" dirty="0" err="1"/>
              <a:t>indeplinesc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roluri</a:t>
            </a:r>
            <a:r>
              <a:rPr lang="en-US" dirty="0"/>
              <a:t> </a:t>
            </a:r>
            <a:r>
              <a:rPr lang="en-US" dirty="0" err="1"/>
              <a:t>fundamentale</a:t>
            </a:r>
            <a:r>
              <a:rPr lang="en-US" dirty="0"/>
              <a:t>-&gt;</a:t>
            </a:r>
            <a:r>
              <a:rPr lang="en-US" b="1" dirty="0" err="1"/>
              <a:t>receptare</a:t>
            </a:r>
            <a:r>
              <a:rPr lang="en-US" b="1" dirty="0"/>
              <a:t> a </a:t>
            </a:r>
            <a:r>
              <a:rPr lang="en-US" b="1" dirty="0" err="1"/>
              <a:t>luminozitatii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stralucirii</a:t>
            </a:r>
            <a:r>
              <a:rPr lang="en-US" b="1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receptare</a:t>
            </a:r>
            <a:r>
              <a:rPr lang="en-US" b="1" dirty="0"/>
              <a:t> a </a:t>
            </a:r>
            <a:r>
              <a:rPr lang="en-US" b="1" dirty="0" err="1"/>
              <a:t>culorilor</a:t>
            </a:r>
            <a:r>
              <a:rPr lang="en-US" b="1" dirty="0"/>
              <a:t>. </a:t>
            </a:r>
            <a:r>
              <a:rPr lang="en-US" dirty="0"/>
              <a:t>-&gt;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opereaza</a:t>
            </a:r>
            <a:r>
              <a:rPr lang="en-US" dirty="0"/>
              <a:t> </a:t>
            </a:r>
            <a:r>
              <a:rPr lang="en-US" dirty="0" err="1"/>
              <a:t>inseparabil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</a:t>
            </a:r>
            <a:r>
              <a:rPr lang="en-US" dirty="0" err="1"/>
              <a:t>vederii</a:t>
            </a:r>
            <a:r>
              <a:rPr lang="en-US" dirty="0"/>
              <a:t> </a:t>
            </a:r>
            <a:r>
              <a:rPr lang="en-US" dirty="0" err="1"/>
              <a:t>diurne</a:t>
            </a:r>
            <a:r>
              <a:rPr lang="en-US" dirty="0"/>
              <a:t>(</a:t>
            </a:r>
            <a:r>
              <a:rPr lang="en-US" dirty="0" err="1"/>
              <a:t>fotopica</a:t>
            </a:r>
            <a:r>
              <a:rPr lang="en-US" dirty="0"/>
              <a:t>)-&gt;</a:t>
            </a:r>
            <a:r>
              <a:rPr lang="en-US" dirty="0" err="1"/>
              <a:t>specializata</a:t>
            </a:r>
            <a:r>
              <a:rPr lang="en-US" dirty="0"/>
              <a:t> in </a:t>
            </a:r>
            <a:r>
              <a:rPr lang="en-US" dirty="0" err="1"/>
              <a:t>intensitati</a:t>
            </a:r>
            <a:r>
              <a:rPr lang="en-US" dirty="0"/>
              <a:t> </a:t>
            </a:r>
            <a:r>
              <a:rPr lang="en-US" dirty="0" err="1"/>
              <a:t>luminoase</a:t>
            </a:r>
            <a:r>
              <a:rPr lang="en-US" dirty="0"/>
              <a:t> </a:t>
            </a:r>
            <a:r>
              <a:rPr lang="en-US" dirty="0" err="1"/>
              <a:t>ridicate;vederea</a:t>
            </a:r>
            <a:r>
              <a:rPr lang="en-US" dirty="0"/>
              <a:t> </a:t>
            </a:r>
            <a:r>
              <a:rPr lang="en-US" dirty="0" err="1"/>
              <a:t>scotopica</a:t>
            </a:r>
            <a:r>
              <a:rPr lang="en-US" dirty="0"/>
              <a:t> (</a:t>
            </a:r>
            <a:r>
              <a:rPr lang="en-US" dirty="0" err="1"/>
              <a:t>crepusculara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noapte</a:t>
            </a:r>
            <a:r>
              <a:rPr lang="en-US" dirty="0"/>
              <a:t>) </a:t>
            </a:r>
            <a:r>
              <a:rPr lang="en-US" dirty="0" err="1"/>
              <a:t>intervine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intensitati</a:t>
            </a:r>
            <a:r>
              <a:rPr lang="en-US" dirty="0"/>
              <a:t> </a:t>
            </a:r>
            <a:r>
              <a:rPr lang="en-US" dirty="0" err="1"/>
              <a:t>luminoase</a:t>
            </a:r>
            <a:r>
              <a:rPr lang="en-US" dirty="0"/>
              <a:t> </a:t>
            </a:r>
            <a:r>
              <a:rPr lang="en-US" dirty="0" err="1"/>
              <a:t>scazute</a:t>
            </a:r>
            <a:r>
              <a:rPr lang="en-US" dirty="0"/>
              <a:t>.-&gt;</a:t>
            </a:r>
            <a:r>
              <a:rPr lang="en-US" dirty="0" err="1"/>
              <a:t>V.scotopica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fotopica</a:t>
            </a:r>
            <a:r>
              <a:rPr lang="en-US" dirty="0"/>
              <a:t> </a:t>
            </a:r>
            <a:r>
              <a:rPr lang="en-US" dirty="0" err="1"/>
              <a:t>stau</a:t>
            </a:r>
            <a:r>
              <a:rPr lang="en-US" dirty="0"/>
              <a:t>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dualitatii</a:t>
            </a:r>
            <a:r>
              <a:rPr lang="en-US" dirty="0"/>
              <a:t> </a:t>
            </a:r>
            <a:r>
              <a:rPr lang="en-US" dirty="0" err="1"/>
              <a:t>anatomice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functionale</a:t>
            </a:r>
            <a:r>
              <a:rPr lang="en-US" dirty="0"/>
              <a:t> a </a:t>
            </a:r>
            <a:r>
              <a:rPr lang="en-US" dirty="0" err="1"/>
              <a:t>retinei</a:t>
            </a:r>
            <a:r>
              <a:rPr lang="en-US" dirty="0"/>
              <a:t> </a:t>
            </a:r>
            <a:r>
              <a:rPr lang="en-US" dirty="0" err="1"/>
              <a:t>exprimata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existenta</a:t>
            </a:r>
            <a:r>
              <a:rPr lang="en-US" dirty="0"/>
              <a:t> a 2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receptori</a:t>
            </a:r>
            <a:r>
              <a:rPr lang="en-US" dirty="0"/>
              <a:t>: </a:t>
            </a:r>
            <a:r>
              <a:rPr lang="en-US" dirty="0" err="1"/>
              <a:t>conuri</a:t>
            </a:r>
            <a:r>
              <a:rPr lang="en-US" dirty="0"/>
              <a:t>(</a:t>
            </a:r>
            <a:r>
              <a:rPr lang="en-US" dirty="0" err="1"/>
              <a:t>diurna</a:t>
            </a:r>
            <a:r>
              <a:rPr lang="en-US" dirty="0"/>
              <a:t>),</a:t>
            </a:r>
            <a:r>
              <a:rPr lang="en-US" dirty="0" err="1"/>
              <a:t>bastonase</a:t>
            </a:r>
            <a:r>
              <a:rPr lang="en-US" dirty="0"/>
              <a:t> (</a:t>
            </a:r>
            <a:r>
              <a:rPr lang="en-US" dirty="0" err="1"/>
              <a:t>nocturna</a:t>
            </a:r>
            <a:r>
              <a:rPr lang="en-US" dirty="0"/>
              <a:t>);In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trecerii</a:t>
            </a:r>
            <a:r>
              <a:rPr lang="en-US" dirty="0"/>
              <a:t> de la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fotopica</a:t>
            </a:r>
            <a:r>
              <a:rPr lang="en-US" dirty="0"/>
              <a:t> la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scotopica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invers</a:t>
            </a:r>
            <a:r>
              <a:rPr lang="en-US" dirty="0"/>
              <a:t> se </a:t>
            </a:r>
            <a:r>
              <a:rPr lang="en-US" dirty="0" err="1"/>
              <a:t>produc</a:t>
            </a:r>
            <a:r>
              <a:rPr lang="en-US" dirty="0"/>
              <a:t> </a:t>
            </a:r>
            <a:r>
              <a:rPr lang="en-US" dirty="0" err="1"/>
              <a:t>fenomene</a:t>
            </a:r>
            <a:r>
              <a:rPr lang="en-US" dirty="0"/>
              <a:t> </a:t>
            </a:r>
            <a:r>
              <a:rPr lang="en-US" dirty="0" err="1"/>
              <a:t>optice</a:t>
            </a:r>
            <a:r>
              <a:rPr lang="en-US" dirty="0"/>
              <a:t> </a:t>
            </a:r>
            <a:r>
              <a:rPr lang="en-US" dirty="0" err="1"/>
              <a:t>paradoxale</a:t>
            </a:r>
            <a:r>
              <a:rPr lang="en-US" dirty="0"/>
              <a:t>-&gt;</a:t>
            </a:r>
            <a:r>
              <a:rPr lang="en-US" i="1" dirty="0" err="1"/>
              <a:t>fenomenul</a:t>
            </a:r>
            <a:r>
              <a:rPr lang="en-US" i="1" dirty="0"/>
              <a:t> Purkinje.</a:t>
            </a:r>
            <a:r>
              <a:rPr lang="en-US" dirty="0"/>
              <a:t>-&gt;</a:t>
            </a:r>
            <a:r>
              <a:rPr lang="en-US" dirty="0" err="1"/>
              <a:t>pierderea</a:t>
            </a:r>
            <a:r>
              <a:rPr lang="en-US" dirty="0"/>
              <a:t> </a:t>
            </a:r>
            <a:r>
              <a:rPr lang="en-US" dirty="0" err="1"/>
              <a:t>culorii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care </a:t>
            </a:r>
            <a:r>
              <a:rPr lang="en-US" dirty="0" err="1"/>
              <a:t>devin</a:t>
            </a:r>
            <a:r>
              <a:rPr lang="en-US" dirty="0"/>
              <a:t> </a:t>
            </a:r>
            <a:r>
              <a:rPr lang="en-US" dirty="0" err="1"/>
              <a:t>cenusii</a:t>
            </a:r>
            <a:r>
              <a:rPr lang="en-US" dirty="0"/>
              <a:t>-&gt;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multi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f.Purkinje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dualitatea</a:t>
            </a:r>
            <a:r>
              <a:rPr lang="en-US" dirty="0"/>
              <a:t> </a:t>
            </a:r>
            <a:r>
              <a:rPr lang="en-US" dirty="0" err="1"/>
              <a:t>mecanismelor</a:t>
            </a:r>
            <a:r>
              <a:rPr lang="en-US" dirty="0"/>
              <a:t> </a:t>
            </a:r>
            <a:r>
              <a:rPr lang="en-US" dirty="0" err="1"/>
              <a:t>vederii:o</a:t>
            </a:r>
            <a:r>
              <a:rPr lang="en-US" dirty="0"/>
              <a:t> parte din </a:t>
            </a:r>
            <a:r>
              <a:rPr lang="en-US" dirty="0" err="1"/>
              <a:t>procesele</a:t>
            </a:r>
            <a:r>
              <a:rPr lang="en-US" dirty="0"/>
              <a:t> </a:t>
            </a:r>
            <a:r>
              <a:rPr lang="en-US" dirty="0" err="1"/>
              <a:t>retinei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orientate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receptarea</a:t>
            </a:r>
            <a:r>
              <a:rPr lang="en-US" dirty="0"/>
              <a:t> </a:t>
            </a:r>
            <a:r>
              <a:rPr lang="en-US" dirty="0" err="1"/>
              <a:t>culorilor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receptarea</a:t>
            </a:r>
            <a:r>
              <a:rPr lang="en-US" dirty="0"/>
              <a:t> </a:t>
            </a:r>
            <a:r>
              <a:rPr lang="en-US" dirty="0" err="1"/>
              <a:t>intensitatii</a:t>
            </a:r>
            <a:r>
              <a:rPr lang="en-US" dirty="0"/>
              <a:t> </a:t>
            </a:r>
            <a:r>
              <a:rPr lang="en-US" dirty="0" err="1"/>
              <a:t>luminii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cromatica</a:t>
            </a:r>
            <a:r>
              <a:rPr lang="en-US" dirty="0"/>
              <a:t>-&gt;</a:t>
            </a:r>
            <a:r>
              <a:rPr lang="en-US" dirty="0" err="1"/>
              <a:t>capacitatea</a:t>
            </a:r>
            <a:r>
              <a:rPr lang="en-US" dirty="0"/>
              <a:t> </a:t>
            </a:r>
            <a:r>
              <a:rPr lang="en-US" dirty="0" err="1"/>
              <a:t>ochiului</a:t>
            </a:r>
            <a:r>
              <a:rPr lang="en-US" dirty="0"/>
              <a:t> </a:t>
            </a:r>
            <a:r>
              <a:rPr lang="en-US" dirty="0" err="1"/>
              <a:t>uman</a:t>
            </a:r>
            <a:r>
              <a:rPr lang="en-US" dirty="0"/>
              <a:t> de a </a:t>
            </a:r>
            <a:r>
              <a:rPr lang="en-US" dirty="0" err="1"/>
              <a:t>discrimina</a:t>
            </a:r>
            <a:r>
              <a:rPr lang="en-US" dirty="0"/>
              <a:t> </a:t>
            </a:r>
            <a:r>
              <a:rPr lang="en-US" dirty="0" err="1"/>
              <a:t>calitatile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din </a:t>
            </a:r>
            <a:r>
              <a:rPr lang="en-US" dirty="0" err="1"/>
              <a:t>mediul</a:t>
            </a:r>
            <a:r>
              <a:rPr lang="en-US" dirty="0"/>
              <a:t> </a:t>
            </a:r>
            <a:r>
              <a:rPr lang="en-US" dirty="0" err="1"/>
              <a:t>inconjurator</a:t>
            </a:r>
            <a:r>
              <a:rPr lang="en-US" dirty="0"/>
              <a:t> in </a:t>
            </a:r>
            <a:r>
              <a:rPr lang="en-US" dirty="0" err="1"/>
              <a:t>fct</a:t>
            </a:r>
            <a:r>
              <a:rPr lang="en-US" dirty="0"/>
              <a:t> de </a:t>
            </a:r>
            <a:r>
              <a:rPr lang="en-US" dirty="0" err="1"/>
              <a:t>nuanta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tonalitatea</a:t>
            </a:r>
            <a:r>
              <a:rPr lang="en-US" dirty="0"/>
              <a:t> </a:t>
            </a:r>
            <a:r>
              <a:rPr lang="en-US" dirty="0" err="1"/>
              <a:t>cromatica</a:t>
            </a:r>
            <a:r>
              <a:rPr lang="en-US" dirty="0"/>
              <a:t>, de </a:t>
            </a:r>
            <a:r>
              <a:rPr lang="en-US" dirty="0" err="1"/>
              <a:t>intensitate</a:t>
            </a:r>
            <a:r>
              <a:rPr lang="en-US" dirty="0"/>
              <a:t>, </a:t>
            </a:r>
            <a:r>
              <a:rPr lang="en-US" dirty="0" err="1"/>
              <a:t>stralucire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saturatie</a:t>
            </a:r>
            <a:r>
              <a:rPr lang="en-US" dirty="0"/>
              <a:t>.</a:t>
            </a:r>
          </a:p>
          <a:p>
            <a:r>
              <a:rPr lang="en-US" dirty="0" err="1"/>
              <a:t>Lungimea</a:t>
            </a:r>
            <a:r>
              <a:rPr lang="en-US" dirty="0"/>
              <a:t> de </a:t>
            </a:r>
            <a:r>
              <a:rPr lang="en-US" dirty="0" err="1"/>
              <a:t>unda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tonalitatea</a:t>
            </a:r>
            <a:r>
              <a:rPr lang="en-US" dirty="0"/>
              <a:t> </a:t>
            </a:r>
            <a:r>
              <a:rPr lang="en-US" dirty="0" err="1"/>
              <a:t>cromatica</a:t>
            </a:r>
            <a:r>
              <a:rPr lang="en-US" dirty="0"/>
              <a:t>-&gt; </a:t>
            </a:r>
            <a:r>
              <a:rPr lang="en-US" dirty="0" err="1"/>
              <a:t>specificitatea</a:t>
            </a:r>
            <a:r>
              <a:rPr lang="en-US" dirty="0"/>
              <a:t> </a:t>
            </a:r>
            <a:r>
              <a:rPr lang="en-US" dirty="0" err="1"/>
              <a:t>fiecarei</a:t>
            </a:r>
            <a:r>
              <a:rPr lang="en-US" dirty="0"/>
              <a:t> </a:t>
            </a:r>
            <a:r>
              <a:rPr lang="en-US" dirty="0" err="1"/>
              <a:t>culori</a:t>
            </a:r>
            <a:r>
              <a:rPr lang="en-US" dirty="0"/>
              <a:t>.-&gt;in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vederii</a:t>
            </a:r>
            <a:r>
              <a:rPr lang="en-US" dirty="0"/>
              <a:t> </a:t>
            </a:r>
            <a:r>
              <a:rPr lang="en-US" dirty="0" err="1"/>
              <a:t>cromatice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specializata</a:t>
            </a:r>
            <a:r>
              <a:rPr lang="en-US" dirty="0"/>
              <a:t> in </a:t>
            </a:r>
            <a:r>
              <a:rPr lang="en-US" dirty="0" err="1"/>
              <a:t>primul</a:t>
            </a:r>
            <a:r>
              <a:rPr lang="en-US" dirty="0"/>
              <a:t> rand </a:t>
            </a:r>
            <a:r>
              <a:rPr lang="en-US" dirty="0" err="1"/>
              <a:t>fobeea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restul</a:t>
            </a:r>
            <a:r>
              <a:rPr lang="en-US" dirty="0"/>
              <a:t> </a:t>
            </a:r>
            <a:r>
              <a:rPr lang="en-US" dirty="0" err="1"/>
              <a:t>retinei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macula </a:t>
            </a:r>
            <a:r>
              <a:rPr lang="en-US" dirty="0" err="1"/>
              <a:t>lateea,pana</a:t>
            </a:r>
            <a:r>
              <a:rPr lang="en-US" dirty="0"/>
              <a:t> la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serata,zona</a:t>
            </a:r>
            <a:r>
              <a:rPr lang="en-US" dirty="0"/>
              <a:t> </a:t>
            </a:r>
            <a:r>
              <a:rPr lang="en-US" dirty="0" err="1"/>
              <a:t>periferica</a:t>
            </a:r>
            <a:r>
              <a:rPr lang="en-US" dirty="0"/>
              <a:t> </a:t>
            </a:r>
            <a:r>
              <a:rPr lang="en-US" dirty="0" err="1"/>
              <a:t>oarba</a:t>
            </a:r>
            <a:r>
              <a:rPr lang="en-US" dirty="0"/>
              <a:t> la </a:t>
            </a:r>
            <a:r>
              <a:rPr lang="en-US" dirty="0" err="1"/>
              <a:t>culori</a:t>
            </a:r>
            <a:r>
              <a:rPr lang="en-US" dirty="0"/>
              <a:t>.-&gt;</a:t>
            </a:r>
            <a:r>
              <a:rPr lang="en-US" dirty="0" err="1"/>
              <a:t>oamenii</a:t>
            </a:r>
            <a:r>
              <a:rPr lang="en-US" dirty="0"/>
              <a:t> </a:t>
            </a:r>
            <a:r>
              <a:rPr lang="en-US" dirty="0" err="1"/>
              <a:t>disting</a:t>
            </a:r>
            <a:r>
              <a:rPr lang="en-US" dirty="0"/>
              <a:t> in </a:t>
            </a:r>
            <a:r>
              <a:rPr lang="en-US" dirty="0" err="1"/>
              <a:t>medie</a:t>
            </a:r>
            <a:r>
              <a:rPr lang="en-US" dirty="0"/>
              <a:t> 100 de </a:t>
            </a:r>
            <a:r>
              <a:rPr lang="en-US" dirty="0" err="1"/>
              <a:t>nuante</a:t>
            </a:r>
            <a:r>
              <a:rPr lang="en-US" dirty="0"/>
              <a:t> </a:t>
            </a:r>
            <a:r>
              <a:rPr lang="en-US" dirty="0" err="1"/>
              <a:t>cromatice</a:t>
            </a:r>
            <a:r>
              <a:rPr lang="en-US" dirty="0"/>
              <a:t>.</a:t>
            </a:r>
          </a:p>
          <a:p>
            <a:r>
              <a:rPr lang="en-US" dirty="0"/>
              <a:t>Al </a:t>
            </a:r>
            <a:r>
              <a:rPr lang="en-US" dirty="0" err="1"/>
              <a:t>doilea</a:t>
            </a:r>
            <a:r>
              <a:rPr lang="en-US" dirty="0"/>
              <a:t> factor </a:t>
            </a:r>
            <a:r>
              <a:rPr lang="en-US" dirty="0" err="1"/>
              <a:t>implicat</a:t>
            </a:r>
            <a:r>
              <a:rPr lang="en-US" dirty="0"/>
              <a:t> in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cromatica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radiatiei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stralucirea</a:t>
            </a:r>
            <a:r>
              <a:rPr lang="en-US" dirty="0"/>
              <a:t>-&gt;</a:t>
            </a:r>
            <a:r>
              <a:rPr lang="en-US" dirty="0" err="1"/>
              <a:t>provoaca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nuantelor</a:t>
            </a:r>
            <a:r>
              <a:rPr lang="en-US" dirty="0"/>
              <a:t> </a:t>
            </a:r>
            <a:r>
              <a:rPr lang="en-US" dirty="0" err="1"/>
              <a:t>cromatice</a:t>
            </a:r>
            <a:endParaRPr lang="en-US" dirty="0"/>
          </a:p>
          <a:p>
            <a:r>
              <a:rPr lang="en-US" dirty="0"/>
              <a:t>Al </a:t>
            </a:r>
            <a:r>
              <a:rPr lang="en-US" dirty="0" err="1"/>
              <a:t>treilea</a:t>
            </a:r>
            <a:r>
              <a:rPr lang="en-US" dirty="0"/>
              <a:t> factor-&gt;</a:t>
            </a:r>
            <a:r>
              <a:rPr lang="en-US" dirty="0" err="1"/>
              <a:t>saturatia</a:t>
            </a:r>
            <a:r>
              <a:rPr lang="en-US" dirty="0"/>
              <a:t>-&gt;</a:t>
            </a:r>
            <a:r>
              <a:rPr lang="en-US" dirty="0" err="1"/>
              <a:t>capacitatea</a:t>
            </a:r>
            <a:r>
              <a:rPr lang="en-US" dirty="0"/>
              <a:t> de a </a:t>
            </a:r>
            <a:r>
              <a:rPr lang="en-US" dirty="0" err="1"/>
              <a:t>distinge</a:t>
            </a:r>
            <a:r>
              <a:rPr lang="en-US" dirty="0"/>
              <a:t>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tonalitatii</a:t>
            </a:r>
            <a:r>
              <a:rPr lang="en-US" dirty="0"/>
              <a:t> </a:t>
            </a:r>
            <a:r>
              <a:rPr lang="en-US" dirty="0" err="1"/>
              <a:t>cromatice</a:t>
            </a:r>
            <a:r>
              <a:rPr lang="en-US" dirty="0"/>
              <a:t> in </a:t>
            </a:r>
            <a:r>
              <a:rPr lang="en-US" dirty="0" err="1"/>
              <a:t>raport</a:t>
            </a:r>
            <a:r>
              <a:rPr lang="en-US" dirty="0"/>
              <a:t> cu </a:t>
            </a:r>
            <a:r>
              <a:rPr lang="en-US" dirty="0" err="1"/>
              <a:t>gradul</a:t>
            </a:r>
            <a:r>
              <a:rPr lang="en-US" dirty="0"/>
              <a:t> de </a:t>
            </a:r>
            <a:r>
              <a:rPr lang="en-US" dirty="0" err="1"/>
              <a:t>puritate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dirty="0" err="1"/>
              <a:t>Tulburarile</a:t>
            </a:r>
            <a:r>
              <a:rPr lang="en-US" dirty="0"/>
              <a:t> </a:t>
            </a:r>
            <a:r>
              <a:rPr lang="en-US" dirty="0" err="1"/>
              <a:t>vederii</a:t>
            </a:r>
            <a:r>
              <a:rPr lang="en-US" dirty="0"/>
              <a:t> </a:t>
            </a:r>
            <a:r>
              <a:rPr lang="en-US" dirty="0" err="1"/>
              <a:t>cromatice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cecitatea</a:t>
            </a:r>
            <a:r>
              <a:rPr lang="en-US" dirty="0"/>
              <a:t> </a:t>
            </a:r>
            <a:r>
              <a:rPr lang="en-US" dirty="0" err="1"/>
              <a:t>cromatica</a:t>
            </a:r>
            <a:r>
              <a:rPr lang="en-US" dirty="0"/>
              <a:t>: </a:t>
            </a: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des la </a:t>
            </a:r>
            <a:r>
              <a:rPr lang="en-US" dirty="0" err="1"/>
              <a:t>barbati</a:t>
            </a:r>
            <a:r>
              <a:rPr lang="en-US" dirty="0"/>
              <a:t>(3-4%)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rar</a:t>
            </a:r>
            <a:r>
              <a:rPr lang="en-US" dirty="0"/>
              <a:t> la </a:t>
            </a:r>
            <a:r>
              <a:rPr lang="en-US" dirty="0" err="1"/>
              <a:t>femei</a:t>
            </a:r>
            <a:r>
              <a:rPr lang="en-US" dirty="0"/>
              <a:t>(0.5%).-&gt;</a:t>
            </a:r>
            <a:r>
              <a:rPr lang="en-US" dirty="0" err="1"/>
              <a:t>subiectii</a:t>
            </a:r>
            <a:r>
              <a:rPr lang="en-US" dirty="0"/>
              <a:t> pot </a:t>
            </a:r>
            <a:r>
              <a:rPr lang="en-US" dirty="0" err="1"/>
              <a:t>numi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 </a:t>
            </a:r>
            <a:r>
              <a:rPr lang="en-US" dirty="0" err="1"/>
              <a:t>culorile</a:t>
            </a:r>
            <a:r>
              <a:rPr lang="en-US" dirty="0"/>
              <a:t>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nu le </a:t>
            </a:r>
            <a:r>
              <a:rPr lang="en-US" dirty="0" err="1"/>
              <a:t>disting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in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experientei</a:t>
            </a:r>
            <a:r>
              <a:rPr lang="en-US" dirty="0"/>
              <a:t> care </a:t>
            </a:r>
            <a:r>
              <a:rPr lang="en-US" dirty="0" err="1"/>
              <a:t>atribuie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culori</a:t>
            </a:r>
            <a:r>
              <a:rPr lang="en-US" dirty="0"/>
              <a:t> </a:t>
            </a:r>
            <a:r>
              <a:rPr lang="en-US" dirty="0" err="1"/>
              <a:t>anumitor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lucruri</a:t>
            </a:r>
            <a:r>
              <a:rPr lang="en-US" dirty="0"/>
              <a:t>.-&gt;</a:t>
            </a:r>
            <a:r>
              <a:rPr lang="en-US" dirty="0" err="1"/>
              <a:t>Cecitatea</a:t>
            </a:r>
            <a:r>
              <a:rPr lang="en-US" dirty="0"/>
              <a:t> </a:t>
            </a:r>
            <a:r>
              <a:rPr lang="en-US" dirty="0" err="1"/>
              <a:t>cromatica</a:t>
            </a:r>
            <a:r>
              <a:rPr lang="en-US" dirty="0"/>
              <a:t> </a:t>
            </a:r>
            <a:r>
              <a:rPr lang="en-US" dirty="0" err="1"/>
              <a:t>totala</a:t>
            </a:r>
            <a:r>
              <a:rPr lang="en-US" dirty="0"/>
              <a:t> (</a:t>
            </a:r>
            <a:r>
              <a:rPr lang="en-US" i="1" dirty="0" err="1"/>
              <a:t>acromatopsie</a:t>
            </a:r>
            <a:r>
              <a:rPr lang="en-US" i="1" dirty="0"/>
              <a:t>)</a:t>
            </a:r>
            <a:r>
              <a:rPr lang="en-US" dirty="0"/>
              <a:t> -&gt;o </a:t>
            </a:r>
            <a:r>
              <a:rPr lang="en-US" dirty="0" err="1"/>
              <a:t>tulburare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rara</a:t>
            </a:r>
            <a:r>
              <a:rPr lang="en-US" dirty="0"/>
              <a:t>; </a:t>
            </a:r>
            <a:r>
              <a:rPr lang="en-US" dirty="0" err="1"/>
              <a:t>cecitatea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rosu</a:t>
            </a:r>
            <a:r>
              <a:rPr lang="en-US" dirty="0"/>
              <a:t>=</a:t>
            </a:r>
            <a:r>
              <a:rPr lang="en-US" i="1" dirty="0" err="1"/>
              <a:t>protanopie</a:t>
            </a:r>
            <a:r>
              <a:rPr lang="en-US" i="1" dirty="0"/>
              <a:t>; </a:t>
            </a:r>
            <a:r>
              <a:rPr lang="en-US" dirty="0" err="1"/>
              <a:t>cecitatea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= </a:t>
            </a:r>
            <a:r>
              <a:rPr lang="en-US" i="1" dirty="0" err="1"/>
              <a:t>deuteranopie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/>
              <a:t>Senzatiile</a:t>
            </a:r>
            <a:r>
              <a:rPr lang="en-US" dirty="0"/>
              <a:t> </a:t>
            </a:r>
            <a:r>
              <a:rPr lang="en-US" dirty="0" err="1"/>
              <a:t>auditive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r>
              <a:rPr lang="en-US" dirty="0" err="1"/>
              <a:t>Particularitatile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acustici</a:t>
            </a:r>
            <a:r>
              <a:rPr lang="en-US" dirty="0"/>
              <a:t>: </a:t>
            </a:r>
            <a:r>
              <a:rPr lang="en-US" b="1" dirty="0" err="1"/>
              <a:t>Frecventa</a:t>
            </a:r>
            <a:r>
              <a:rPr lang="en-US" dirty="0"/>
              <a:t>-&gt;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vibratii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oscilatii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unitatea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.-&gt;</a:t>
            </a:r>
            <a:r>
              <a:rPr lang="en-US" dirty="0" err="1"/>
              <a:t>urechea</a:t>
            </a:r>
            <a:r>
              <a:rPr lang="en-US" dirty="0"/>
              <a:t> </a:t>
            </a:r>
            <a:r>
              <a:rPr lang="en-US" dirty="0" err="1"/>
              <a:t>umana</a:t>
            </a:r>
            <a:r>
              <a:rPr lang="en-US" dirty="0"/>
              <a:t> </a:t>
            </a:r>
            <a:r>
              <a:rPr lang="en-US" dirty="0" err="1"/>
              <a:t>reuseste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acceseze</a:t>
            </a:r>
            <a:r>
              <a:rPr lang="en-US" dirty="0"/>
              <a:t> un </a:t>
            </a:r>
            <a:r>
              <a:rPr lang="en-US" dirty="0" err="1"/>
              <a:t>registru</a:t>
            </a:r>
            <a:r>
              <a:rPr lang="en-US" dirty="0"/>
              <a:t> </a:t>
            </a:r>
            <a:r>
              <a:rPr lang="en-US" dirty="0" err="1"/>
              <a:t>cuprins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20 </a:t>
            </a:r>
            <a:r>
              <a:rPr lang="en-US" dirty="0" err="1"/>
              <a:t>si</a:t>
            </a:r>
            <a:r>
              <a:rPr lang="en-US" dirty="0"/>
              <a:t> 20 de </a:t>
            </a:r>
            <a:r>
              <a:rPr lang="en-US" dirty="0" err="1"/>
              <a:t>mii</a:t>
            </a:r>
            <a:r>
              <a:rPr lang="en-US" dirty="0"/>
              <a:t> de Hz-&gt;sub 20- </a:t>
            </a:r>
            <a:r>
              <a:rPr lang="en-US" dirty="0" err="1"/>
              <a:t>infrasunete</a:t>
            </a:r>
            <a:r>
              <a:rPr lang="en-US" dirty="0"/>
              <a:t>;&gt;</a:t>
            </a:r>
            <a:r>
              <a:rPr lang="en-US" dirty="0" err="1"/>
              <a:t>peste</a:t>
            </a:r>
            <a:r>
              <a:rPr lang="en-US" dirty="0"/>
              <a:t> 20 de </a:t>
            </a:r>
            <a:r>
              <a:rPr lang="en-US" dirty="0" err="1"/>
              <a:t>mii-ultrasunete</a:t>
            </a:r>
            <a:r>
              <a:rPr lang="en-US" dirty="0"/>
              <a:t>.; </a:t>
            </a:r>
            <a:r>
              <a:rPr lang="en-US" b="1" dirty="0" err="1"/>
              <a:t>Amplitudinea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intensitatea</a:t>
            </a:r>
            <a:r>
              <a:rPr lang="en-US" b="1" dirty="0"/>
              <a:t> </a:t>
            </a:r>
            <a:r>
              <a:rPr lang="en-US" dirty="0"/>
              <a:t>-&gt;</a:t>
            </a:r>
            <a:r>
              <a:rPr lang="en-US" dirty="0" err="1"/>
              <a:t>forta</a:t>
            </a:r>
            <a:r>
              <a:rPr lang="en-US" dirty="0"/>
              <a:t> </a:t>
            </a:r>
            <a:r>
              <a:rPr lang="en-US" dirty="0" err="1"/>
              <a:t>oscilatiei</a:t>
            </a:r>
            <a:r>
              <a:rPr lang="en-US" dirty="0"/>
              <a:t> ;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indicatorul</a:t>
            </a:r>
            <a:r>
              <a:rPr lang="en-US" dirty="0"/>
              <a:t> de </a:t>
            </a:r>
            <a:r>
              <a:rPr lang="en-US" dirty="0" err="1"/>
              <a:t>frecventa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de </a:t>
            </a:r>
            <a:r>
              <a:rPr lang="en-US" dirty="0" err="1"/>
              <a:t>amplitudine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 de </a:t>
            </a:r>
            <a:r>
              <a:rPr lang="en-US" dirty="0" err="1"/>
              <a:t>conditionare</a:t>
            </a:r>
            <a:r>
              <a:rPr lang="en-US" dirty="0"/>
              <a:t> </a:t>
            </a:r>
            <a:r>
              <a:rPr lang="en-US" dirty="0" err="1"/>
              <a:t>reciproca</a:t>
            </a:r>
            <a:r>
              <a:rPr lang="en-US" dirty="0"/>
              <a:t> </a:t>
            </a:r>
            <a:r>
              <a:rPr lang="en-US" dirty="0" err="1"/>
              <a:t>exprimate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dirty="0" err="1"/>
              <a:t>raport</a:t>
            </a:r>
            <a:r>
              <a:rPr lang="en-US" dirty="0"/>
              <a:t> </a:t>
            </a:r>
            <a:r>
              <a:rPr lang="en-US" dirty="0" err="1"/>
              <a:t>invers</a:t>
            </a:r>
            <a:r>
              <a:rPr lang="en-US" dirty="0"/>
              <a:t> proportional. </a:t>
            </a:r>
            <a:r>
              <a:rPr lang="en-US" b="1" dirty="0"/>
              <a:t>Forma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timbrul</a:t>
            </a:r>
            <a:r>
              <a:rPr lang="en-US" b="1" dirty="0"/>
              <a:t> </a:t>
            </a:r>
            <a:r>
              <a:rPr lang="en-US" dirty="0"/>
              <a:t>-&gt;</a:t>
            </a:r>
            <a:r>
              <a:rPr lang="en-US" dirty="0" err="1"/>
              <a:t>aspectul</a:t>
            </a:r>
            <a:r>
              <a:rPr lang="en-US" dirty="0"/>
              <a:t> general al </a:t>
            </a:r>
            <a:r>
              <a:rPr lang="en-US" dirty="0" err="1"/>
              <a:t>curbei</a:t>
            </a:r>
            <a:r>
              <a:rPr lang="en-US" dirty="0"/>
              <a:t> </a:t>
            </a:r>
            <a:r>
              <a:rPr lang="en-US" dirty="0" err="1"/>
              <a:t>undelor</a:t>
            </a:r>
            <a:r>
              <a:rPr lang="en-US" dirty="0"/>
              <a:t> </a:t>
            </a:r>
            <a:r>
              <a:rPr lang="en-US" dirty="0" err="1"/>
              <a:t>sonore</a:t>
            </a:r>
            <a:r>
              <a:rPr lang="en-US" dirty="0"/>
              <a:t>-&gt;</a:t>
            </a:r>
            <a:r>
              <a:rPr lang="en-US" dirty="0" err="1"/>
              <a:t>sunete</a:t>
            </a:r>
            <a:r>
              <a:rPr lang="en-US" dirty="0"/>
              <a:t> simple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Clasificarea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acustici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natura</a:t>
            </a:r>
            <a:r>
              <a:rPr lang="en-US" dirty="0"/>
              <a:t> </a:t>
            </a:r>
            <a:r>
              <a:rPr lang="en-US" dirty="0" err="1"/>
              <a:t>sursei:generati</a:t>
            </a:r>
            <a:r>
              <a:rPr lang="en-US" dirty="0"/>
              <a:t> de </a:t>
            </a:r>
            <a:r>
              <a:rPr lang="en-US" dirty="0" err="1"/>
              <a:t>surse</a:t>
            </a:r>
            <a:r>
              <a:rPr lang="en-US" dirty="0"/>
              <a:t> </a:t>
            </a:r>
            <a:r>
              <a:rPr lang="en-US" dirty="0" err="1"/>
              <a:t>naturale</a:t>
            </a:r>
            <a:r>
              <a:rPr lang="en-US" dirty="0"/>
              <a:t>, </a:t>
            </a:r>
            <a:r>
              <a:rPr lang="en-US" dirty="0" err="1"/>
              <a:t>generati</a:t>
            </a:r>
            <a:r>
              <a:rPr lang="en-US" dirty="0"/>
              <a:t> de </a:t>
            </a:r>
            <a:r>
              <a:rPr lang="en-US" dirty="0" err="1"/>
              <a:t>surse</a:t>
            </a:r>
            <a:r>
              <a:rPr lang="en-US" dirty="0"/>
              <a:t> </a:t>
            </a:r>
            <a:r>
              <a:rPr lang="en-US" dirty="0" err="1"/>
              <a:t>artificiale,generati</a:t>
            </a:r>
            <a:r>
              <a:rPr lang="en-US" dirty="0"/>
              <a:t> de </a:t>
            </a:r>
            <a:r>
              <a:rPr lang="en-US" dirty="0" err="1"/>
              <a:t>vocea</a:t>
            </a:r>
            <a:r>
              <a:rPr lang="en-US" dirty="0"/>
              <a:t> </a:t>
            </a:r>
            <a:r>
              <a:rPr lang="en-US" dirty="0" err="1"/>
              <a:t>umana</a:t>
            </a:r>
            <a:endParaRPr lang="en-US" dirty="0"/>
          </a:p>
          <a:p>
            <a:pPr lvl="1"/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indicatorul</a:t>
            </a:r>
            <a:r>
              <a:rPr lang="en-US" dirty="0"/>
              <a:t> </a:t>
            </a:r>
            <a:r>
              <a:rPr lang="en-US" dirty="0" err="1"/>
              <a:t>periodicitatii</a:t>
            </a:r>
            <a:r>
              <a:rPr lang="en-US" dirty="0"/>
              <a:t> </a:t>
            </a:r>
            <a:r>
              <a:rPr lang="en-US" dirty="0" err="1"/>
              <a:t>undei</a:t>
            </a:r>
            <a:r>
              <a:rPr lang="en-US" dirty="0"/>
              <a:t> </a:t>
            </a:r>
            <a:r>
              <a:rPr lang="en-US" dirty="0" err="1"/>
              <a:t>sonore</a:t>
            </a:r>
            <a:r>
              <a:rPr lang="en-US" dirty="0"/>
              <a:t>: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sonore</a:t>
            </a:r>
            <a:r>
              <a:rPr lang="en-US" dirty="0"/>
              <a:t> </a:t>
            </a:r>
            <a:r>
              <a:rPr lang="en-US" dirty="0" err="1"/>
              <a:t>periodice,melodice,muzicale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sonore</a:t>
            </a:r>
            <a:r>
              <a:rPr lang="en-US" dirty="0"/>
              <a:t> </a:t>
            </a:r>
            <a:r>
              <a:rPr lang="en-US" dirty="0" err="1"/>
              <a:t>aperiodice,zgomote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raport</a:t>
            </a:r>
            <a:r>
              <a:rPr lang="en-US" dirty="0"/>
              <a:t> cu </a:t>
            </a:r>
            <a:r>
              <a:rPr lang="en-US" dirty="0" err="1"/>
              <a:t>indicatorul</a:t>
            </a:r>
            <a:r>
              <a:rPr lang="en-US" dirty="0"/>
              <a:t> de </a:t>
            </a:r>
            <a:r>
              <a:rPr lang="en-US" dirty="0" err="1"/>
              <a:t>frecventa:registrul</a:t>
            </a:r>
            <a:r>
              <a:rPr lang="en-US" dirty="0"/>
              <a:t> </a:t>
            </a:r>
            <a:r>
              <a:rPr lang="en-US" dirty="0" err="1"/>
              <a:t>sunetelor</a:t>
            </a:r>
            <a:r>
              <a:rPr lang="en-US" dirty="0"/>
              <a:t> de </a:t>
            </a:r>
            <a:r>
              <a:rPr lang="en-US" dirty="0" err="1"/>
              <a:t>joasa</a:t>
            </a:r>
            <a:r>
              <a:rPr lang="en-US" dirty="0"/>
              <a:t> </a:t>
            </a:r>
            <a:r>
              <a:rPr lang="en-US" dirty="0" err="1"/>
              <a:t>frecventa</a:t>
            </a:r>
            <a:r>
              <a:rPr lang="en-US" dirty="0"/>
              <a:t>(16-500Hz),</a:t>
            </a:r>
            <a:r>
              <a:rPr lang="en-US" dirty="0" err="1"/>
              <a:t>registrul</a:t>
            </a:r>
            <a:r>
              <a:rPr lang="en-US" dirty="0"/>
              <a:t> </a:t>
            </a:r>
            <a:r>
              <a:rPr lang="en-US" dirty="0" err="1"/>
              <a:t>sunetelor</a:t>
            </a:r>
            <a:r>
              <a:rPr lang="en-US" dirty="0"/>
              <a:t> de </a:t>
            </a:r>
            <a:r>
              <a:rPr lang="en-US" dirty="0" err="1"/>
              <a:t>frecventa</a:t>
            </a:r>
            <a:r>
              <a:rPr lang="en-US" dirty="0"/>
              <a:t> </a:t>
            </a:r>
            <a:r>
              <a:rPr lang="en-US" dirty="0" err="1"/>
              <a:t>medie</a:t>
            </a:r>
            <a:r>
              <a:rPr lang="en-US" dirty="0"/>
              <a:t>(50-3500Hz),</a:t>
            </a:r>
            <a:r>
              <a:rPr lang="en-US" dirty="0" err="1"/>
              <a:t>registrul</a:t>
            </a:r>
            <a:r>
              <a:rPr lang="en-US" dirty="0"/>
              <a:t> </a:t>
            </a:r>
            <a:r>
              <a:rPr lang="en-US" dirty="0" err="1"/>
              <a:t>sunetelor</a:t>
            </a:r>
            <a:r>
              <a:rPr lang="en-US" dirty="0"/>
              <a:t>  de </a:t>
            </a:r>
            <a:r>
              <a:rPr lang="en-US" dirty="0" err="1"/>
              <a:t>inalta</a:t>
            </a:r>
            <a:r>
              <a:rPr lang="en-US" dirty="0"/>
              <a:t> </a:t>
            </a:r>
            <a:r>
              <a:rPr lang="en-US" dirty="0" err="1"/>
              <a:t>frecventa</a:t>
            </a:r>
            <a:r>
              <a:rPr lang="en-US" dirty="0"/>
              <a:t>(&gt;5000Hz)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raport</a:t>
            </a:r>
            <a:r>
              <a:rPr lang="en-US" dirty="0"/>
              <a:t> cu </a:t>
            </a:r>
            <a:r>
              <a:rPr lang="en-US" dirty="0" err="1"/>
              <a:t>indicatorul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: </a:t>
            </a:r>
            <a:r>
              <a:rPr lang="en-US" dirty="0" err="1"/>
              <a:t>sunete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puternica</a:t>
            </a:r>
            <a:r>
              <a:rPr lang="en-US" dirty="0"/>
              <a:t>, </a:t>
            </a:r>
            <a:r>
              <a:rPr lang="en-US" dirty="0" err="1"/>
              <a:t>sunete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moderata</a:t>
            </a:r>
            <a:r>
              <a:rPr lang="en-US" dirty="0"/>
              <a:t>, </a:t>
            </a:r>
            <a:r>
              <a:rPr lang="en-US" dirty="0" err="1"/>
              <a:t>sunete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slabe</a:t>
            </a:r>
            <a:endParaRPr lang="en-US" dirty="0"/>
          </a:p>
          <a:p>
            <a:pPr lvl="1"/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indicatorul</a:t>
            </a:r>
            <a:r>
              <a:rPr lang="en-US" dirty="0"/>
              <a:t> </a:t>
            </a:r>
            <a:r>
              <a:rPr lang="en-US" dirty="0" err="1"/>
              <a:t>valorii</a:t>
            </a:r>
            <a:r>
              <a:rPr lang="en-US" dirty="0"/>
              <a:t> de </a:t>
            </a:r>
            <a:r>
              <a:rPr lang="en-US" dirty="0" err="1"/>
              <a:t>semnalizare:stimuli</a:t>
            </a:r>
            <a:r>
              <a:rPr lang="en-US" dirty="0"/>
              <a:t> </a:t>
            </a:r>
            <a:r>
              <a:rPr lang="en-US" dirty="0" err="1"/>
              <a:t>acustici</a:t>
            </a:r>
            <a:r>
              <a:rPr lang="en-US" dirty="0"/>
              <a:t> </a:t>
            </a:r>
            <a:r>
              <a:rPr lang="en-US" dirty="0" err="1"/>
              <a:t>semnificativi,care</a:t>
            </a:r>
            <a:r>
              <a:rPr lang="en-US" dirty="0"/>
              <a:t> </a:t>
            </a:r>
            <a:r>
              <a:rPr lang="en-US" dirty="0" err="1"/>
              <a:t>induc</a:t>
            </a:r>
            <a:r>
              <a:rPr lang="en-US" dirty="0"/>
              <a:t> </a:t>
            </a:r>
            <a:r>
              <a:rPr lang="en-US" dirty="0" err="1"/>
              <a:t>comportamente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cu o </a:t>
            </a:r>
            <a:r>
              <a:rPr lang="en-US" dirty="0" err="1"/>
              <a:t>finaitate</a:t>
            </a:r>
            <a:r>
              <a:rPr lang="en-US" dirty="0"/>
              <a:t> </a:t>
            </a:r>
            <a:r>
              <a:rPr lang="en-US" dirty="0" err="1"/>
              <a:t>bine</a:t>
            </a:r>
            <a:r>
              <a:rPr lang="en-US" dirty="0"/>
              <a:t> </a:t>
            </a:r>
            <a:r>
              <a:rPr lang="en-US" dirty="0" err="1"/>
              <a:t>definita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stimuli </a:t>
            </a:r>
            <a:r>
              <a:rPr lang="en-US" dirty="0" err="1"/>
              <a:t>neutri</a:t>
            </a:r>
            <a:r>
              <a:rPr lang="en-US" dirty="0"/>
              <a:t>, in general </a:t>
            </a:r>
            <a:r>
              <a:rPr lang="en-US" dirty="0" err="1"/>
              <a:t>neutri</a:t>
            </a:r>
            <a:r>
              <a:rPr lang="en-US" dirty="0"/>
              <a:t> in </a:t>
            </a:r>
            <a:r>
              <a:rPr lang="en-US" dirty="0" err="1"/>
              <a:t>primul</a:t>
            </a:r>
            <a:r>
              <a:rPr lang="en-US" dirty="0"/>
              <a:t> moment al </a:t>
            </a:r>
            <a:r>
              <a:rPr lang="en-US" dirty="0" err="1"/>
              <a:t>receptiei</a:t>
            </a:r>
            <a:r>
              <a:rPr lang="en-US" dirty="0"/>
              <a:t> </a:t>
            </a:r>
            <a:r>
              <a:rPr lang="en-US" dirty="0" err="1"/>
              <a:t>intrucat</a:t>
            </a:r>
            <a:r>
              <a:rPr lang="en-US" dirty="0"/>
              <a:t> </a:t>
            </a:r>
            <a:r>
              <a:rPr lang="en-US" dirty="0" err="1"/>
              <a:t>tendinta</a:t>
            </a:r>
            <a:r>
              <a:rPr lang="en-US" dirty="0"/>
              <a:t> de </a:t>
            </a:r>
            <a:r>
              <a:rPr lang="en-US" dirty="0" err="1"/>
              <a:t>acordare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de </a:t>
            </a:r>
            <a:r>
              <a:rPr lang="en-US" dirty="0" err="1"/>
              <a:t>semnalizare</a:t>
            </a:r>
            <a:r>
              <a:rPr lang="en-US" dirty="0"/>
              <a:t> se </a:t>
            </a:r>
            <a:r>
              <a:rPr lang="en-US" dirty="0" err="1"/>
              <a:t>manifesta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rapid.Stimulii</a:t>
            </a:r>
            <a:r>
              <a:rPr lang="en-US" dirty="0"/>
              <a:t> </a:t>
            </a:r>
            <a:r>
              <a:rPr lang="en-US" dirty="0" err="1"/>
              <a:t>neutri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reactie</a:t>
            </a:r>
            <a:r>
              <a:rPr lang="en-US" dirty="0"/>
              <a:t> </a:t>
            </a:r>
            <a:r>
              <a:rPr lang="en-US" dirty="0" err="1"/>
              <a:t>nespecifica</a:t>
            </a:r>
            <a:r>
              <a:rPr lang="en-US" dirty="0"/>
              <a:t> de </a:t>
            </a:r>
            <a:r>
              <a:rPr lang="en-US" dirty="0" err="1"/>
              <a:t>orientare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Adaptarea</a:t>
            </a:r>
            <a:r>
              <a:rPr lang="en-US" dirty="0"/>
              <a:t> </a:t>
            </a:r>
            <a:r>
              <a:rPr lang="en-US" dirty="0" err="1"/>
              <a:t>auditiva</a:t>
            </a:r>
            <a:r>
              <a:rPr lang="en-US" dirty="0"/>
              <a:t>: </a:t>
            </a:r>
            <a:r>
              <a:rPr lang="en-US" dirty="0" err="1"/>
              <a:t>Analizatorul</a:t>
            </a:r>
            <a:r>
              <a:rPr lang="en-US" dirty="0"/>
              <a:t> </a:t>
            </a:r>
            <a:r>
              <a:rPr lang="en-US" dirty="0" err="1"/>
              <a:t>auditiv</a:t>
            </a:r>
            <a:r>
              <a:rPr lang="en-US" dirty="0"/>
              <a:t> </a:t>
            </a:r>
            <a:r>
              <a:rPr lang="en-US" dirty="0" err="1"/>
              <a:t>prezinta</a:t>
            </a:r>
            <a:r>
              <a:rPr lang="en-US" dirty="0"/>
              <a:t> un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adaptabilitate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-&gt;</a:t>
            </a:r>
            <a:r>
              <a:rPr lang="en-US" dirty="0" err="1"/>
              <a:t>efectul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</a:t>
            </a:r>
            <a:r>
              <a:rPr lang="en-US" dirty="0"/>
              <a:t> al </a:t>
            </a:r>
            <a:r>
              <a:rPr lang="en-US" dirty="0" err="1"/>
              <a:t>adaptarii,asociat</a:t>
            </a:r>
            <a:r>
              <a:rPr lang="en-US" dirty="0"/>
              <a:t> cu </a:t>
            </a:r>
            <a:r>
              <a:rPr lang="en-US" dirty="0" err="1"/>
              <a:t>scaderea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la </a:t>
            </a:r>
            <a:r>
              <a:rPr lang="en-US" dirty="0" err="1"/>
              <a:t>sunetele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 mare.-&gt;</a:t>
            </a:r>
            <a:r>
              <a:rPr lang="en-US" dirty="0" err="1"/>
              <a:t>adaptarea</a:t>
            </a:r>
            <a:r>
              <a:rPr lang="en-US" dirty="0"/>
              <a:t> </a:t>
            </a:r>
            <a:r>
              <a:rPr lang="en-US" dirty="0" err="1"/>
              <a:t>binaurala</a:t>
            </a:r>
            <a:r>
              <a:rPr lang="en-US" dirty="0"/>
              <a:t> </a:t>
            </a:r>
            <a:r>
              <a:rPr lang="en-US" dirty="0" err="1"/>
              <a:t>antreneaza</a:t>
            </a:r>
            <a:r>
              <a:rPr lang="en-US" dirty="0"/>
              <a:t> o </a:t>
            </a:r>
            <a:r>
              <a:rPr lang="en-US" dirty="0" err="1"/>
              <a:t>scadere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pronuntata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lunga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 a </a:t>
            </a:r>
            <a:r>
              <a:rPr lang="en-US" dirty="0" err="1"/>
              <a:t>nivelului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in </a:t>
            </a:r>
            <a:r>
              <a:rPr lang="en-US" dirty="0" err="1"/>
              <a:t>adaptarea</a:t>
            </a:r>
            <a:r>
              <a:rPr lang="en-US" dirty="0"/>
              <a:t> </a:t>
            </a:r>
            <a:r>
              <a:rPr lang="en-US" dirty="0" err="1"/>
              <a:t>monaurala</a:t>
            </a:r>
            <a:r>
              <a:rPr lang="en-US" dirty="0"/>
              <a:t>.-&gt; </a:t>
            </a:r>
            <a:r>
              <a:rPr lang="en-US" dirty="0" err="1"/>
              <a:t>adaptarea</a:t>
            </a:r>
            <a:r>
              <a:rPr lang="en-US" dirty="0"/>
              <a:t> </a:t>
            </a:r>
            <a:r>
              <a:rPr lang="en-US" dirty="0" err="1"/>
              <a:t>monaurala</a:t>
            </a:r>
            <a:r>
              <a:rPr lang="en-US" dirty="0"/>
              <a:t> </a:t>
            </a:r>
            <a:r>
              <a:rPr lang="en-US" dirty="0" err="1"/>
              <a:t>antreneaza</a:t>
            </a:r>
            <a:r>
              <a:rPr lang="en-US" dirty="0"/>
              <a:t> </a:t>
            </a:r>
            <a:r>
              <a:rPr lang="en-US" dirty="0" err="1"/>
              <a:t>cresterea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compensatoare</a:t>
            </a:r>
            <a:r>
              <a:rPr lang="en-US" dirty="0"/>
              <a:t>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celeilalte</a:t>
            </a:r>
            <a:r>
              <a:rPr lang="en-US" dirty="0"/>
              <a:t> </a:t>
            </a:r>
            <a:r>
              <a:rPr lang="en-US" dirty="0" err="1"/>
              <a:t>urechi.;O</a:t>
            </a:r>
            <a:r>
              <a:rPr lang="en-US" dirty="0"/>
              <a:t> </a:t>
            </a:r>
            <a:r>
              <a:rPr lang="en-US" dirty="0" err="1"/>
              <a:t>particularitate</a:t>
            </a:r>
            <a:r>
              <a:rPr lang="en-US" dirty="0"/>
              <a:t> a </a:t>
            </a:r>
            <a:r>
              <a:rPr lang="en-US" dirty="0" err="1"/>
              <a:t>adaptarii</a:t>
            </a:r>
            <a:r>
              <a:rPr lang="en-US" dirty="0"/>
              <a:t> </a:t>
            </a:r>
            <a:r>
              <a:rPr lang="en-US" dirty="0" err="1"/>
              <a:t>auditive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selectivitatea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-&gt;</a:t>
            </a:r>
            <a:r>
              <a:rPr lang="en-US" dirty="0" err="1"/>
              <a:t>pe</a:t>
            </a:r>
            <a:r>
              <a:rPr lang="en-US" dirty="0"/>
              <a:t> un fond </a:t>
            </a:r>
            <a:r>
              <a:rPr lang="en-US" dirty="0" err="1"/>
              <a:t>zgomotos</a:t>
            </a:r>
            <a:r>
              <a:rPr lang="en-US" dirty="0"/>
              <a:t> pot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discriminati</a:t>
            </a:r>
            <a:r>
              <a:rPr lang="en-US" dirty="0"/>
              <a:t> stimuli </a:t>
            </a:r>
            <a:r>
              <a:rPr lang="en-US" dirty="0" err="1"/>
              <a:t>sonori</a:t>
            </a:r>
            <a:r>
              <a:rPr lang="en-US" dirty="0"/>
              <a:t> cu o </a:t>
            </a:r>
            <a:r>
              <a:rPr lang="en-US" dirty="0" err="1"/>
              <a:t>inalta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de </a:t>
            </a:r>
            <a:r>
              <a:rPr lang="en-US" dirty="0" err="1"/>
              <a:t>semnalizare</a:t>
            </a:r>
            <a:r>
              <a:rPr lang="en-US" dirty="0"/>
              <a:t> pt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respectiva</a:t>
            </a:r>
            <a:r>
              <a:rPr lang="en-US" dirty="0"/>
              <a:t>.-&gt;</a:t>
            </a:r>
            <a:r>
              <a:rPr lang="en-US" dirty="0" err="1"/>
              <a:t>fenomenul</a:t>
            </a:r>
            <a:r>
              <a:rPr lang="en-US" dirty="0"/>
              <a:t> de </a:t>
            </a:r>
            <a:r>
              <a:rPr lang="en-US" dirty="0" err="1"/>
              <a:t>adaptare</a:t>
            </a:r>
            <a:r>
              <a:rPr lang="en-US" dirty="0"/>
              <a:t> </a:t>
            </a:r>
            <a:r>
              <a:rPr lang="en-US" dirty="0" err="1"/>
              <a:t>auditiva</a:t>
            </a:r>
            <a:r>
              <a:rPr lang="en-US" dirty="0"/>
              <a:t> se </a:t>
            </a:r>
            <a:r>
              <a:rPr lang="en-US" dirty="0" err="1"/>
              <a:t>regaseste</a:t>
            </a:r>
            <a:r>
              <a:rPr lang="en-US" dirty="0"/>
              <a:t> in </a:t>
            </a:r>
            <a:r>
              <a:rPr lang="en-US" dirty="0" err="1"/>
              <a:t>raporturile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adaptare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mascare</a:t>
            </a:r>
            <a:r>
              <a:rPr lang="en-US" dirty="0"/>
              <a:t>; </a:t>
            </a:r>
            <a:r>
              <a:rPr lang="en-US" dirty="0" err="1"/>
              <a:t>fenomenul</a:t>
            </a:r>
            <a:r>
              <a:rPr lang="en-US" dirty="0"/>
              <a:t> de </a:t>
            </a:r>
            <a:r>
              <a:rPr lang="en-US" dirty="0" err="1"/>
              <a:t>mascare</a:t>
            </a:r>
            <a:r>
              <a:rPr lang="en-US" dirty="0"/>
              <a:t> se </a:t>
            </a:r>
            <a:r>
              <a:rPr lang="en-US" dirty="0" err="1"/>
              <a:t>manifesta</a:t>
            </a:r>
            <a:r>
              <a:rPr lang="en-US" dirty="0"/>
              <a:t> in </a:t>
            </a:r>
            <a:r>
              <a:rPr lang="en-US" dirty="0" err="1"/>
              <a:t>conditiile</a:t>
            </a:r>
            <a:r>
              <a:rPr lang="en-US" dirty="0"/>
              <a:t> in care </a:t>
            </a:r>
            <a:r>
              <a:rPr lang="en-US" dirty="0" err="1"/>
              <a:t>urechea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expusa</a:t>
            </a:r>
            <a:r>
              <a:rPr lang="en-US" dirty="0"/>
              <a:t> </a:t>
            </a:r>
            <a:r>
              <a:rPr lang="en-US" dirty="0" err="1"/>
              <a:t>actiunii</a:t>
            </a:r>
            <a:r>
              <a:rPr lang="en-US" dirty="0"/>
              <a:t> </a:t>
            </a:r>
            <a:r>
              <a:rPr lang="en-US" dirty="0" err="1"/>
              <a:t>simultane</a:t>
            </a:r>
            <a:r>
              <a:rPr lang="en-US" dirty="0"/>
              <a:t> a 2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sunete</a:t>
            </a:r>
            <a:r>
              <a:rPr lang="en-US" dirty="0"/>
              <a:t> care </a:t>
            </a:r>
            <a:r>
              <a:rPr lang="en-US" dirty="0" err="1"/>
              <a:t>difera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/>
              <a:t>Senzatiile</a:t>
            </a:r>
            <a:r>
              <a:rPr lang="en-US" dirty="0"/>
              <a:t> gustative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r>
              <a:rPr lang="en-US" dirty="0" err="1"/>
              <a:t>Gustul-unul</a:t>
            </a:r>
            <a:r>
              <a:rPr lang="en-US" dirty="0"/>
              <a:t> din </a:t>
            </a:r>
            <a:r>
              <a:rPr lang="en-US" dirty="0" err="1"/>
              <a:t>simturile</a:t>
            </a:r>
            <a:r>
              <a:rPr lang="en-US" dirty="0"/>
              <a:t> </a:t>
            </a:r>
            <a:r>
              <a:rPr lang="en-US" dirty="0" err="1"/>
              <a:t>chimice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bazeaza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capacitatea</a:t>
            </a:r>
            <a:r>
              <a:rPr lang="en-US" dirty="0"/>
              <a:t> </a:t>
            </a:r>
            <a:r>
              <a:rPr lang="en-US" dirty="0" err="1"/>
              <a:t>limbii</a:t>
            </a:r>
            <a:r>
              <a:rPr lang="en-US" dirty="0"/>
              <a:t> de a </a:t>
            </a:r>
            <a:r>
              <a:rPr lang="en-US" dirty="0" err="1"/>
              <a:t>dizolva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a </a:t>
            </a:r>
            <a:r>
              <a:rPr lang="en-US" dirty="0" err="1"/>
              <a:t>recepta</a:t>
            </a:r>
            <a:r>
              <a:rPr lang="en-US" dirty="0"/>
              <a:t> </a:t>
            </a:r>
            <a:r>
              <a:rPr lang="en-US" dirty="0" err="1"/>
              <a:t>calitatile</a:t>
            </a:r>
            <a:r>
              <a:rPr lang="en-US" dirty="0"/>
              <a:t> </a:t>
            </a:r>
            <a:r>
              <a:rPr lang="en-US" dirty="0" err="1"/>
              <a:t>chimice</a:t>
            </a:r>
            <a:r>
              <a:rPr lang="en-US" dirty="0"/>
              <a:t> ale </a:t>
            </a:r>
            <a:r>
              <a:rPr lang="en-US" dirty="0" err="1"/>
              <a:t>stimulilor</a:t>
            </a:r>
            <a:r>
              <a:rPr lang="en-US" dirty="0"/>
              <a:t>.-&gt;</a:t>
            </a:r>
            <a:r>
              <a:rPr lang="en-US" dirty="0" err="1"/>
              <a:t>Limba</a:t>
            </a:r>
            <a:r>
              <a:rPr lang="en-US" dirty="0"/>
              <a:t> are un aspect </a:t>
            </a:r>
            <a:r>
              <a:rPr lang="en-US" dirty="0" err="1"/>
              <a:t>poros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de </a:t>
            </a:r>
            <a:r>
              <a:rPr lang="en-US" dirty="0" err="1"/>
              <a:t>cele</a:t>
            </a:r>
            <a:r>
              <a:rPr lang="en-US" dirty="0"/>
              <a:t> 4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papile</a:t>
            </a:r>
            <a:r>
              <a:rPr lang="en-US" dirty="0"/>
              <a:t> </a:t>
            </a:r>
            <a:r>
              <a:rPr lang="en-US" dirty="0" err="1"/>
              <a:t>aflate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suprafata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.-&gt;</a:t>
            </a:r>
            <a:r>
              <a:rPr lang="en-US" dirty="0" err="1"/>
              <a:t>Mugurii</a:t>
            </a:r>
            <a:r>
              <a:rPr lang="en-US" dirty="0"/>
              <a:t> </a:t>
            </a:r>
            <a:r>
              <a:rPr lang="en-US" dirty="0" err="1"/>
              <a:t>gustativi</a:t>
            </a:r>
            <a:r>
              <a:rPr lang="en-US" dirty="0"/>
              <a:t> se </a:t>
            </a:r>
            <a:r>
              <a:rPr lang="en-US" dirty="0" err="1"/>
              <a:t>gasesc</a:t>
            </a:r>
            <a:r>
              <a:rPr lang="en-US" dirty="0"/>
              <a:t> la </a:t>
            </a:r>
            <a:r>
              <a:rPr lang="en-US" dirty="0" err="1"/>
              <a:t>suprafata</a:t>
            </a:r>
            <a:r>
              <a:rPr lang="en-US" dirty="0"/>
              <a:t> </a:t>
            </a:r>
            <a:r>
              <a:rPr lang="en-US" dirty="0" err="1"/>
              <a:t>epiteliala</a:t>
            </a:r>
            <a:r>
              <a:rPr lang="en-US" dirty="0"/>
              <a:t> a </a:t>
            </a:r>
            <a:r>
              <a:rPr lang="en-US" dirty="0" err="1"/>
              <a:t>celor</a:t>
            </a:r>
            <a:r>
              <a:rPr lang="en-US" dirty="0"/>
              <a:t> 4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papile</a:t>
            </a:r>
            <a:r>
              <a:rPr lang="en-US" dirty="0"/>
              <a:t>.-&gt;</a:t>
            </a:r>
            <a:r>
              <a:rPr lang="en-US" dirty="0" err="1"/>
              <a:t>deschizatura</a:t>
            </a:r>
            <a:r>
              <a:rPr lang="en-US" dirty="0"/>
              <a:t> </a:t>
            </a:r>
            <a:r>
              <a:rPr lang="en-US" dirty="0" err="1"/>
              <a:t>acestor</a:t>
            </a:r>
            <a:r>
              <a:rPr lang="en-US" dirty="0"/>
              <a:t> </a:t>
            </a:r>
            <a:r>
              <a:rPr lang="en-US" dirty="0" err="1"/>
              <a:t>celule</a:t>
            </a:r>
            <a:r>
              <a:rPr lang="en-US" dirty="0"/>
              <a:t> care </a:t>
            </a:r>
            <a:r>
              <a:rPr lang="en-US" dirty="0" err="1"/>
              <a:t>leaga</a:t>
            </a:r>
            <a:r>
              <a:rPr lang="en-US" dirty="0"/>
              <a:t> </a:t>
            </a:r>
            <a:r>
              <a:rPr lang="en-US" dirty="0" err="1"/>
              <a:t>mugurul</a:t>
            </a:r>
            <a:r>
              <a:rPr lang="en-US" dirty="0"/>
              <a:t> </a:t>
            </a:r>
            <a:r>
              <a:rPr lang="en-US" dirty="0" err="1"/>
              <a:t>gustativ</a:t>
            </a:r>
            <a:r>
              <a:rPr lang="en-US" dirty="0"/>
              <a:t> de </a:t>
            </a:r>
            <a:r>
              <a:rPr lang="en-US" dirty="0" err="1"/>
              <a:t>limba</a:t>
            </a:r>
            <a:r>
              <a:rPr lang="en-US" dirty="0"/>
              <a:t> se </a:t>
            </a:r>
            <a:r>
              <a:rPr lang="en-US" dirty="0" err="1"/>
              <a:t>numeste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gustativ</a:t>
            </a:r>
            <a:r>
              <a:rPr lang="en-US" dirty="0"/>
              <a:t>.-&gt;</a:t>
            </a:r>
            <a:r>
              <a:rPr lang="en-US" dirty="0" err="1"/>
              <a:t>specializarea</a:t>
            </a:r>
            <a:r>
              <a:rPr lang="en-US" dirty="0"/>
              <a:t> </a:t>
            </a:r>
            <a:r>
              <a:rPr lang="en-US" dirty="0" err="1"/>
              <a:t>diferitelor</a:t>
            </a:r>
            <a:r>
              <a:rPr lang="en-US" dirty="0"/>
              <a:t> zone ale </a:t>
            </a:r>
            <a:r>
              <a:rPr lang="en-US" dirty="0" err="1"/>
              <a:t>limbii</a:t>
            </a:r>
            <a:r>
              <a:rPr lang="en-US" dirty="0"/>
              <a:t> pt </a:t>
            </a:r>
            <a:r>
              <a:rPr lang="en-US" dirty="0" err="1"/>
              <a:t>cele</a:t>
            </a:r>
            <a:r>
              <a:rPr lang="en-US" dirty="0"/>
              <a:t> 4 </a:t>
            </a:r>
            <a:r>
              <a:rPr lang="en-US" dirty="0" err="1"/>
              <a:t>substante:dulce-vf</a:t>
            </a:r>
            <a:r>
              <a:rPr lang="en-US" dirty="0"/>
              <a:t> </a:t>
            </a:r>
            <a:r>
              <a:rPr lang="en-US" dirty="0" err="1"/>
              <a:t>limbii;amar-baza</a:t>
            </a:r>
            <a:r>
              <a:rPr lang="en-US" dirty="0"/>
              <a:t> </a:t>
            </a:r>
            <a:r>
              <a:rPr lang="en-US" dirty="0" err="1"/>
              <a:t>limbii</a:t>
            </a:r>
            <a:r>
              <a:rPr lang="en-US" dirty="0"/>
              <a:t>; </a:t>
            </a:r>
            <a:r>
              <a:rPr lang="en-US" dirty="0" err="1"/>
              <a:t>acru-zonele</a:t>
            </a:r>
            <a:r>
              <a:rPr lang="en-US" dirty="0"/>
              <a:t> </a:t>
            </a:r>
            <a:r>
              <a:rPr lang="en-US" dirty="0" err="1"/>
              <a:t>marginale</a:t>
            </a:r>
            <a:r>
              <a:rPr lang="en-US" dirty="0"/>
              <a:t>; </a:t>
            </a:r>
            <a:r>
              <a:rPr lang="en-US" dirty="0" err="1"/>
              <a:t>sarat-zonele</a:t>
            </a:r>
            <a:r>
              <a:rPr lang="en-US" dirty="0"/>
              <a:t> </a:t>
            </a:r>
            <a:r>
              <a:rPr lang="en-US" dirty="0" err="1"/>
              <a:t>anterioare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marginale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err="1"/>
              <a:t>A.Factori</a:t>
            </a:r>
            <a:r>
              <a:rPr lang="en-US" b="1" dirty="0"/>
              <a:t> </a:t>
            </a:r>
            <a:r>
              <a:rPr lang="en-US" b="1" dirty="0" err="1"/>
              <a:t>obiectivi</a:t>
            </a:r>
            <a:r>
              <a:rPr lang="en-US" b="1" dirty="0"/>
              <a:t> care </a:t>
            </a:r>
            <a:r>
              <a:rPr lang="en-US" b="1" dirty="0" err="1"/>
              <a:t>privesc</a:t>
            </a:r>
            <a:r>
              <a:rPr lang="en-US" b="1" dirty="0"/>
              <a:t> </a:t>
            </a:r>
            <a:r>
              <a:rPr lang="en-US" b="1" dirty="0" err="1"/>
              <a:t>insusirile</a:t>
            </a:r>
            <a:r>
              <a:rPr lang="en-US" b="1" dirty="0"/>
              <a:t> </a:t>
            </a:r>
            <a:r>
              <a:rPr lang="en-US" b="1" dirty="0" err="1"/>
              <a:t>nespecifice</a:t>
            </a:r>
            <a:r>
              <a:rPr lang="en-US" b="1" dirty="0"/>
              <a:t> ale </a:t>
            </a:r>
            <a:r>
              <a:rPr lang="en-US" b="1" dirty="0" err="1"/>
              <a:t>stimulilor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ambiantei</a:t>
            </a:r>
            <a:endParaRPr lang="en-US" b="1" dirty="0"/>
          </a:p>
          <a:p>
            <a:r>
              <a:rPr lang="en-US" dirty="0" err="1"/>
              <a:t>Temperatura:a</a:t>
            </a:r>
            <a:r>
              <a:rPr lang="en-US" dirty="0"/>
              <a:t>)temp </a:t>
            </a:r>
            <a:r>
              <a:rPr lang="en-US" dirty="0" err="1"/>
              <a:t>mediului</a:t>
            </a:r>
            <a:r>
              <a:rPr lang="en-US" dirty="0"/>
              <a:t> </a:t>
            </a:r>
            <a:r>
              <a:rPr lang="en-US" dirty="0" err="1"/>
              <a:t>ambiant:o</a:t>
            </a:r>
            <a:r>
              <a:rPr lang="en-US" dirty="0"/>
              <a:t> </a:t>
            </a:r>
            <a:r>
              <a:rPr lang="en-US" dirty="0" err="1"/>
              <a:t>crestere</a:t>
            </a:r>
            <a:r>
              <a:rPr lang="en-US" dirty="0"/>
              <a:t> a temp </a:t>
            </a:r>
            <a:r>
              <a:rPr lang="en-US" dirty="0" err="1"/>
              <a:t>mediului</a:t>
            </a:r>
            <a:r>
              <a:rPr lang="en-US" dirty="0"/>
              <a:t> </a:t>
            </a:r>
            <a:r>
              <a:rPr lang="en-US" dirty="0" err="1"/>
              <a:t>ambiant</a:t>
            </a:r>
            <a:r>
              <a:rPr lang="en-US" dirty="0"/>
              <a:t> conduce la </a:t>
            </a:r>
            <a:r>
              <a:rPr lang="en-US" dirty="0" err="1"/>
              <a:t>scaderea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pt </a:t>
            </a:r>
            <a:r>
              <a:rPr lang="en-US" dirty="0" err="1"/>
              <a:t>sarat,acru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amar.b</a:t>
            </a:r>
            <a:r>
              <a:rPr lang="en-US" dirty="0"/>
              <a:t>)temp </a:t>
            </a:r>
            <a:r>
              <a:rPr lang="en-US" dirty="0" err="1"/>
              <a:t>substantei</a:t>
            </a:r>
            <a:r>
              <a:rPr lang="en-US" dirty="0"/>
              <a:t> </a:t>
            </a:r>
            <a:r>
              <a:rPr lang="en-US" dirty="0" err="1"/>
              <a:t>stimul:sensibilitatea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</a:t>
            </a:r>
            <a:r>
              <a:rPr lang="en-US" dirty="0" err="1"/>
              <a:t>subst</a:t>
            </a:r>
            <a:r>
              <a:rPr lang="en-US" dirty="0"/>
              <a:t> </a:t>
            </a:r>
            <a:r>
              <a:rPr lang="en-US" dirty="0" err="1"/>
              <a:t>dulci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creste</a:t>
            </a:r>
            <a:r>
              <a:rPr lang="en-US" dirty="0"/>
              <a:t> </a:t>
            </a:r>
            <a:r>
              <a:rPr lang="en-US" dirty="0" err="1"/>
              <a:t>odata</a:t>
            </a:r>
            <a:r>
              <a:rPr lang="en-US" dirty="0"/>
              <a:t> cu </a:t>
            </a:r>
            <a:r>
              <a:rPr lang="en-US" dirty="0" err="1"/>
              <a:t>cresterea</a:t>
            </a:r>
            <a:r>
              <a:rPr lang="en-US" dirty="0"/>
              <a:t> temp </a:t>
            </a:r>
            <a:r>
              <a:rPr lang="en-US" dirty="0" err="1"/>
              <a:t>acestora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lim</a:t>
            </a:r>
            <a:r>
              <a:rPr lang="en-US" dirty="0"/>
              <a:t> de 37 grade </a:t>
            </a:r>
            <a:r>
              <a:rPr lang="en-US" dirty="0" err="1"/>
              <a:t>dincolo</a:t>
            </a:r>
            <a:r>
              <a:rPr lang="en-US" dirty="0"/>
              <a:t> de care </a:t>
            </a:r>
            <a:r>
              <a:rPr lang="en-US" dirty="0" err="1"/>
              <a:t>sensibilitatea</a:t>
            </a:r>
            <a:r>
              <a:rPr lang="en-US" dirty="0"/>
              <a:t> </a:t>
            </a:r>
            <a:r>
              <a:rPr lang="en-US" dirty="0" err="1"/>
              <a:t>scade</a:t>
            </a:r>
            <a:r>
              <a:rPr lang="en-US" dirty="0"/>
              <a:t> </a:t>
            </a:r>
            <a:r>
              <a:rPr lang="en-US" dirty="0" err="1"/>
              <a:t>brusc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la 50 grade </a:t>
            </a:r>
            <a:r>
              <a:rPr lang="en-US" dirty="0" err="1"/>
              <a:t>senzatia</a:t>
            </a:r>
            <a:r>
              <a:rPr lang="en-US" dirty="0"/>
              <a:t> de </a:t>
            </a:r>
            <a:r>
              <a:rPr lang="en-US" dirty="0" err="1"/>
              <a:t>dulce</a:t>
            </a:r>
            <a:r>
              <a:rPr lang="en-US" dirty="0"/>
              <a:t> </a:t>
            </a:r>
            <a:r>
              <a:rPr lang="en-US" dirty="0" err="1"/>
              <a:t>dispare</a:t>
            </a:r>
            <a:r>
              <a:rPr lang="en-US" dirty="0"/>
              <a:t> total; pt </a:t>
            </a:r>
            <a:r>
              <a:rPr lang="en-US" dirty="0" err="1"/>
              <a:t>sarat</a:t>
            </a:r>
            <a:r>
              <a:rPr lang="en-US" dirty="0"/>
              <a:t> temp optima-18grade;pt </a:t>
            </a:r>
            <a:r>
              <a:rPr lang="en-US" dirty="0" err="1"/>
              <a:t>amar</a:t>
            </a:r>
            <a:r>
              <a:rPr lang="en-US" dirty="0"/>
              <a:t> temp optima-10grade;la0 grade </a:t>
            </a:r>
            <a:r>
              <a:rPr lang="en-US" dirty="0" err="1"/>
              <a:t>senzatiile</a:t>
            </a:r>
            <a:r>
              <a:rPr lang="en-US" dirty="0"/>
              <a:t> gustative </a:t>
            </a:r>
            <a:r>
              <a:rPr lang="en-US" dirty="0" err="1"/>
              <a:t>slabesc</a:t>
            </a:r>
            <a:r>
              <a:rPr lang="en-US" dirty="0"/>
              <a:t> </a:t>
            </a:r>
            <a:r>
              <a:rPr lang="en-US" dirty="0" err="1"/>
              <a:t>considerabil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dispar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.</a:t>
            </a:r>
          </a:p>
          <a:p>
            <a:r>
              <a:rPr lang="en-US" dirty="0" err="1"/>
              <a:t>Lumina:sederea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indelungat</a:t>
            </a:r>
            <a:r>
              <a:rPr lang="en-US" dirty="0"/>
              <a:t>(20-24ore) in </a:t>
            </a:r>
            <a:r>
              <a:rPr lang="en-US" dirty="0" err="1"/>
              <a:t>intuneric</a:t>
            </a:r>
            <a:r>
              <a:rPr lang="en-US" dirty="0"/>
              <a:t> conduce la </a:t>
            </a:r>
            <a:r>
              <a:rPr lang="en-US" dirty="0" err="1"/>
              <a:t>scaderea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gustative; </a:t>
            </a:r>
            <a:r>
              <a:rPr lang="en-US" dirty="0" err="1"/>
              <a:t>lumina</a:t>
            </a:r>
            <a:r>
              <a:rPr lang="en-US" dirty="0"/>
              <a:t> </a:t>
            </a:r>
            <a:r>
              <a:rPr lang="en-US" dirty="0" err="1"/>
              <a:t>diurna</a:t>
            </a:r>
            <a:r>
              <a:rPr lang="en-US" dirty="0"/>
              <a:t> optima cu </a:t>
            </a:r>
            <a:r>
              <a:rPr lang="en-US" dirty="0" err="1"/>
              <a:t>cer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usoara</a:t>
            </a:r>
            <a:r>
              <a:rPr lang="en-US" dirty="0"/>
              <a:t>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gustative</a:t>
            </a:r>
          </a:p>
          <a:p>
            <a:r>
              <a:rPr lang="en-US" dirty="0" err="1"/>
              <a:t>Concentratia</a:t>
            </a:r>
            <a:r>
              <a:rPr lang="en-US" dirty="0"/>
              <a:t> de </a:t>
            </a:r>
            <a:r>
              <a:rPr lang="en-US" dirty="0" err="1"/>
              <a:t>oxigen</a:t>
            </a:r>
            <a:r>
              <a:rPr lang="en-US" dirty="0"/>
              <a:t> din </a:t>
            </a:r>
            <a:r>
              <a:rPr lang="en-US" dirty="0" err="1"/>
              <a:t>atmosfera:scaderea</a:t>
            </a:r>
            <a:r>
              <a:rPr lang="en-US" dirty="0"/>
              <a:t> </a:t>
            </a:r>
            <a:r>
              <a:rPr lang="en-US" dirty="0" err="1"/>
              <a:t>concentratiei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scadere</a:t>
            </a:r>
            <a:r>
              <a:rPr lang="en-US" dirty="0"/>
              <a:t> a </a:t>
            </a:r>
            <a:r>
              <a:rPr lang="en-US" dirty="0" err="1"/>
              <a:t>senzatiei</a:t>
            </a:r>
            <a:r>
              <a:rPr lang="en-US" dirty="0"/>
              <a:t> de </a:t>
            </a:r>
            <a:r>
              <a:rPr lang="en-US" dirty="0" err="1"/>
              <a:t>dulce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oscilatii</a:t>
            </a:r>
            <a:r>
              <a:rPr lang="en-US" dirty="0"/>
              <a:t> in </a:t>
            </a:r>
            <a:r>
              <a:rPr lang="en-US" dirty="0" err="1"/>
              <a:t>celelalte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senzatii:crestere</a:t>
            </a:r>
            <a:r>
              <a:rPr lang="en-US" dirty="0"/>
              <a:t> in </a:t>
            </a:r>
            <a:r>
              <a:rPr lang="en-US" dirty="0" err="1"/>
              <a:t>primul</a:t>
            </a:r>
            <a:r>
              <a:rPr lang="en-US" dirty="0"/>
              <a:t> moment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scadere</a:t>
            </a:r>
            <a:endParaRPr lang="en-US" dirty="0"/>
          </a:p>
          <a:p>
            <a:r>
              <a:rPr lang="en-US" dirty="0" err="1"/>
              <a:t>Culorile</a:t>
            </a:r>
            <a:r>
              <a:rPr lang="en-US" dirty="0"/>
              <a:t> </a:t>
            </a:r>
            <a:r>
              <a:rPr lang="en-US" dirty="0" err="1"/>
              <a:t>asociate</a:t>
            </a:r>
            <a:r>
              <a:rPr lang="en-US" dirty="0"/>
              <a:t> </a:t>
            </a:r>
            <a:r>
              <a:rPr lang="en-US" dirty="0" err="1"/>
              <a:t>influenteaza</a:t>
            </a:r>
            <a:r>
              <a:rPr lang="en-US" dirty="0"/>
              <a:t> </a:t>
            </a:r>
            <a:r>
              <a:rPr lang="en-US" dirty="0" err="1"/>
              <a:t>dinamica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gustative in </a:t>
            </a:r>
            <a:r>
              <a:rPr lang="en-US" dirty="0" err="1"/>
              <a:t>stransa</a:t>
            </a:r>
            <a:r>
              <a:rPr lang="en-US" dirty="0"/>
              <a:t> </a:t>
            </a:r>
            <a:r>
              <a:rPr lang="en-US" dirty="0" err="1"/>
              <a:t>legatura</a:t>
            </a:r>
            <a:r>
              <a:rPr lang="en-US" dirty="0"/>
              <a:t> cu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culorii</a:t>
            </a:r>
            <a:r>
              <a:rPr lang="en-US" dirty="0"/>
              <a:t> </a:t>
            </a:r>
            <a:r>
              <a:rPr lang="en-US" dirty="0" err="1"/>
              <a:t>asignate</a:t>
            </a:r>
            <a:r>
              <a:rPr lang="en-US" dirty="0"/>
              <a:t> </a:t>
            </a:r>
            <a:r>
              <a:rPr lang="en-US" dirty="0" err="1"/>
              <a:t>alimentelor</a:t>
            </a:r>
            <a:r>
              <a:rPr lang="en-US" dirty="0"/>
              <a:t> </a:t>
            </a:r>
            <a:r>
              <a:rPr lang="en-US" dirty="0" err="1"/>
              <a:t>consumate</a:t>
            </a:r>
            <a:r>
              <a:rPr lang="en-US" dirty="0"/>
              <a:t>. </a:t>
            </a:r>
            <a:r>
              <a:rPr lang="en-US" dirty="0" err="1"/>
              <a:t>Varietatea</a:t>
            </a:r>
            <a:r>
              <a:rPr lang="en-US" dirty="0"/>
              <a:t> </a:t>
            </a:r>
            <a:r>
              <a:rPr lang="en-US" dirty="0" err="1"/>
              <a:t>cromatica,combinatiile</a:t>
            </a:r>
            <a:r>
              <a:rPr lang="en-US" dirty="0"/>
              <a:t> </a:t>
            </a:r>
            <a:r>
              <a:rPr lang="en-US" dirty="0" err="1"/>
              <a:t>cromatice</a:t>
            </a:r>
            <a:r>
              <a:rPr lang="en-US" dirty="0"/>
              <a:t> </a:t>
            </a:r>
            <a:r>
              <a:rPr lang="en-US" dirty="0" err="1"/>
              <a:t>conduc</a:t>
            </a:r>
            <a:r>
              <a:rPr lang="en-US" dirty="0"/>
              <a:t> la </a:t>
            </a:r>
            <a:r>
              <a:rPr lang="en-US" dirty="0" err="1"/>
              <a:t>cresterea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gustative.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err="1"/>
              <a:t>B.Factori</a:t>
            </a:r>
            <a:r>
              <a:rPr lang="en-US" b="1" dirty="0"/>
              <a:t> </a:t>
            </a:r>
            <a:r>
              <a:rPr lang="en-US" b="1" dirty="0" err="1"/>
              <a:t>subiectivi,psihofiziologici</a:t>
            </a:r>
            <a:endParaRPr lang="en-US" b="1" dirty="0"/>
          </a:p>
          <a:p>
            <a:r>
              <a:rPr lang="en-US" dirty="0" err="1"/>
              <a:t>Dinamica</a:t>
            </a:r>
            <a:r>
              <a:rPr lang="en-US" dirty="0"/>
              <a:t> </a:t>
            </a:r>
            <a:r>
              <a:rPr lang="en-US" dirty="0" err="1"/>
              <a:t>trebuintei</a:t>
            </a:r>
            <a:r>
              <a:rPr lang="en-US" dirty="0"/>
              <a:t> de </a:t>
            </a:r>
            <a:r>
              <a:rPr lang="en-US" dirty="0" err="1"/>
              <a:t>hrana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trebuintele</a:t>
            </a:r>
            <a:r>
              <a:rPr lang="en-US" dirty="0"/>
              <a:t> </a:t>
            </a:r>
            <a:r>
              <a:rPr lang="en-US" dirty="0" err="1"/>
              <a:t>alimentare:initial</a:t>
            </a:r>
            <a:r>
              <a:rPr lang="en-US" dirty="0"/>
              <a:t> </a:t>
            </a:r>
            <a:r>
              <a:rPr lang="en-US" dirty="0" err="1"/>
              <a:t>senzatia</a:t>
            </a:r>
            <a:r>
              <a:rPr lang="en-US" dirty="0"/>
              <a:t> de </a:t>
            </a:r>
            <a:r>
              <a:rPr lang="en-US" dirty="0" err="1"/>
              <a:t>foame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</a:t>
            </a:r>
            <a:r>
              <a:rPr lang="en-US" dirty="0" err="1"/>
              <a:t>generala</a:t>
            </a:r>
            <a:r>
              <a:rPr lang="en-US" dirty="0"/>
              <a:t> a </a:t>
            </a:r>
            <a:r>
              <a:rPr lang="en-US" dirty="0" err="1"/>
              <a:t>acuitatii</a:t>
            </a:r>
            <a:r>
              <a:rPr lang="en-US" dirty="0"/>
              <a:t> </a:t>
            </a:r>
            <a:r>
              <a:rPr lang="en-US" dirty="0" err="1"/>
              <a:t>gustative;nesatisfacerea</a:t>
            </a:r>
            <a:r>
              <a:rPr lang="en-US" dirty="0"/>
              <a:t> </a:t>
            </a:r>
            <a:r>
              <a:rPr lang="en-US" dirty="0" err="1"/>
              <a:t>alimentara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scadere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pt </a:t>
            </a:r>
            <a:r>
              <a:rPr lang="en-US" dirty="0" err="1"/>
              <a:t>dulce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sarat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pt </a:t>
            </a:r>
            <a:r>
              <a:rPr lang="en-US" dirty="0" err="1"/>
              <a:t>amar</a:t>
            </a:r>
            <a:endParaRPr lang="en-US" dirty="0"/>
          </a:p>
          <a:p>
            <a:r>
              <a:rPr lang="en-US" dirty="0" err="1"/>
              <a:t>Tonalitatea</a:t>
            </a:r>
            <a:r>
              <a:rPr lang="en-US" dirty="0"/>
              <a:t> </a:t>
            </a:r>
            <a:r>
              <a:rPr lang="en-US" dirty="0" err="1"/>
              <a:t>afectiva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perceptiv-gustativa:gustul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mirosul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puternic</a:t>
            </a:r>
            <a:r>
              <a:rPr lang="en-US" dirty="0"/>
              <a:t> </a:t>
            </a:r>
            <a:r>
              <a:rPr lang="en-US" dirty="0" err="1"/>
              <a:t>incarcate</a:t>
            </a:r>
            <a:r>
              <a:rPr lang="en-US" dirty="0"/>
              <a:t> </a:t>
            </a:r>
            <a:r>
              <a:rPr lang="en-US" dirty="0" err="1"/>
              <a:t>afectiv</a:t>
            </a:r>
            <a:r>
              <a:rPr lang="en-US" dirty="0"/>
              <a:t>, la </a:t>
            </a:r>
            <a:r>
              <a:rPr lang="en-US" dirty="0" err="1"/>
              <a:t>aceasta</a:t>
            </a:r>
            <a:r>
              <a:rPr lang="en-US" dirty="0"/>
              <a:t> se </a:t>
            </a:r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perceptiv</a:t>
            </a:r>
            <a:r>
              <a:rPr lang="en-US" dirty="0"/>
              <a:t>-</a:t>
            </a:r>
            <a:r>
              <a:rPr lang="en-US" dirty="0" err="1"/>
              <a:t>gustativa</a:t>
            </a:r>
            <a:r>
              <a:rPr lang="en-US" dirty="0"/>
              <a:t> </a:t>
            </a:r>
            <a:r>
              <a:rPr lang="en-US" dirty="0" err="1"/>
              <a:t>dobandita</a:t>
            </a:r>
            <a:r>
              <a:rPr lang="en-US" dirty="0"/>
              <a:t> in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imprejurari</a:t>
            </a:r>
            <a:r>
              <a:rPr lang="en-US" dirty="0"/>
              <a:t>.-&gt;o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puternica</a:t>
            </a:r>
            <a:r>
              <a:rPr lang="en-US" dirty="0"/>
              <a:t> </a:t>
            </a:r>
            <a:r>
              <a:rPr lang="en-US" dirty="0" err="1"/>
              <a:t>negativa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provoace</a:t>
            </a:r>
            <a:r>
              <a:rPr lang="en-US" dirty="0"/>
              <a:t> </a:t>
            </a:r>
            <a:r>
              <a:rPr lang="en-US" dirty="0" err="1"/>
              <a:t>repulsie</a:t>
            </a:r>
            <a:r>
              <a:rPr lang="en-US" dirty="0"/>
              <a:t> pt un aliment; o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pozitiva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provoca</a:t>
            </a:r>
            <a:r>
              <a:rPr lang="en-US" dirty="0"/>
              <a:t> </a:t>
            </a:r>
            <a:r>
              <a:rPr lang="en-US" dirty="0" err="1"/>
              <a:t>mentinerea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apetit</a:t>
            </a:r>
            <a:r>
              <a:rPr lang="en-US" dirty="0"/>
              <a:t> pt o </a:t>
            </a:r>
            <a:r>
              <a:rPr lang="en-US" dirty="0" err="1"/>
              <a:t>lunga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de </a:t>
            </a:r>
            <a:r>
              <a:rPr lang="en-US" dirty="0" err="1"/>
              <a:t>timp</a:t>
            </a:r>
            <a:endParaRPr lang="en-US" dirty="0"/>
          </a:p>
          <a:p>
            <a:r>
              <a:rPr lang="en-US" dirty="0" err="1"/>
              <a:t>Modificarile</a:t>
            </a:r>
            <a:r>
              <a:rPr lang="en-US" dirty="0"/>
              <a:t> in </a:t>
            </a:r>
            <a:r>
              <a:rPr lang="en-US" dirty="0" err="1"/>
              <a:t>compozitia</a:t>
            </a:r>
            <a:r>
              <a:rPr lang="en-US" dirty="0"/>
              <a:t> </a:t>
            </a:r>
            <a:r>
              <a:rPr lang="en-US" dirty="0" err="1"/>
              <a:t>sangelui</a:t>
            </a:r>
            <a:r>
              <a:rPr lang="en-US" dirty="0"/>
              <a:t> : </a:t>
            </a:r>
            <a:r>
              <a:rPr lang="en-US" dirty="0" err="1"/>
              <a:t>injectarea</a:t>
            </a:r>
            <a:r>
              <a:rPr lang="en-US" dirty="0"/>
              <a:t> </a:t>
            </a:r>
            <a:r>
              <a:rPr lang="en-US" dirty="0" err="1"/>
              <a:t>narcoticelor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</a:t>
            </a:r>
            <a:r>
              <a:rPr lang="en-US" dirty="0" err="1"/>
              <a:t>generala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gustative</a:t>
            </a:r>
          </a:p>
          <a:p>
            <a:r>
              <a:rPr lang="en-US" dirty="0" err="1"/>
              <a:t>Diminuarea</a:t>
            </a:r>
            <a:r>
              <a:rPr lang="en-US" dirty="0"/>
              <a:t> </a:t>
            </a:r>
            <a:r>
              <a:rPr lang="en-US" dirty="0" err="1"/>
              <a:t>proportiilor</a:t>
            </a:r>
            <a:r>
              <a:rPr lang="en-US" dirty="0"/>
              <a:t> </a:t>
            </a:r>
            <a:r>
              <a:rPr lang="en-US" dirty="0" err="1"/>
              <a:t>diferitelor</a:t>
            </a:r>
            <a:r>
              <a:rPr lang="en-US" dirty="0"/>
              <a:t> </a:t>
            </a:r>
            <a:r>
              <a:rPr lang="en-US" dirty="0" err="1"/>
              <a:t>substante</a:t>
            </a:r>
            <a:r>
              <a:rPr lang="en-US" dirty="0"/>
              <a:t> in organism : </a:t>
            </a:r>
            <a:r>
              <a:rPr lang="en-US" dirty="0" err="1"/>
              <a:t>scad</a:t>
            </a:r>
            <a:r>
              <a:rPr lang="en-US" dirty="0"/>
              <a:t> </a:t>
            </a:r>
            <a:r>
              <a:rPr lang="en-US" dirty="0" err="1"/>
              <a:t>pragul</a:t>
            </a:r>
            <a:r>
              <a:rPr lang="en-US" dirty="0"/>
              <a:t> </a:t>
            </a:r>
            <a:r>
              <a:rPr lang="en-US" dirty="0" err="1"/>
              <a:t>senzorial</a:t>
            </a:r>
            <a:r>
              <a:rPr lang="en-US" dirty="0"/>
              <a:t>.</a:t>
            </a:r>
          </a:p>
          <a:p>
            <a:r>
              <a:rPr lang="en-US" dirty="0" err="1"/>
              <a:t>Invatarea,antrenamentul</a:t>
            </a:r>
            <a:r>
              <a:rPr lang="en-US" dirty="0"/>
              <a:t> la </a:t>
            </a:r>
            <a:r>
              <a:rPr lang="en-US" dirty="0" err="1"/>
              <a:t>degustator</a:t>
            </a:r>
            <a:r>
              <a:rPr lang="en-US" dirty="0"/>
              <a:t>  conduce la </a:t>
            </a:r>
            <a:r>
              <a:rPr lang="en-US" dirty="0" err="1"/>
              <a:t>perfectionarea</a:t>
            </a:r>
            <a:r>
              <a:rPr lang="en-US" dirty="0"/>
              <a:t> </a:t>
            </a:r>
            <a:r>
              <a:rPr lang="en-US" dirty="0" err="1"/>
              <a:t>capacitatilor</a:t>
            </a:r>
            <a:r>
              <a:rPr lang="en-US" dirty="0"/>
              <a:t> gustative in </a:t>
            </a:r>
            <a:r>
              <a:rPr lang="en-US" dirty="0" err="1"/>
              <a:t>sensul</a:t>
            </a:r>
            <a:r>
              <a:rPr lang="en-US" dirty="0"/>
              <a:t> </a:t>
            </a:r>
            <a:r>
              <a:rPr lang="en-US" dirty="0" err="1"/>
              <a:t>scaderii</a:t>
            </a:r>
            <a:r>
              <a:rPr lang="en-US" dirty="0"/>
              <a:t> </a:t>
            </a:r>
            <a:r>
              <a:rPr lang="en-US" dirty="0" err="1"/>
              <a:t>pragurilor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cresterii</a:t>
            </a:r>
            <a:r>
              <a:rPr lang="en-US" dirty="0"/>
              <a:t> </a:t>
            </a:r>
            <a:r>
              <a:rPr lang="en-US" dirty="0" err="1"/>
              <a:t>abilitatilor</a:t>
            </a:r>
            <a:r>
              <a:rPr lang="en-US" dirty="0"/>
              <a:t> de </a:t>
            </a:r>
            <a:r>
              <a:rPr lang="en-US" dirty="0" err="1"/>
              <a:t>discriminare</a:t>
            </a:r>
            <a:r>
              <a:rPr lang="en-US" dirty="0"/>
              <a:t>, de </a:t>
            </a:r>
            <a:r>
              <a:rPr lang="en-US" dirty="0" err="1"/>
              <a:t>diferentiere</a:t>
            </a:r>
            <a:r>
              <a:rPr lang="en-US" dirty="0"/>
              <a:t> </a:t>
            </a:r>
            <a:r>
              <a:rPr lang="en-US" dirty="0" err="1"/>
              <a:t>gustativa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maladii,mai</a:t>
            </a:r>
            <a:r>
              <a:rPr lang="en-US" dirty="0"/>
              <a:t> ales in </a:t>
            </a:r>
            <a:r>
              <a:rPr lang="en-US" dirty="0" err="1"/>
              <a:t>tuberculoza</a:t>
            </a:r>
            <a:r>
              <a:rPr lang="en-US" dirty="0"/>
              <a:t>, in </a:t>
            </a:r>
            <a:r>
              <a:rPr lang="en-US" dirty="0" err="1"/>
              <a:t>faza</a:t>
            </a:r>
            <a:r>
              <a:rPr lang="en-US" dirty="0"/>
              <a:t> </a:t>
            </a:r>
            <a:r>
              <a:rPr lang="en-US" dirty="0" err="1"/>
              <a:t>incipienta</a:t>
            </a:r>
            <a:r>
              <a:rPr lang="en-US" dirty="0"/>
              <a:t> a </a:t>
            </a:r>
            <a:r>
              <a:rPr lang="en-US" dirty="0" err="1"/>
              <a:t>bollii</a:t>
            </a:r>
            <a:r>
              <a:rPr lang="en-US" dirty="0"/>
              <a:t> se </a:t>
            </a:r>
            <a:r>
              <a:rPr lang="en-US" dirty="0" err="1"/>
              <a:t>constata</a:t>
            </a:r>
            <a:r>
              <a:rPr lang="en-US" dirty="0"/>
              <a:t> initial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urmata</a:t>
            </a:r>
            <a:r>
              <a:rPr lang="en-US" dirty="0"/>
              <a:t> de </a:t>
            </a:r>
            <a:r>
              <a:rPr lang="en-US" dirty="0" err="1"/>
              <a:t>denaturari</a:t>
            </a:r>
            <a:r>
              <a:rPr lang="en-US" dirty="0"/>
              <a:t> </a:t>
            </a:r>
            <a:r>
              <a:rPr lang="en-US" dirty="0" err="1"/>
              <a:t>oscilate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o </a:t>
            </a:r>
            <a:r>
              <a:rPr lang="en-US" dirty="0" err="1"/>
              <a:t>scadere</a:t>
            </a:r>
            <a:r>
              <a:rPr lang="en-US" dirty="0"/>
              <a:t> </a:t>
            </a:r>
            <a:r>
              <a:rPr lang="en-US" dirty="0" err="1"/>
              <a:t>considerabila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gustative.In</a:t>
            </a:r>
            <a:r>
              <a:rPr lang="en-US" dirty="0"/>
              <a:t> </a:t>
            </a:r>
            <a:r>
              <a:rPr lang="en-US" dirty="0" err="1"/>
              <a:t>starile</a:t>
            </a:r>
            <a:r>
              <a:rPr lang="en-US" dirty="0"/>
              <a:t> </a:t>
            </a:r>
            <a:r>
              <a:rPr lang="en-US" dirty="0" err="1"/>
              <a:t>gripale</a:t>
            </a:r>
            <a:r>
              <a:rPr lang="en-US" dirty="0"/>
              <a:t> se </a:t>
            </a:r>
            <a:r>
              <a:rPr lang="en-US" dirty="0" err="1"/>
              <a:t>produc</a:t>
            </a:r>
            <a:r>
              <a:rPr lang="en-US" dirty="0"/>
              <a:t> </a:t>
            </a:r>
            <a:r>
              <a:rPr lang="en-US" dirty="0" err="1"/>
              <a:t>denaturari</a:t>
            </a:r>
            <a:r>
              <a:rPr lang="en-US" dirty="0"/>
              <a:t> ale </a:t>
            </a:r>
            <a:r>
              <a:rPr lang="en-US" dirty="0" err="1"/>
              <a:t>gustului.In</a:t>
            </a:r>
            <a:r>
              <a:rPr lang="en-US" dirty="0"/>
              <a:t> </a:t>
            </a:r>
            <a:r>
              <a:rPr lang="en-US" dirty="0" err="1"/>
              <a:t>afectiuni</a:t>
            </a:r>
            <a:r>
              <a:rPr lang="en-US" dirty="0"/>
              <a:t> ale SN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afectiuni</a:t>
            </a:r>
            <a:r>
              <a:rPr lang="en-US" dirty="0"/>
              <a:t> </a:t>
            </a:r>
            <a:r>
              <a:rPr lang="en-US" dirty="0" err="1"/>
              <a:t>psihice</a:t>
            </a:r>
            <a:r>
              <a:rPr lang="en-US" dirty="0"/>
              <a:t> (</a:t>
            </a:r>
            <a:r>
              <a:rPr lang="en-US" dirty="0" err="1"/>
              <a:t>traumatisme,tumori,epilepsie,paralizie</a:t>
            </a:r>
            <a:r>
              <a:rPr lang="en-US" dirty="0"/>
              <a:t> </a:t>
            </a:r>
            <a:r>
              <a:rPr lang="en-US" dirty="0" err="1"/>
              <a:t>progresiva,isterie,neurastenie</a:t>
            </a:r>
            <a:r>
              <a:rPr lang="en-US" dirty="0"/>
              <a:t>) se </a:t>
            </a:r>
            <a:r>
              <a:rPr lang="en-US" dirty="0" err="1"/>
              <a:t>constata</a:t>
            </a:r>
            <a:r>
              <a:rPr lang="en-US" dirty="0"/>
              <a:t> o </a:t>
            </a:r>
            <a:r>
              <a:rPr lang="en-US" dirty="0" err="1"/>
              <a:t>scadere</a:t>
            </a:r>
            <a:r>
              <a:rPr lang="en-US" dirty="0"/>
              <a:t> a </a:t>
            </a:r>
            <a:r>
              <a:rPr lang="en-US" dirty="0" err="1"/>
              <a:t>s.gustative</a:t>
            </a:r>
            <a:r>
              <a:rPr lang="en-US" dirty="0"/>
              <a:t> </a:t>
            </a:r>
            <a:r>
              <a:rPr lang="en-US" dirty="0" err="1"/>
              <a:t>mergand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halucinatii</a:t>
            </a:r>
            <a:r>
              <a:rPr lang="en-US" dirty="0"/>
              <a:t> gustative.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/>
              <a:t>Senzatiile</a:t>
            </a:r>
            <a:r>
              <a:rPr lang="en-US" dirty="0"/>
              <a:t> </a:t>
            </a:r>
            <a:r>
              <a:rPr lang="en-US" dirty="0" err="1"/>
              <a:t>olfactive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/>
          <a:lstStyle/>
          <a:p>
            <a:r>
              <a:rPr lang="en-US" dirty="0" err="1"/>
              <a:t>Mirosul-simt</a:t>
            </a:r>
            <a:r>
              <a:rPr lang="en-US" dirty="0"/>
              <a:t> </a:t>
            </a:r>
            <a:r>
              <a:rPr lang="en-US" dirty="0" err="1"/>
              <a:t>chimic</a:t>
            </a:r>
            <a:r>
              <a:rPr lang="en-US" dirty="0"/>
              <a:t>.</a:t>
            </a:r>
          </a:p>
          <a:p>
            <a:r>
              <a:rPr lang="en-US" dirty="0" err="1"/>
              <a:t>Moleculele</a:t>
            </a:r>
            <a:r>
              <a:rPr lang="en-US" dirty="0"/>
              <a:t> </a:t>
            </a:r>
            <a:r>
              <a:rPr lang="en-US" dirty="0" err="1"/>
              <a:t>odorifice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suficient</a:t>
            </a:r>
            <a:r>
              <a:rPr lang="en-US" dirty="0"/>
              <a:t> de </a:t>
            </a:r>
            <a:r>
              <a:rPr lang="en-US" dirty="0" err="1"/>
              <a:t>mici</a:t>
            </a:r>
            <a:r>
              <a:rPr lang="en-US" dirty="0"/>
              <a:t> pt a </a:t>
            </a:r>
            <a:r>
              <a:rPr lang="en-US" dirty="0" err="1"/>
              <a:t>fi</a:t>
            </a:r>
            <a:r>
              <a:rPr lang="en-US" dirty="0"/>
              <a:t> volatile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evaporare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ajunga</a:t>
            </a:r>
            <a:r>
              <a:rPr lang="en-US" dirty="0"/>
              <a:t>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narilor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dizolve</a:t>
            </a:r>
            <a:r>
              <a:rPr lang="en-US" dirty="0"/>
              <a:t> in </a:t>
            </a:r>
            <a:r>
              <a:rPr lang="en-US" dirty="0" err="1"/>
              <a:t>mucoasa</a:t>
            </a:r>
            <a:r>
              <a:rPr lang="en-US" dirty="0"/>
              <a:t> </a:t>
            </a:r>
            <a:r>
              <a:rPr lang="en-US" dirty="0" err="1"/>
              <a:t>nazala</a:t>
            </a:r>
            <a:endParaRPr lang="en-US" dirty="0"/>
          </a:p>
          <a:p>
            <a:r>
              <a:rPr lang="en-US" dirty="0" err="1"/>
              <a:t>Mirosul</a:t>
            </a:r>
            <a:r>
              <a:rPr lang="en-US" dirty="0"/>
              <a:t> ne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avertiza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diferitelor</a:t>
            </a:r>
            <a:r>
              <a:rPr lang="en-US" dirty="0"/>
              <a:t> </a:t>
            </a:r>
            <a:r>
              <a:rPr lang="en-US" dirty="0" err="1"/>
              <a:t>pericole</a:t>
            </a:r>
            <a:endParaRPr lang="en-US" dirty="0"/>
          </a:p>
          <a:p>
            <a:r>
              <a:rPr lang="en-US" dirty="0" err="1"/>
              <a:t>Mirosurile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detectate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celule</a:t>
            </a:r>
            <a:r>
              <a:rPr lang="en-US" dirty="0"/>
              <a:t> </a:t>
            </a:r>
            <a:r>
              <a:rPr lang="en-US" dirty="0" err="1"/>
              <a:t>receptoare</a:t>
            </a:r>
            <a:r>
              <a:rPr lang="en-US" dirty="0"/>
              <a:t> </a:t>
            </a:r>
            <a:r>
              <a:rPr lang="en-US" dirty="0" err="1"/>
              <a:t>amplasate</a:t>
            </a:r>
            <a:r>
              <a:rPr lang="en-US" dirty="0"/>
              <a:t> in </a:t>
            </a:r>
            <a:r>
              <a:rPr lang="en-US" dirty="0" err="1"/>
              <a:t>epiteliul</a:t>
            </a:r>
            <a:r>
              <a:rPr lang="en-US" dirty="0"/>
              <a:t> </a:t>
            </a:r>
            <a:r>
              <a:rPr lang="en-US" dirty="0" err="1"/>
              <a:t>olfactiv.In</a:t>
            </a:r>
            <a:r>
              <a:rPr lang="en-US" dirty="0"/>
              <a:t>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fiecarei</a:t>
            </a:r>
            <a:r>
              <a:rPr lang="en-US" dirty="0"/>
              <a:t> </a:t>
            </a:r>
            <a:r>
              <a:rPr lang="en-US" dirty="0" err="1"/>
              <a:t>nari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superioara</a:t>
            </a:r>
            <a:r>
              <a:rPr lang="en-US" dirty="0"/>
              <a:t> a </a:t>
            </a:r>
            <a:r>
              <a:rPr lang="en-US" dirty="0" err="1"/>
              <a:t>acesteia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mucoasa</a:t>
            </a:r>
            <a:r>
              <a:rPr lang="en-US" dirty="0"/>
              <a:t> </a:t>
            </a:r>
            <a:r>
              <a:rPr lang="en-US" dirty="0" err="1"/>
              <a:t>nazala</a:t>
            </a:r>
            <a:r>
              <a:rPr lang="en-US" dirty="0"/>
              <a:t> care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epiteliul</a:t>
            </a:r>
            <a:r>
              <a:rPr lang="en-US" dirty="0"/>
              <a:t> </a:t>
            </a:r>
            <a:r>
              <a:rPr lang="en-US" dirty="0" err="1"/>
              <a:t>olfactiv</a:t>
            </a:r>
            <a:r>
              <a:rPr lang="en-US" dirty="0"/>
              <a:t> </a:t>
            </a:r>
            <a:r>
              <a:rPr lang="en-US" dirty="0" err="1"/>
              <a:t>acoperit</a:t>
            </a:r>
            <a:r>
              <a:rPr lang="en-US" dirty="0"/>
              <a:t> de mucus.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err="1"/>
              <a:t>Factori</a:t>
            </a:r>
            <a:r>
              <a:rPr lang="en-US" sz="1600" dirty="0"/>
              <a:t> care </a:t>
            </a:r>
            <a:r>
              <a:rPr lang="en-US" sz="1600" dirty="0" err="1"/>
              <a:t>influenteaza</a:t>
            </a:r>
            <a:r>
              <a:rPr lang="en-US" sz="1600" dirty="0"/>
              <a:t> </a:t>
            </a:r>
            <a:r>
              <a:rPr lang="en-US" sz="1600" dirty="0" err="1"/>
              <a:t>dinamica</a:t>
            </a:r>
            <a:r>
              <a:rPr lang="en-US" sz="1600" dirty="0"/>
              <a:t> </a:t>
            </a:r>
            <a:r>
              <a:rPr lang="en-US" sz="1600" dirty="0" err="1"/>
              <a:t>sensibilitatii</a:t>
            </a:r>
            <a:r>
              <a:rPr lang="en-US" sz="1600" dirty="0"/>
              <a:t> </a:t>
            </a:r>
            <a:r>
              <a:rPr lang="en-US" sz="1600" dirty="0" err="1"/>
              <a:t>olfactive</a:t>
            </a:r>
            <a:r>
              <a:rPr lang="en-US" sz="1600" dirty="0"/>
              <a:t>:</a:t>
            </a:r>
          </a:p>
          <a:p>
            <a:r>
              <a:rPr lang="en-US" sz="1600" dirty="0" err="1"/>
              <a:t>Dominanta</a:t>
            </a:r>
            <a:r>
              <a:rPr lang="en-US" sz="1600" dirty="0"/>
              <a:t> </a:t>
            </a:r>
            <a:r>
              <a:rPr lang="en-US" sz="1600" dirty="0" err="1"/>
              <a:t>cerebrala-nazala:la</a:t>
            </a:r>
            <a:r>
              <a:rPr lang="en-US" sz="1600" dirty="0"/>
              <a:t> </a:t>
            </a:r>
            <a:r>
              <a:rPr lang="en-US" sz="1600" dirty="0" err="1"/>
              <a:t>stangaci</a:t>
            </a:r>
            <a:r>
              <a:rPr lang="en-US" sz="1600" dirty="0"/>
              <a:t> </a:t>
            </a:r>
            <a:r>
              <a:rPr lang="en-US" sz="1600" dirty="0" err="1"/>
              <a:t>nara</a:t>
            </a:r>
            <a:r>
              <a:rPr lang="en-US" sz="1600" dirty="0"/>
              <a:t> </a:t>
            </a:r>
            <a:r>
              <a:rPr lang="en-US" sz="1600" dirty="0" err="1"/>
              <a:t>dreapta</a:t>
            </a:r>
            <a:r>
              <a:rPr lang="en-US" sz="1600" dirty="0"/>
              <a:t> are </a:t>
            </a:r>
            <a:r>
              <a:rPr lang="en-US" sz="1600" dirty="0" err="1"/>
              <a:t>rolul</a:t>
            </a:r>
            <a:r>
              <a:rPr lang="en-US" sz="1600" dirty="0"/>
              <a:t> dominant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invers</a:t>
            </a:r>
            <a:endParaRPr lang="en-US" sz="1600" dirty="0"/>
          </a:p>
          <a:p>
            <a:r>
              <a:rPr lang="en-US" sz="1600" dirty="0" err="1"/>
              <a:t>Diferentele</a:t>
            </a:r>
            <a:r>
              <a:rPr lang="en-US" sz="1600" dirty="0"/>
              <a:t> de </a:t>
            </a:r>
            <a:r>
              <a:rPr lang="en-US" sz="1600" dirty="0" err="1"/>
              <a:t>sex:sensibilitatea</a:t>
            </a:r>
            <a:r>
              <a:rPr lang="en-US" sz="1600" dirty="0"/>
              <a:t> </a:t>
            </a:r>
            <a:r>
              <a:rPr lang="en-US" sz="1600" dirty="0" err="1"/>
              <a:t>olfactiva</a:t>
            </a:r>
            <a:r>
              <a:rPr lang="en-US" sz="1600" dirty="0"/>
              <a:t> a </a:t>
            </a:r>
            <a:r>
              <a:rPr lang="en-US" sz="1600" dirty="0" err="1"/>
              <a:t>femeilor</a:t>
            </a:r>
            <a:r>
              <a:rPr lang="en-US" sz="1600" dirty="0"/>
              <a:t> </a:t>
            </a:r>
            <a:r>
              <a:rPr lang="en-US" sz="1600" dirty="0" err="1"/>
              <a:t>creste</a:t>
            </a:r>
            <a:r>
              <a:rPr lang="en-US" sz="1600" dirty="0"/>
              <a:t> in </a:t>
            </a:r>
            <a:r>
              <a:rPr lang="en-US" sz="1600" dirty="0" err="1"/>
              <a:t>timpul</a:t>
            </a:r>
            <a:r>
              <a:rPr lang="en-US" sz="1600" dirty="0"/>
              <a:t> </a:t>
            </a:r>
            <a:r>
              <a:rPr lang="en-US" sz="1600" dirty="0" err="1"/>
              <a:t>menstruatiei.Diferentierile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baza</a:t>
            </a:r>
            <a:r>
              <a:rPr lang="en-US" sz="1600" dirty="0"/>
              <a:t> de sex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evidente</a:t>
            </a:r>
            <a:r>
              <a:rPr lang="en-US" sz="1600" dirty="0"/>
              <a:t> </a:t>
            </a:r>
            <a:r>
              <a:rPr lang="en-US" sz="1600" dirty="0" err="1"/>
              <a:t>numai</a:t>
            </a:r>
            <a:r>
              <a:rPr lang="en-US" sz="1600" dirty="0"/>
              <a:t> </a:t>
            </a:r>
            <a:r>
              <a:rPr lang="en-US" sz="1600" dirty="0" err="1"/>
              <a:t>dupa</a:t>
            </a:r>
            <a:r>
              <a:rPr lang="en-US" sz="1600" dirty="0"/>
              <a:t> </a:t>
            </a:r>
            <a:r>
              <a:rPr lang="en-US" sz="1600" dirty="0" err="1"/>
              <a:t>pubertate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pana</a:t>
            </a:r>
            <a:r>
              <a:rPr lang="en-US" sz="1600" dirty="0"/>
              <a:t> la </a:t>
            </a:r>
            <a:r>
              <a:rPr lang="en-US" sz="1600" dirty="0" err="1"/>
              <a:t>menopauza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Relatia</a:t>
            </a:r>
            <a:r>
              <a:rPr lang="en-US" sz="1600" dirty="0"/>
              <a:t> mama-</a:t>
            </a:r>
            <a:r>
              <a:rPr lang="en-US" sz="1600" dirty="0" err="1"/>
              <a:t>copil:la</a:t>
            </a:r>
            <a:r>
              <a:rPr lang="en-US" sz="1600" dirty="0"/>
              <a:t> 6 </a:t>
            </a:r>
            <a:r>
              <a:rPr lang="en-US" sz="1600" dirty="0" err="1"/>
              <a:t>zile</a:t>
            </a:r>
            <a:r>
              <a:rPr lang="en-US" sz="1600" dirty="0"/>
              <a:t> </a:t>
            </a:r>
            <a:r>
              <a:rPr lang="en-US" sz="1600" dirty="0" err="1"/>
              <a:t>bebelusii</a:t>
            </a:r>
            <a:r>
              <a:rPr lang="en-US" sz="1600" dirty="0"/>
              <a:t> </a:t>
            </a:r>
            <a:r>
              <a:rPr lang="en-US" sz="1600" dirty="0" err="1"/>
              <a:t>recunosc</a:t>
            </a:r>
            <a:r>
              <a:rPr lang="en-US" sz="1600" dirty="0"/>
              <a:t>  </a:t>
            </a:r>
            <a:r>
              <a:rPr lang="en-US" sz="1600" dirty="0" err="1"/>
              <a:t>mirosul</a:t>
            </a:r>
            <a:r>
              <a:rPr lang="en-US" sz="1600" dirty="0"/>
              <a:t> </a:t>
            </a:r>
            <a:r>
              <a:rPr lang="en-US" sz="1600" dirty="0" err="1"/>
              <a:t>laptelui</a:t>
            </a:r>
            <a:r>
              <a:rPr lang="en-US" sz="1600" dirty="0"/>
              <a:t> </a:t>
            </a:r>
            <a:r>
              <a:rPr lang="en-US" sz="1600" dirty="0" err="1"/>
              <a:t>matern;la</a:t>
            </a:r>
            <a:r>
              <a:rPr lang="en-US" sz="1600" dirty="0"/>
              <a:t> 2-3 </a:t>
            </a:r>
            <a:r>
              <a:rPr lang="en-US" sz="1600" dirty="0" err="1"/>
              <a:t>ani</a:t>
            </a:r>
            <a:r>
              <a:rPr lang="en-US" sz="1600" dirty="0"/>
              <a:t> 70%recunosc </a:t>
            </a:r>
            <a:r>
              <a:rPr lang="en-US" sz="1600" dirty="0" err="1"/>
              <a:t>mirosul</a:t>
            </a:r>
            <a:r>
              <a:rPr lang="en-US" sz="1600" dirty="0"/>
              <a:t> </a:t>
            </a:r>
            <a:r>
              <a:rPr lang="en-US" sz="1600" dirty="0" err="1"/>
              <a:t>matern</a:t>
            </a:r>
            <a:r>
              <a:rPr lang="en-US" sz="1600" dirty="0"/>
              <a:t> </a:t>
            </a:r>
            <a:r>
              <a:rPr lang="en-US" sz="1600" dirty="0" err="1"/>
              <a:t>iar</a:t>
            </a:r>
            <a:r>
              <a:rPr lang="en-US" sz="1600" dirty="0"/>
              <a:t> la 3-4 </a:t>
            </a:r>
            <a:r>
              <a:rPr lang="en-US" sz="1600" dirty="0" err="1"/>
              <a:t>ani</a:t>
            </a:r>
            <a:r>
              <a:rPr lang="en-US" sz="1600" dirty="0"/>
              <a:t> 50%.</a:t>
            </a:r>
          </a:p>
          <a:p>
            <a:r>
              <a:rPr lang="en-US" sz="1600" dirty="0" err="1"/>
              <a:t>Specificitatea</a:t>
            </a:r>
            <a:r>
              <a:rPr lang="en-US" sz="1600" dirty="0"/>
              <a:t> </a:t>
            </a:r>
            <a:r>
              <a:rPr lang="en-US" sz="1600" dirty="0" err="1"/>
              <a:t>mirosului</a:t>
            </a:r>
            <a:r>
              <a:rPr lang="en-US" sz="1600" dirty="0"/>
              <a:t> </a:t>
            </a:r>
            <a:r>
              <a:rPr lang="en-US" sz="1600" dirty="0" err="1"/>
              <a:t>personal:fiecare</a:t>
            </a:r>
            <a:r>
              <a:rPr lang="en-US" sz="1600" dirty="0"/>
              <a:t> </a:t>
            </a:r>
            <a:r>
              <a:rPr lang="en-US" sz="1600" dirty="0" err="1"/>
              <a:t>persoana</a:t>
            </a:r>
            <a:r>
              <a:rPr lang="en-US" sz="1600" dirty="0"/>
              <a:t> </a:t>
            </a:r>
            <a:r>
              <a:rPr lang="en-US" sz="1600" dirty="0" err="1"/>
              <a:t>prezinta</a:t>
            </a:r>
            <a:r>
              <a:rPr lang="en-US" sz="1600" dirty="0"/>
              <a:t> o </a:t>
            </a:r>
            <a:r>
              <a:rPr lang="en-US" sz="1600" dirty="0" err="1"/>
              <a:t>amprenta</a:t>
            </a:r>
            <a:r>
              <a:rPr lang="en-US" sz="1600" dirty="0"/>
              <a:t> </a:t>
            </a:r>
            <a:r>
              <a:rPr lang="en-US" sz="1600" dirty="0" err="1"/>
              <a:t>osmica</a:t>
            </a:r>
            <a:r>
              <a:rPr lang="en-US" sz="1600" dirty="0"/>
              <a:t> </a:t>
            </a:r>
            <a:r>
              <a:rPr lang="en-US" sz="1600" dirty="0" err="1"/>
              <a:t>proprie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Varsta:sensibilitatea</a:t>
            </a:r>
            <a:r>
              <a:rPr lang="en-US" sz="1600" dirty="0"/>
              <a:t> </a:t>
            </a:r>
            <a:r>
              <a:rPr lang="en-US" sz="1600" dirty="0" err="1"/>
              <a:t>olfactiva</a:t>
            </a:r>
            <a:r>
              <a:rPr lang="en-US" sz="1600" dirty="0"/>
              <a:t> </a:t>
            </a:r>
            <a:r>
              <a:rPr lang="en-US" sz="1600" dirty="0" err="1"/>
              <a:t>creste</a:t>
            </a:r>
            <a:r>
              <a:rPr lang="en-US" sz="1600" dirty="0"/>
              <a:t> </a:t>
            </a:r>
            <a:r>
              <a:rPr lang="en-US" sz="1600" dirty="0" err="1"/>
              <a:t>incepand</a:t>
            </a:r>
            <a:r>
              <a:rPr lang="en-US" sz="1600" dirty="0"/>
              <a:t> cu 6 </a:t>
            </a:r>
            <a:r>
              <a:rPr lang="en-US" sz="1600" dirty="0" err="1"/>
              <a:t>ani</a:t>
            </a:r>
            <a:r>
              <a:rPr lang="en-US" sz="1600" dirty="0"/>
              <a:t> </a:t>
            </a:r>
            <a:r>
              <a:rPr lang="en-US" sz="1600" dirty="0" err="1"/>
              <a:t>pana</a:t>
            </a:r>
            <a:r>
              <a:rPr lang="en-US" sz="1600" dirty="0"/>
              <a:t> la 18-20 </a:t>
            </a:r>
            <a:r>
              <a:rPr lang="en-US" sz="1600" dirty="0" err="1"/>
              <a:t>ani;spre</a:t>
            </a:r>
            <a:r>
              <a:rPr lang="en-US" sz="1600" dirty="0"/>
              <a:t> </a:t>
            </a:r>
            <a:r>
              <a:rPr lang="en-US" sz="1600" dirty="0" err="1"/>
              <a:t>batranete</a:t>
            </a:r>
            <a:r>
              <a:rPr lang="en-US" sz="1600" dirty="0"/>
              <a:t> </a:t>
            </a:r>
            <a:r>
              <a:rPr lang="en-US" sz="1600" dirty="0" err="1"/>
              <a:t>nivelul</a:t>
            </a:r>
            <a:r>
              <a:rPr lang="en-US" sz="1600" dirty="0"/>
              <a:t> </a:t>
            </a:r>
            <a:r>
              <a:rPr lang="en-US" sz="1600" dirty="0" err="1"/>
              <a:t>ei</a:t>
            </a:r>
            <a:r>
              <a:rPr lang="en-US" sz="1600" dirty="0"/>
              <a:t> </a:t>
            </a:r>
            <a:r>
              <a:rPr lang="en-US" sz="1600" dirty="0" err="1"/>
              <a:t>scade</a:t>
            </a:r>
            <a:r>
              <a:rPr lang="en-US" sz="1600" dirty="0"/>
              <a:t> </a:t>
            </a:r>
            <a:r>
              <a:rPr lang="en-US" sz="1600" dirty="0" err="1"/>
              <a:t>dar</a:t>
            </a:r>
            <a:r>
              <a:rPr lang="en-US" sz="1600" dirty="0"/>
              <a:t> se </a:t>
            </a:r>
            <a:r>
              <a:rPr lang="en-US" sz="1600" dirty="0" err="1"/>
              <a:t>conserva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bine</a:t>
            </a:r>
            <a:r>
              <a:rPr lang="en-US" sz="1600" dirty="0"/>
              <a:t> </a:t>
            </a:r>
            <a:r>
              <a:rPr lang="en-US" sz="1600" dirty="0" err="1"/>
              <a:t>decat</a:t>
            </a:r>
            <a:r>
              <a:rPr lang="en-US" sz="1600" dirty="0"/>
              <a:t> </a:t>
            </a:r>
            <a:r>
              <a:rPr lang="en-US" sz="1600" dirty="0" err="1"/>
              <a:t>vazul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auzul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Flamanzirea-scadere</a:t>
            </a:r>
            <a:r>
              <a:rPr lang="en-US" sz="1600" dirty="0"/>
              <a:t> a </a:t>
            </a:r>
            <a:r>
              <a:rPr lang="en-US" sz="1600" dirty="0" err="1"/>
              <a:t>s.olfactive</a:t>
            </a:r>
            <a:endParaRPr lang="en-US" sz="1600" dirty="0"/>
          </a:p>
          <a:p>
            <a:r>
              <a:rPr lang="en-US" sz="1600" dirty="0" err="1"/>
              <a:t>Bolile</a:t>
            </a:r>
            <a:r>
              <a:rPr lang="en-US" sz="1600" dirty="0"/>
              <a:t> SN(</a:t>
            </a:r>
            <a:r>
              <a:rPr lang="en-US" sz="1600" dirty="0" err="1"/>
              <a:t>infectiile,tumorile</a:t>
            </a:r>
            <a:r>
              <a:rPr lang="en-US" sz="1600" dirty="0"/>
              <a:t> </a:t>
            </a:r>
            <a:r>
              <a:rPr lang="en-US" sz="1600" dirty="0" err="1"/>
              <a:t>cerebrale,leziuni</a:t>
            </a:r>
            <a:r>
              <a:rPr lang="en-US" sz="1600" dirty="0"/>
              <a:t>)pot </a:t>
            </a:r>
            <a:r>
              <a:rPr lang="en-US" sz="1600" dirty="0" err="1"/>
              <a:t>afecta</a:t>
            </a:r>
            <a:r>
              <a:rPr lang="en-US" sz="1600" dirty="0"/>
              <a:t> </a:t>
            </a:r>
            <a:r>
              <a:rPr lang="en-US" sz="1600" dirty="0" err="1"/>
              <a:t>dinamica</a:t>
            </a:r>
            <a:r>
              <a:rPr lang="en-US" sz="1600" dirty="0"/>
              <a:t> </a:t>
            </a:r>
            <a:r>
              <a:rPr lang="en-US" sz="1600" dirty="0" err="1"/>
              <a:t>s.olfactive-crestere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scadere</a:t>
            </a:r>
            <a:endParaRPr lang="en-US" sz="1600" dirty="0"/>
          </a:p>
          <a:p>
            <a:r>
              <a:rPr lang="en-US" sz="1600" dirty="0" err="1"/>
              <a:t>Afectiunile</a:t>
            </a:r>
            <a:r>
              <a:rPr lang="en-US" sz="1600" dirty="0"/>
              <a:t> </a:t>
            </a:r>
            <a:r>
              <a:rPr lang="en-US" sz="1600" dirty="0" err="1"/>
              <a:t>respiratorii</a:t>
            </a:r>
            <a:r>
              <a:rPr lang="en-US" sz="1600" dirty="0"/>
              <a:t>(</a:t>
            </a:r>
            <a:r>
              <a:rPr lang="en-US" sz="1600" dirty="0" err="1"/>
              <a:t>gripa,guturaiul,virozele</a:t>
            </a:r>
            <a:r>
              <a:rPr lang="en-US" sz="1600" dirty="0"/>
              <a:t> </a:t>
            </a:r>
            <a:r>
              <a:rPr lang="en-US" sz="1600" dirty="0" err="1"/>
              <a:t>respiratorii</a:t>
            </a:r>
            <a:r>
              <a:rPr lang="en-US" sz="1600" dirty="0"/>
              <a:t>)-</a:t>
            </a:r>
            <a:r>
              <a:rPr lang="en-US" sz="1600" dirty="0" err="1"/>
              <a:t>scaderea</a:t>
            </a:r>
            <a:r>
              <a:rPr lang="en-US" sz="1600" dirty="0"/>
              <a:t>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chiar</a:t>
            </a:r>
            <a:r>
              <a:rPr lang="en-US" sz="1600" dirty="0"/>
              <a:t> </a:t>
            </a:r>
            <a:r>
              <a:rPr lang="en-US" sz="1600" dirty="0" err="1"/>
              <a:t>abolirea</a:t>
            </a:r>
            <a:r>
              <a:rPr lang="en-US" sz="1600" dirty="0"/>
              <a:t> </a:t>
            </a:r>
            <a:r>
              <a:rPr lang="en-US" sz="1600" dirty="0" err="1"/>
              <a:t>s.olfactive</a:t>
            </a:r>
            <a:endParaRPr lang="en-US" sz="1600" dirty="0"/>
          </a:p>
          <a:p>
            <a:r>
              <a:rPr lang="en-US" sz="1600" dirty="0" err="1"/>
              <a:t>Afectiunile</a:t>
            </a:r>
            <a:r>
              <a:rPr lang="en-US" sz="1600" dirty="0"/>
              <a:t> </a:t>
            </a:r>
            <a:r>
              <a:rPr lang="en-US" sz="1600" dirty="0" err="1"/>
              <a:t>nazale</a:t>
            </a:r>
            <a:r>
              <a:rPr lang="en-US" sz="1600" dirty="0"/>
              <a:t>(</a:t>
            </a:r>
            <a:r>
              <a:rPr lang="en-US" sz="1600" dirty="0" err="1"/>
              <a:t>atrofierea</a:t>
            </a:r>
            <a:r>
              <a:rPr lang="en-US" sz="1600" dirty="0"/>
              <a:t> </a:t>
            </a:r>
            <a:r>
              <a:rPr lang="en-US" sz="1600" dirty="0" err="1"/>
              <a:t>mucoasei,leziuni</a:t>
            </a:r>
            <a:r>
              <a:rPr lang="en-US" sz="1600" dirty="0"/>
              <a:t> ale </a:t>
            </a:r>
            <a:r>
              <a:rPr lang="en-US" sz="1600" dirty="0" err="1"/>
              <a:t>nervului</a:t>
            </a:r>
            <a:r>
              <a:rPr lang="en-US" sz="1600" dirty="0"/>
              <a:t> </a:t>
            </a:r>
            <a:r>
              <a:rPr lang="en-US" sz="1600" dirty="0" err="1"/>
              <a:t>olfactiv</a:t>
            </a:r>
            <a:r>
              <a:rPr lang="en-US" sz="1600" dirty="0"/>
              <a:t>)-</a:t>
            </a:r>
            <a:r>
              <a:rPr lang="en-US" sz="1600" dirty="0" err="1"/>
              <a:t>scaderea</a:t>
            </a:r>
            <a:r>
              <a:rPr lang="en-US" sz="1600" dirty="0"/>
              <a:t> </a:t>
            </a:r>
            <a:r>
              <a:rPr lang="en-US" sz="1600" dirty="0" err="1"/>
              <a:t>s.olfactive</a:t>
            </a:r>
            <a:r>
              <a:rPr lang="en-US" sz="1600" dirty="0"/>
              <a:t> </a:t>
            </a:r>
            <a:r>
              <a:rPr lang="en-US" sz="1600" dirty="0" err="1"/>
              <a:t>mergand</a:t>
            </a:r>
            <a:r>
              <a:rPr lang="en-US" sz="1600" dirty="0"/>
              <a:t> </a:t>
            </a:r>
            <a:r>
              <a:rPr lang="en-US" sz="1600" dirty="0" err="1"/>
              <a:t>pana</a:t>
            </a:r>
            <a:r>
              <a:rPr lang="en-US" sz="1600" dirty="0"/>
              <a:t> la </a:t>
            </a:r>
            <a:r>
              <a:rPr lang="en-US" sz="1600" dirty="0" err="1"/>
              <a:t>abolirea</a:t>
            </a:r>
            <a:r>
              <a:rPr lang="en-US" sz="1600" dirty="0"/>
              <a:t> </a:t>
            </a:r>
            <a:r>
              <a:rPr lang="en-US" sz="1600" dirty="0" err="1"/>
              <a:t>ei</a:t>
            </a:r>
            <a:endParaRPr lang="en-US" sz="1600" dirty="0"/>
          </a:p>
          <a:p>
            <a:r>
              <a:rPr lang="en-US" sz="1600" dirty="0" err="1"/>
              <a:t>Tumorile</a:t>
            </a:r>
            <a:r>
              <a:rPr lang="en-US" sz="1600" dirty="0"/>
              <a:t> </a:t>
            </a:r>
            <a:r>
              <a:rPr lang="en-US" sz="1600" dirty="0" err="1"/>
              <a:t>cerebrale</a:t>
            </a:r>
            <a:r>
              <a:rPr lang="en-US" sz="1600" dirty="0"/>
              <a:t> </a:t>
            </a:r>
            <a:r>
              <a:rPr lang="en-US" sz="1600" dirty="0" err="1"/>
              <a:t>profunde,isteria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unele</a:t>
            </a:r>
            <a:r>
              <a:rPr lang="en-US" sz="1600" dirty="0"/>
              <a:t> </a:t>
            </a:r>
            <a:r>
              <a:rPr lang="en-US" sz="1600" dirty="0" err="1"/>
              <a:t>stari</a:t>
            </a:r>
            <a:r>
              <a:rPr lang="en-US" sz="1600" dirty="0"/>
              <a:t> </a:t>
            </a:r>
            <a:r>
              <a:rPr lang="en-US" sz="1600" dirty="0" err="1"/>
              <a:t>maniacale</a:t>
            </a:r>
            <a:r>
              <a:rPr lang="en-US" sz="1600" dirty="0"/>
              <a:t> pot </a:t>
            </a:r>
            <a:r>
              <a:rPr lang="en-US" sz="1600" dirty="0" err="1"/>
              <a:t>provoca</a:t>
            </a:r>
            <a:r>
              <a:rPr lang="en-US" sz="1600" dirty="0"/>
              <a:t> </a:t>
            </a:r>
            <a:r>
              <a:rPr lang="en-US" sz="1600" dirty="0" err="1"/>
              <a:t>exacerbarea</a:t>
            </a:r>
            <a:r>
              <a:rPr lang="en-US" sz="1600" dirty="0"/>
              <a:t> </a:t>
            </a:r>
            <a:r>
              <a:rPr lang="en-US" sz="1600" dirty="0" err="1"/>
              <a:t>s.olfactive</a:t>
            </a:r>
            <a:r>
              <a:rPr lang="en-US" sz="1600" dirty="0"/>
              <a:t> </a:t>
            </a:r>
            <a:r>
              <a:rPr lang="en-US" sz="1600" dirty="0" err="1"/>
              <a:t>mergand</a:t>
            </a:r>
            <a:r>
              <a:rPr lang="en-US" sz="1600" dirty="0"/>
              <a:t> </a:t>
            </a:r>
            <a:r>
              <a:rPr lang="en-US" sz="1600" dirty="0" err="1"/>
              <a:t>pana</a:t>
            </a:r>
            <a:r>
              <a:rPr lang="en-US" sz="1600" dirty="0"/>
              <a:t> la </a:t>
            </a:r>
            <a:r>
              <a:rPr lang="en-US" sz="1600" dirty="0" err="1"/>
              <a:t>halucinatii</a:t>
            </a:r>
            <a:endParaRPr lang="en-US" sz="1600" dirty="0"/>
          </a:p>
          <a:p>
            <a:r>
              <a:rPr lang="en-US" sz="1600" dirty="0" err="1"/>
              <a:t>Factori</a:t>
            </a:r>
            <a:r>
              <a:rPr lang="en-US" sz="1600" dirty="0"/>
              <a:t> </a:t>
            </a:r>
            <a:r>
              <a:rPr lang="en-US" sz="1600" dirty="0" err="1"/>
              <a:t>fizici</a:t>
            </a:r>
            <a:r>
              <a:rPr lang="en-US" sz="1600" dirty="0"/>
              <a:t>(</a:t>
            </a:r>
            <a:r>
              <a:rPr lang="en-US" sz="1600" dirty="0" err="1"/>
              <a:t>temp,umiditatea,iluminatul,saturatia</a:t>
            </a:r>
            <a:r>
              <a:rPr lang="en-US" sz="1600" dirty="0"/>
              <a:t> cu </a:t>
            </a:r>
            <a:r>
              <a:rPr lang="en-US" sz="1600" dirty="0" err="1"/>
              <a:t>alte</a:t>
            </a:r>
            <a:r>
              <a:rPr lang="en-US" sz="1600" dirty="0"/>
              <a:t> </a:t>
            </a:r>
            <a:r>
              <a:rPr lang="en-US" sz="1600" dirty="0" err="1"/>
              <a:t>subst</a:t>
            </a:r>
            <a:r>
              <a:rPr lang="en-US" sz="1600" dirty="0"/>
              <a:t> </a:t>
            </a:r>
            <a:r>
              <a:rPr lang="en-US" sz="1600" dirty="0" err="1"/>
              <a:t>mirositoare</a:t>
            </a:r>
            <a:r>
              <a:rPr lang="en-US" sz="1600" dirty="0"/>
              <a:t>): in </a:t>
            </a:r>
            <a:r>
              <a:rPr lang="en-US" sz="1600" dirty="0" err="1"/>
              <a:t>incaperile</a:t>
            </a:r>
            <a:r>
              <a:rPr lang="en-US" sz="1600" dirty="0"/>
              <a:t> </a:t>
            </a:r>
            <a:r>
              <a:rPr lang="en-US" sz="1600" dirty="0" err="1"/>
              <a:t>dezodorificate</a:t>
            </a:r>
            <a:r>
              <a:rPr lang="en-US" sz="1600" dirty="0"/>
              <a:t> se produce o </a:t>
            </a:r>
            <a:r>
              <a:rPr lang="en-US" sz="1600" dirty="0" err="1"/>
              <a:t>scadere</a:t>
            </a:r>
            <a:r>
              <a:rPr lang="en-US" sz="1600" dirty="0"/>
              <a:t> a </a:t>
            </a:r>
            <a:r>
              <a:rPr lang="en-US" sz="1600" dirty="0" err="1"/>
              <a:t>pragului</a:t>
            </a:r>
            <a:r>
              <a:rPr lang="en-US" sz="1600" dirty="0"/>
              <a:t> </a:t>
            </a:r>
            <a:r>
              <a:rPr lang="en-US" sz="1600" dirty="0" err="1"/>
              <a:t>s.o</a:t>
            </a:r>
            <a:r>
              <a:rPr lang="en-US" sz="1600" dirty="0"/>
              <a:t>. cu 25%.Temp optima pt </a:t>
            </a:r>
            <a:r>
              <a:rPr lang="en-US" sz="1600" dirty="0" err="1"/>
              <a:t>olfactie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de 35 </a:t>
            </a:r>
            <a:r>
              <a:rPr lang="en-US" sz="1600" dirty="0" err="1"/>
              <a:t>pana</a:t>
            </a:r>
            <a:r>
              <a:rPr lang="en-US" sz="1600" dirty="0"/>
              <a:t> la 38%.Umiditatea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iluminatul</a:t>
            </a:r>
            <a:r>
              <a:rPr lang="en-US" sz="1600" dirty="0"/>
              <a:t> in </a:t>
            </a:r>
            <a:r>
              <a:rPr lang="en-US" sz="1600" dirty="0" err="1"/>
              <a:t>limite</a:t>
            </a:r>
            <a:r>
              <a:rPr lang="en-US" sz="1600" dirty="0"/>
              <a:t> </a:t>
            </a:r>
            <a:r>
              <a:rPr lang="en-US" sz="1600" dirty="0" err="1"/>
              <a:t>normale</a:t>
            </a:r>
            <a:r>
              <a:rPr lang="en-US" sz="1600" dirty="0"/>
              <a:t> </a:t>
            </a:r>
            <a:r>
              <a:rPr lang="en-US" sz="1600" dirty="0" err="1"/>
              <a:t>favorizeaza</a:t>
            </a:r>
            <a:r>
              <a:rPr lang="en-US" sz="1600" dirty="0"/>
              <a:t> </a:t>
            </a:r>
            <a:r>
              <a:rPr lang="en-US" sz="1600" dirty="0" err="1"/>
              <a:t>olfactia</a:t>
            </a:r>
            <a:r>
              <a:rPr lang="en-US" sz="1600" dirty="0"/>
              <a:t>.</a:t>
            </a:r>
          </a:p>
          <a:p>
            <a:r>
              <a:rPr lang="en-US" sz="1600" dirty="0" err="1"/>
              <a:t>Normele</a:t>
            </a:r>
            <a:r>
              <a:rPr lang="en-US" sz="1600" dirty="0"/>
              <a:t> </a:t>
            </a:r>
            <a:r>
              <a:rPr lang="en-US" sz="1600" dirty="0" err="1"/>
              <a:t>morale:acelasi</a:t>
            </a:r>
            <a:r>
              <a:rPr lang="en-US" sz="1600" dirty="0"/>
              <a:t> </a:t>
            </a:r>
            <a:r>
              <a:rPr lang="en-US" sz="1600" dirty="0" err="1"/>
              <a:t>miros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apreciat</a:t>
            </a:r>
            <a:r>
              <a:rPr lang="en-US" sz="1600" dirty="0"/>
              <a:t> </a:t>
            </a:r>
            <a:r>
              <a:rPr lang="en-US" sz="1600" dirty="0" err="1"/>
              <a:t>diferit</a:t>
            </a:r>
            <a:r>
              <a:rPr lang="en-US" sz="1600" dirty="0"/>
              <a:t> in </a:t>
            </a:r>
            <a:r>
              <a:rPr lang="en-US" sz="1600" dirty="0" err="1"/>
              <a:t>fct</a:t>
            </a:r>
            <a:r>
              <a:rPr lang="en-US" sz="1600" dirty="0"/>
              <a:t> de </a:t>
            </a:r>
            <a:r>
              <a:rPr lang="en-US" sz="1600" dirty="0" err="1"/>
              <a:t>aceste</a:t>
            </a:r>
            <a:r>
              <a:rPr lang="en-US" sz="1600" dirty="0"/>
              <a:t> </a:t>
            </a:r>
            <a:r>
              <a:rPr lang="en-US" sz="1600" dirty="0" err="1"/>
              <a:t>norme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Adaptarea:dupa</a:t>
            </a:r>
            <a:r>
              <a:rPr lang="en-US" dirty="0"/>
              <a:t> </a:t>
            </a:r>
            <a:r>
              <a:rPr lang="en-US" dirty="0" err="1"/>
              <a:t>faza</a:t>
            </a:r>
            <a:r>
              <a:rPr lang="en-US" dirty="0"/>
              <a:t> </a:t>
            </a:r>
            <a:r>
              <a:rPr lang="en-US" dirty="0" err="1"/>
              <a:t>initiala</a:t>
            </a:r>
            <a:r>
              <a:rPr lang="en-US" dirty="0"/>
              <a:t> de </a:t>
            </a:r>
            <a:r>
              <a:rPr lang="en-US" dirty="0" err="1"/>
              <a:t>integrare</a:t>
            </a:r>
            <a:r>
              <a:rPr lang="en-US" dirty="0"/>
              <a:t> se </a:t>
            </a:r>
            <a:r>
              <a:rPr lang="en-US" dirty="0" err="1"/>
              <a:t>constata</a:t>
            </a:r>
            <a:r>
              <a:rPr lang="en-US" dirty="0"/>
              <a:t> o </a:t>
            </a:r>
            <a:r>
              <a:rPr lang="en-US" dirty="0" err="1"/>
              <a:t>diminuare</a:t>
            </a:r>
            <a:r>
              <a:rPr lang="en-US" dirty="0"/>
              <a:t> a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olfactive.Dupa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minute de </a:t>
            </a:r>
            <a:r>
              <a:rPr lang="en-US" dirty="0" err="1"/>
              <a:t>stimulare</a:t>
            </a:r>
            <a:r>
              <a:rPr lang="en-US" dirty="0"/>
              <a:t> continua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</a:t>
            </a:r>
            <a:r>
              <a:rPr lang="en-US" dirty="0" err="1"/>
              <a:t>scade</a:t>
            </a:r>
            <a:r>
              <a:rPr lang="en-US" dirty="0"/>
              <a:t> cu 30-40%.-&gt;</a:t>
            </a:r>
            <a:r>
              <a:rPr lang="en-US" dirty="0" err="1"/>
              <a:t>Olfactia</a:t>
            </a:r>
            <a:r>
              <a:rPr lang="en-US" dirty="0"/>
              <a:t> face parte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modalitatile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 rapid </a:t>
            </a:r>
            <a:r>
              <a:rPr lang="en-US" dirty="0" err="1"/>
              <a:t>adaptabile</a:t>
            </a:r>
            <a:r>
              <a:rPr lang="en-US" dirty="0"/>
              <a:t>.</a:t>
            </a:r>
          </a:p>
          <a:p>
            <a:r>
              <a:rPr lang="en-US" dirty="0" err="1"/>
              <a:t>Adaptarea</a:t>
            </a:r>
            <a:r>
              <a:rPr lang="en-US" dirty="0"/>
              <a:t> </a:t>
            </a:r>
            <a:r>
              <a:rPr lang="en-US" dirty="0" err="1"/>
              <a:t>olfactiva</a:t>
            </a:r>
            <a:r>
              <a:rPr lang="en-US" dirty="0"/>
              <a:t> </a:t>
            </a:r>
            <a:r>
              <a:rPr lang="en-US" dirty="0" err="1"/>
              <a:t>prezinta</a:t>
            </a:r>
            <a:r>
              <a:rPr lang="en-US" dirty="0"/>
              <a:t> 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particularitati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2 stimuli </a:t>
            </a:r>
            <a:r>
              <a:rPr lang="en-US" dirty="0" err="1"/>
              <a:t>olfactivi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asemanatori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adaptare</a:t>
            </a:r>
            <a:r>
              <a:rPr lang="en-US" dirty="0"/>
              <a:t> </a:t>
            </a:r>
            <a:r>
              <a:rPr lang="en-US" dirty="0" err="1"/>
              <a:t>incrucisata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puternica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nesimilari</a:t>
            </a:r>
            <a:endParaRPr lang="en-US" dirty="0"/>
          </a:p>
          <a:p>
            <a:pPr lvl="1"/>
            <a:r>
              <a:rPr lang="en-US" dirty="0"/>
              <a:t>2 stimuli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nesimilari</a:t>
            </a:r>
            <a:r>
              <a:rPr lang="en-US" dirty="0"/>
              <a:t> pot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adaptare</a:t>
            </a:r>
            <a:r>
              <a:rPr lang="en-US" dirty="0"/>
              <a:t> </a:t>
            </a:r>
            <a:r>
              <a:rPr lang="en-US" dirty="0" err="1"/>
              <a:t>incrucisata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puternica</a:t>
            </a:r>
            <a:r>
              <a:rPr lang="en-US" dirty="0"/>
              <a:t> in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2 stimuli </a:t>
            </a:r>
            <a:r>
              <a:rPr lang="en-US" dirty="0" err="1"/>
              <a:t>similari</a:t>
            </a:r>
            <a:r>
              <a:rPr lang="en-US" dirty="0"/>
              <a:t> pot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adaptare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redusa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Adaptarea</a:t>
            </a:r>
            <a:r>
              <a:rPr lang="en-US" dirty="0"/>
              <a:t> </a:t>
            </a:r>
            <a:r>
              <a:rPr lang="en-US" dirty="0" err="1"/>
              <a:t>incrucisata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in general </a:t>
            </a:r>
            <a:r>
              <a:rPr lang="en-US" dirty="0" err="1"/>
              <a:t>asimetrica</a:t>
            </a:r>
            <a:endParaRPr lang="en-US" dirty="0"/>
          </a:p>
          <a:p>
            <a:pPr lvl="1"/>
            <a:r>
              <a:rPr lang="en-US" dirty="0" err="1"/>
              <a:t>Adaptarea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oboseala</a:t>
            </a:r>
            <a:r>
              <a:rPr lang="en-US" dirty="0"/>
              <a:t> </a:t>
            </a:r>
            <a:r>
              <a:rPr lang="en-US" dirty="0" err="1"/>
              <a:t>olfactiva</a:t>
            </a:r>
            <a:r>
              <a:rPr lang="en-US" dirty="0"/>
              <a:t> </a:t>
            </a:r>
            <a:r>
              <a:rPr lang="en-US" dirty="0" err="1"/>
              <a:t>tind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confunde</a:t>
            </a:r>
            <a:endParaRPr lang="en-US" dirty="0"/>
          </a:p>
          <a:p>
            <a:pPr lvl="1"/>
            <a:r>
              <a:rPr lang="en-US" dirty="0" err="1"/>
              <a:t>Cresterea</a:t>
            </a:r>
            <a:r>
              <a:rPr lang="en-US" dirty="0"/>
              <a:t> </a:t>
            </a:r>
            <a:r>
              <a:rPr lang="en-US" dirty="0" err="1"/>
              <a:t>gradului</a:t>
            </a:r>
            <a:r>
              <a:rPr lang="en-US" dirty="0"/>
              <a:t> de </a:t>
            </a:r>
            <a:r>
              <a:rPr lang="en-US" dirty="0" err="1"/>
              <a:t>concentrare</a:t>
            </a:r>
            <a:r>
              <a:rPr lang="en-US" dirty="0"/>
              <a:t> al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miros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impresia</a:t>
            </a:r>
            <a:r>
              <a:rPr lang="en-US" dirty="0"/>
              <a:t> 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miros</a:t>
            </a:r>
            <a:r>
              <a:rPr lang="en-US" dirty="0"/>
              <a:t> </a:t>
            </a:r>
            <a:r>
              <a:rPr lang="en-US" dirty="0" err="1"/>
              <a:t>diferit</a:t>
            </a: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 err="1"/>
              <a:t>fenomenul</a:t>
            </a:r>
            <a:r>
              <a:rPr lang="en-US" dirty="0"/>
              <a:t> </a:t>
            </a:r>
            <a:r>
              <a:rPr lang="en-US" dirty="0" err="1"/>
              <a:t>adaptarii</a:t>
            </a:r>
            <a:r>
              <a:rPr lang="en-US" dirty="0"/>
              <a:t> </a:t>
            </a:r>
            <a:r>
              <a:rPr lang="en-US" dirty="0" err="1"/>
              <a:t>olfactive</a:t>
            </a:r>
            <a:r>
              <a:rPr lang="en-US" dirty="0"/>
              <a:t> nu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vorbi</a:t>
            </a:r>
            <a:r>
              <a:rPr lang="en-US" dirty="0"/>
              <a:t> la </a:t>
            </a:r>
            <a:r>
              <a:rPr lang="en-US" dirty="0" err="1"/>
              <a:t>modul</a:t>
            </a:r>
            <a:r>
              <a:rPr lang="en-US" dirty="0"/>
              <a:t> general </a:t>
            </a:r>
            <a:r>
              <a:rPr lang="en-US" dirty="0" err="1"/>
              <a:t>despre</a:t>
            </a:r>
            <a:r>
              <a:rPr lang="en-US" dirty="0"/>
              <a:t> o </a:t>
            </a:r>
            <a:r>
              <a:rPr lang="en-US" dirty="0" err="1"/>
              <a:t>adaptare</a:t>
            </a:r>
            <a:r>
              <a:rPr lang="en-US" dirty="0"/>
              <a:t> rapid </a:t>
            </a:r>
            <a:r>
              <a:rPr lang="en-US" dirty="0" err="1"/>
              <a:t>intrucat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natura</a:t>
            </a:r>
            <a:r>
              <a:rPr lang="en-US" dirty="0"/>
              <a:t> </a:t>
            </a:r>
            <a:r>
              <a:rPr lang="en-US" dirty="0" err="1"/>
              <a:t>substantei</a:t>
            </a:r>
            <a:r>
              <a:rPr lang="en-US" dirty="0"/>
              <a:t>, de </a:t>
            </a:r>
            <a:r>
              <a:rPr lang="en-US" dirty="0" err="1"/>
              <a:t>concentratia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de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persoanei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dirty="0" err="1"/>
              <a:t>Amestecul</a:t>
            </a:r>
            <a:r>
              <a:rPr lang="en-US" dirty="0"/>
              <a:t> in </a:t>
            </a:r>
            <a:r>
              <a:rPr lang="en-US" dirty="0" err="1"/>
              <a:t>sfera</a:t>
            </a:r>
            <a:r>
              <a:rPr lang="en-US" dirty="0"/>
              <a:t> </a:t>
            </a:r>
            <a:r>
              <a:rPr lang="en-US" dirty="0" err="1"/>
              <a:t>olfactiei:mirosuri</a:t>
            </a:r>
            <a:r>
              <a:rPr lang="en-US" dirty="0"/>
              <a:t> pure din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olfactiv</a:t>
            </a:r>
            <a:r>
              <a:rPr lang="en-US" dirty="0"/>
              <a:t> nu </a:t>
            </a:r>
            <a:r>
              <a:rPr lang="en-US" dirty="0" err="1"/>
              <a:t>exista</a:t>
            </a:r>
            <a:r>
              <a:rPr lang="en-US" dirty="0"/>
              <a:t> in </a:t>
            </a:r>
            <a:r>
              <a:rPr lang="en-US" dirty="0" err="1"/>
              <a:t>natura</a:t>
            </a:r>
            <a:r>
              <a:rPr lang="en-US" dirty="0"/>
              <a:t> in mod </a:t>
            </a:r>
            <a:r>
              <a:rPr lang="en-US" dirty="0" err="1"/>
              <a:t>obisnuit.O</a:t>
            </a:r>
            <a:r>
              <a:rPr lang="en-US" dirty="0"/>
              <a:t> </a:t>
            </a:r>
            <a:r>
              <a:rPr lang="en-US" dirty="0" err="1"/>
              <a:t>exceptie</a:t>
            </a:r>
            <a:r>
              <a:rPr lang="en-US" dirty="0"/>
              <a:t> o </a:t>
            </a: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ardeiul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; </a:t>
            </a:r>
            <a:r>
              <a:rPr lang="en-US" dirty="0" err="1"/>
              <a:t>Principiul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 al </a:t>
            </a:r>
            <a:r>
              <a:rPr lang="en-US" dirty="0" err="1"/>
              <a:t>amestecului</a:t>
            </a:r>
            <a:r>
              <a:rPr lang="en-US" dirty="0"/>
              <a:t> in </a:t>
            </a:r>
            <a:r>
              <a:rPr lang="en-US" dirty="0" err="1"/>
              <a:t>olfactie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acela</a:t>
            </a:r>
            <a:r>
              <a:rPr lang="en-US" dirty="0"/>
              <a:t> ca un </a:t>
            </a:r>
            <a:r>
              <a:rPr lang="en-US" dirty="0" err="1"/>
              <a:t>amestec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o </a:t>
            </a:r>
            <a:r>
              <a:rPr lang="en-US" dirty="0" err="1"/>
              <a:t>intensitate</a:t>
            </a:r>
            <a:r>
              <a:rPr lang="en-US" dirty="0"/>
              <a:t> a </a:t>
            </a:r>
            <a:r>
              <a:rPr lang="en-US" dirty="0" err="1"/>
              <a:t>mirosului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redusa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</a:t>
            </a:r>
            <a:r>
              <a:rPr lang="en-US" dirty="0" err="1"/>
              <a:t>suma</a:t>
            </a:r>
            <a:r>
              <a:rPr lang="en-US" dirty="0"/>
              <a:t> </a:t>
            </a:r>
            <a:r>
              <a:rPr lang="en-US" dirty="0" err="1"/>
              <a:t>intensitatilor</a:t>
            </a:r>
            <a:r>
              <a:rPr lang="en-US" dirty="0"/>
              <a:t> </a:t>
            </a:r>
            <a:r>
              <a:rPr lang="en-US" dirty="0" err="1"/>
              <a:t>constituentilor</a:t>
            </a:r>
            <a:r>
              <a:rPr lang="en-US" dirty="0"/>
              <a:t> </a:t>
            </a:r>
            <a:r>
              <a:rPr lang="en-US" dirty="0" err="1"/>
              <a:t>luati</a:t>
            </a:r>
            <a:r>
              <a:rPr lang="en-US" dirty="0"/>
              <a:t> </a:t>
            </a:r>
            <a:r>
              <a:rPr lang="en-US" dirty="0" err="1"/>
              <a:t>separat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Senzatiile</a:t>
            </a:r>
            <a:r>
              <a:rPr lang="en-US" dirty="0"/>
              <a:t> </a:t>
            </a:r>
            <a:r>
              <a:rPr lang="en-US" dirty="0" err="1"/>
              <a:t>cutanate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Fac</a:t>
            </a:r>
            <a:r>
              <a:rPr lang="en-US" dirty="0"/>
              <a:t> parte din </a:t>
            </a:r>
            <a:r>
              <a:rPr lang="en-US" dirty="0" err="1"/>
              <a:t>categoria</a:t>
            </a:r>
            <a:r>
              <a:rPr lang="en-US" dirty="0"/>
              <a:t> </a:t>
            </a:r>
            <a:r>
              <a:rPr lang="en-US" dirty="0" err="1"/>
              <a:t>exteroceptorilor</a:t>
            </a:r>
            <a:r>
              <a:rPr lang="en-US" dirty="0"/>
              <a:t> </a:t>
            </a:r>
            <a:r>
              <a:rPr lang="en-US" dirty="0" err="1"/>
              <a:t>avand</a:t>
            </a:r>
            <a:r>
              <a:rPr lang="en-US" dirty="0"/>
              <a:t> </a:t>
            </a:r>
            <a:r>
              <a:rPr lang="en-US" dirty="0" err="1"/>
              <a:t>rolul</a:t>
            </a:r>
            <a:r>
              <a:rPr lang="en-US" dirty="0"/>
              <a:t> de </a:t>
            </a:r>
            <a:r>
              <a:rPr lang="en-US" dirty="0" err="1"/>
              <a:t>receptare</a:t>
            </a:r>
            <a:r>
              <a:rPr lang="en-US" dirty="0"/>
              <a:t> a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mecanici</a:t>
            </a:r>
            <a:r>
              <a:rPr lang="en-US" dirty="0"/>
              <a:t>, </a:t>
            </a:r>
            <a:r>
              <a:rPr lang="en-US" dirty="0" err="1"/>
              <a:t>electrici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termici</a:t>
            </a:r>
            <a:r>
              <a:rPr lang="en-US" dirty="0"/>
              <a:t> din </a:t>
            </a:r>
            <a:r>
              <a:rPr lang="en-US" dirty="0" err="1"/>
              <a:t>mediul</a:t>
            </a:r>
            <a:r>
              <a:rPr lang="en-US" dirty="0"/>
              <a:t> </a:t>
            </a:r>
            <a:r>
              <a:rPr lang="en-US" dirty="0" err="1"/>
              <a:t>ambiant</a:t>
            </a:r>
            <a:r>
              <a:rPr lang="en-US" dirty="0"/>
              <a:t>.-&gt;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zona</a:t>
            </a:r>
            <a:r>
              <a:rPr lang="en-US" dirty="0"/>
              <a:t> a </a:t>
            </a:r>
            <a:r>
              <a:rPr lang="en-US" dirty="0" err="1"/>
              <a:t>pielii</a:t>
            </a:r>
            <a:r>
              <a:rPr lang="en-US" dirty="0"/>
              <a:t> </a:t>
            </a:r>
            <a:r>
              <a:rPr lang="en-US" dirty="0" err="1"/>
              <a:t>dispune</a:t>
            </a:r>
            <a:r>
              <a:rPr lang="en-US" dirty="0"/>
              <a:t> de </a:t>
            </a:r>
            <a:r>
              <a:rPr lang="en-US" dirty="0" err="1"/>
              <a:t>cele</a:t>
            </a:r>
            <a:r>
              <a:rPr lang="en-US" dirty="0"/>
              <a:t> 3 </a:t>
            </a:r>
            <a:r>
              <a:rPr lang="en-US" dirty="0" err="1"/>
              <a:t>forme</a:t>
            </a:r>
            <a:r>
              <a:rPr lang="en-US" dirty="0"/>
              <a:t> de </a:t>
            </a:r>
            <a:r>
              <a:rPr lang="en-US" dirty="0" err="1"/>
              <a:t>sensibilitate</a:t>
            </a:r>
            <a:r>
              <a:rPr lang="en-US" dirty="0"/>
              <a:t>: </a:t>
            </a:r>
            <a:r>
              <a:rPr lang="en-US" dirty="0" err="1"/>
              <a:t>tactila</a:t>
            </a:r>
            <a:r>
              <a:rPr lang="en-US" dirty="0"/>
              <a:t>, </a:t>
            </a:r>
            <a:r>
              <a:rPr lang="en-US" dirty="0" err="1"/>
              <a:t>termica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dureroasa</a:t>
            </a:r>
            <a:r>
              <a:rPr lang="en-US" dirty="0"/>
              <a:t>.-&gt;</a:t>
            </a:r>
            <a:r>
              <a:rPr lang="en-US" dirty="0" err="1"/>
              <a:t>Senzatiile</a:t>
            </a:r>
            <a:r>
              <a:rPr lang="en-US" dirty="0"/>
              <a:t> tactile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provocate</a:t>
            </a:r>
            <a:r>
              <a:rPr lang="en-US" dirty="0"/>
              <a:t> de </a:t>
            </a:r>
            <a:r>
              <a:rPr lang="en-US" dirty="0" err="1"/>
              <a:t>actiunea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mecanici:atingere</a:t>
            </a:r>
            <a:r>
              <a:rPr lang="en-US" dirty="0"/>
              <a:t>, </a:t>
            </a:r>
            <a:r>
              <a:rPr lang="en-US" dirty="0" err="1"/>
              <a:t>presiune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transformate</a:t>
            </a:r>
            <a:r>
              <a:rPr lang="en-US" dirty="0"/>
              <a:t> in </a:t>
            </a:r>
            <a:r>
              <a:rPr lang="en-US" dirty="0" err="1"/>
              <a:t>impulsuri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de </a:t>
            </a:r>
            <a:r>
              <a:rPr lang="en-US" dirty="0" err="1"/>
              <a:t>corpusculii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Meissner</a:t>
            </a:r>
            <a:r>
              <a:rPr lang="en-US" dirty="0"/>
              <a:t>, </a:t>
            </a:r>
            <a:r>
              <a:rPr lang="en-US" dirty="0" err="1"/>
              <a:t>corpusculii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Merckel</a:t>
            </a:r>
            <a:r>
              <a:rPr lang="en-US" dirty="0"/>
              <a:t> s </a:t>
            </a:r>
            <a:r>
              <a:rPr lang="en-US" dirty="0" err="1"/>
              <a:t>corpusculii</a:t>
            </a:r>
            <a:r>
              <a:rPr lang="en-US" dirty="0"/>
              <a:t> </a:t>
            </a:r>
            <a:r>
              <a:rPr lang="en-US" dirty="0" err="1"/>
              <a:t>Pacini</a:t>
            </a:r>
            <a:r>
              <a:rPr lang="en-US" dirty="0"/>
              <a:t>.-&gt;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termici</a:t>
            </a:r>
            <a:r>
              <a:rPr lang="en-US" dirty="0"/>
              <a:t> pt </a:t>
            </a:r>
            <a:r>
              <a:rPr lang="en-US" dirty="0" err="1"/>
              <a:t>rece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preluati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conurilor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Krause,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termici</a:t>
            </a:r>
            <a:r>
              <a:rPr lang="en-US" dirty="0"/>
              <a:t> pt </a:t>
            </a:r>
            <a:r>
              <a:rPr lang="en-US" dirty="0" err="1"/>
              <a:t>cald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cilindrilor</a:t>
            </a:r>
            <a:r>
              <a:rPr lang="en-US" dirty="0"/>
              <a:t> </a:t>
            </a:r>
            <a:r>
              <a:rPr lang="en-US" dirty="0" err="1"/>
              <a:t>Ruffini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algici</a:t>
            </a:r>
            <a:r>
              <a:rPr lang="en-US" dirty="0"/>
              <a:t> </a:t>
            </a:r>
            <a:r>
              <a:rPr lang="en-US" dirty="0" err="1"/>
              <a:t>tactili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preluati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terminatii</a:t>
            </a:r>
            <a:r>
              <a:rPr lang="en-US" dirty="0"/>
              <a:t> </a:t>
            </a:r>
            <a:r>
              <a:rPr lang="en-US" dirty="0" err="1"/>
              <a:t>nervoase</a:t>
            </a:r>
            <a:r>
              <a:rPr lang="en-US" dirty="0"/>
              <a:t> </a:t>
            </a:r>
            <a:r>
              <a:rPr lang="en-US" dirty="0" err="1"/>
              <a:t>libere</a:t>
            </a:r>
            <a:r>
              <a:rPr lang="en-US" dirty="0"/>
              <a:t>-&gt;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vorbi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3 </a:t>
            </a:r>
            <a:r>
              <a:rPr lang="en-US" dirty="0" err="1"/>
              <a:t>submodalitati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 in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senzatiilor</a:t>
            </a:r>
            <a:r>
              <a:rPr lang="en-US" dirty="0"/>
              <a:t> </a:t>
            </a:r>
            <a:r>
              <a:rPr lang="en-US" dirty="0" err="1"/>
              <a:t>cutanate</a:t>
            </a:r>
            <a:r>
              <a:rPr lang="en-US" dirty="0"/>
              <a:t>: </a:t>
            </a:r>
            <a:r>
              <a:rPr lang="en-US" dirty="0" err="1"/>
              <a:t>senzatii</a:t>
            </a:r>
            <a:r>
              <a:rPr lang="en-US" dirty="0"/>
              <a:t> tactile, </a:t>
            </a:r>
            <a:r>
              <a:rPr lang="en-US" dirty="0" err="1"/>
              <a:t>senzatii</a:t>
            </a:r>
            <a:r>
              <a:rPr lang="en-US" dirty="0"/>
              <a:t> </a:t>
            </a:r>
            <a:r>
              <a:rPr lang="en-US" dirty="0" err="1"/>
              <a:t>termice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senzatii</a:t>
            </a:r>
            <a:r>
              <a:rPr lang="en-US" dirty="0"/>
              <a:t> </a:t>
            </a:r>
            <a:r>
              <a:rPr lang="en-US" dirty="0" err="1"/>
              <a:t>algice</a:t>
            </a:r>
            <a:r>
              <a:rPr lang="en-US" dirty="0"/>
              <a:t> </a:t>
            </a:r>
            <a:r>
              <a:rPr lang="en-US" dirty="0" err="1"/>
              <a:t>cutanate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I </a:t>
            </a:r>
            <a:r>
              <a:rPr lang="en-US" b="1" dirty="0" err="1"/>
              <a:t>Senzatiile</a:t>
            </a:r>
            <a:r>
              <a:rPr lang="en-US" b="1" dirty="0"/>
              <a:t> tactile </a:t>
            </a:r>
            <a:r>
              <a:rPr lang="en-US" dirty="0" err="1"/>
              <a:t>cuprind</a:t>
            </a:r>
            <a:r>
              <a:rPr lang="en-US" dirty="0"/>
              <a:t> :a)</a:t>
            </a:r>
            <a:r>
              <a:rPr lang="en-US" dirty="0" err="1"/>
              <a:t>senzatii</a:t>
            </a:r>
            <a:r>
              <a:rPr lang="en-US" dirty="0"/>
              <a:t> de </a:t>
            </a:r>
            <a:r>
              <a:rPr lang="en-US" dirty="0" err="1"/>
              <a:t>atingere</a:t>
            </a:r>
            <a:r>
              <a:rPr lang="en-US" dirty="0"/>
              <a:t>; b)</a:t>
            </a:r>
            <a:r>
              <a:rPr lang="en-US" dirty="0" err="1"/>
              <a:t>senzatii</a:t>
            </a:r>
            <a:r>
              <a:rPr lang="en-US" dirty="0"/>
              <a:t> de </a:t>
            </a:r>
            <a:r>
              <a:rPr lang="en-US" dirty="0" err="1"/>
              <a:t>presiune</a:t>
            </a:r>
            <a:r>
              <a:rPr lang="en-US" dirty="0"/>
              <a:t>; c)</a:t>
            </a:r>
            <a:r>
              <a:rPr lang="en-US" dirty="0" err="1"/>
              <a:t>senzatii</a:t>
            </a:r>
            <a:r>
              <a:rPr lang="en-US" dirty="0"/>
              <a:t> de </a:t>
            </a:r>
            <a:r>
              <a:rPr lang="en-US" dirty="0" err="1"/>
              <a:t>gadilare</a:t>
            </a:r>
            <a:r>
              <a:rPr lang="en-US" dirty="0"/>
              <a:t>(</a:t>
            </a:r>
            <a:r>
              <a:rPr lang="en-US" dirty="0" err="1"/>
              <a:t>prurit</a:t>
            </a:r>
            <a:r>
              <a:rPr lang="en-US" dirty="0"/>
              <a:t>).</a:t>
            </a:r>
          </a:p>
          <a:p>
            <a:pPr>
              <a:buNone/>
            </a:pPr>
            <a:r>
              <a:rPr lang="en-US" dirty="0" err="1"/>
              <a:t>Senzatiile</a:t>
            </a:r>
            <a:r>
              <a:rPr lang="en-US" dirty="0"/>
              <a:t> tactile </a:t>
            </a:r>
            <a:r>
              <a:rPr lang="en-US" dirty="0" err="1"/>
              <a:t>asigura</a:t>
            </a:r>
            <a:r>
              <a:rPr lang="en-US" dirty="0"/>
              <a:t> </a:t>
            </a:r>
            <a:r>
              <a:rPr lang="en-US" dirty="0" err="1"/>
              <a:t>integrarea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de </a:t>
            </a:r>
            <a:r>
              <a:rPr lang="en-US" dirty="0" err="1"/>
              <a:t>semnale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:</a:t>
            </a:r>
          </a:p>
          <a:p>
            <a:r>
              <a:rPr lang="en-US" dirty="0" err="1"/>
              <a:t>Semnale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 care permit </a:t>
            </a:r>
            <a:r>
              <a:rPr lang="en-US" dirty="0" err="1"/>
              <a:t>elaborarea</a:t>
            </a:r>
            <a:r>
              <a:rPr lang="en-US" dirty="0"/>
              <a:t> </a:t>
            </a:r>
            <a:r>
              <a:rPr lang="en-US" dirty="0" err="1"/>
              <a:t>imaginii</a:t>
            </a:r>
            <a:r>
              <a:rPr lang="en-US" dirty="0"/>
              <a:t> </a:t>
            </a:r>
            <a:r>
              <a:rPr lang="en-US" dirty="0" err="1"/>
              <a:t>eului</a:t>
            </a:r>
            <a:r>
              <a:rPr lang="en-US" dirty="0"/>
              <a:t> </a:t>
            </a:r>
            <a:r>
              <a:rPr lang="en-US" dirty="0" err="1"/>
              <a:t>fizic</a:t>
            </a:r>
            <a:r>
              <a:rPr lang="en-US" dirty="0"/>
              <a:t>, </a:t>
            </a:r>
            <a:r>
              <a:rPr lang="en-US" dirty="0" err="1"/>
              <a:t>conturul</a:t>
            </a:r>
            <a:r>
              <a:rPr lang="en-US" dirty="0"/>
              <a:t> </a:t>
            </a:r>
            <a:r>
              <a:rPr lang="en-US" dirty="0" err="1"/>
              <a:t>schemei</a:t>
            </a:r>
            <a:r>
              <a:rPr lang="en-US" dirty="0"/>
              <a:t> </a:t>
            </a:r>
            <a:r>
              <a:rPr lang="en-US" dirty="0" err="1"/>
              <a:t>corporale</a:t>
            </a:r>
            <a:endParaRPr lang="en-US" dirty="0"/>
          </a:p>
          <a:p>
            <a:r>
              <a:rPr lang="en-US" dirty="0" err="1"/>
              <a:t>Semnale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 care permit </a:t>
            </a:r>
            <a:r>
              <a:rPr lang="en-US" dirty="0" err="1"/>
              <a:t>integrarea</a:t>
            </a:r>
            <a:r>
              <a:rPr lang="en-US" dirty="0"/>
              <a:t> </a:t>
            </a:r>
            <a:r>
              <a:rPr lang="en-US" dirty="0" err="1"/>
              <a:t>imaginii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cu care </a:t>
            </a:r>
            <a:r>
              <a:rPr lang="en-US" dirty="0" err="1"/>
              <a:t>omul</a:t>
            </a:r>
            <a:r>
              <a:rPr lang="en-US" dirty="0"/>
              <a:t> intra in contact </a:t>
            </a:r>
            <a:r>
              <a:rPr lang="en-US" dirty="0" err="1"/>
              <a:t>nemijlocit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calitati</a:t>
            </a:r>
            <a:r>
              <a:rPr lang="en-US" dirty="0"/>
              <a:t> de </a:t>
            </a:r>
            <a:r>
              <a:rPr lang="en-US" dirty="0" err="1"/>
              <a:t>substantilitate</a:t>
            </a:r>
            <a:r>
              <a:rPr lang="en-US" dirty="0"/>
              <a:t>, forma, </a:t>
            </a:r>
            <a:r>
              <a:rPr lang="en-US" dirty="0" err="1"/>
              <a:t>volum</a:t>
            </a:r>
            <a:r>
              <a:rPr lang="en-US" dirty="0"/>
              <a:t>, </a:t>
            </a:r>
            <a:r>
              <a:rPr lang="en-US" dirty="0" err="1"/>
              <a:t>asperitate</a:t>
            </a:r>
            <a:r>
              <a:rPr lang="en-US" dirty="0"/>
              <a:t>, </a:t>
            </a:r>
            <a:r>
              <a:rPr lang="en-US" dirty="0" err="1"/>
              <a:t>duritate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In </a:t>
            </a:r>
            <a:r>
              <a:rPr lang="en-US" dirty="0" err="1"/>
              <a:t>experimentele</a:t>
            </a:r>
            <a:r>
              <a:rPr lang="en-US" dirty="0"/>
              <a:t> care </a:t>
            </a:r>
            <a:r>
              <a:rPr lang="en-US" dirty="0" err="1"/>
              <a:t>vizeaza</a:t>
            </a:r>
            <a:r>
              <a:rPr lang="en-US" dirty="0"/>
              <a:t> </a:t>
            </a:r>
            <a:r>
              <a:rPr lang="en-US" dirty="0" err="1"/>
              <a:t>studiul</a:t>
            </a:r>
            <a:r>
              <a:rPr lang="en-US" dirty="0"/>
              <a:t> </a:t>
            </a:r>
            <a:r>
              <a:rPr lang="en-US" dirty="0" err="1"/>
              <a:t>senzatiilor</a:t>
            </a:r>
            <a:r>
              <a:rPr lang="en-US" dirty="0"/>
              <a:t> tactile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tina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de </a:t>
            </a:r>
            <a:r>
              <a:rPr lang="en-US" dirty="0" err="1"/>
              <a:t>distinctia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tactul</a:t>
            </a:r>
            <a:r>
              <a:rPr lang="en-US" dirty="0"/>
              <a:t> </a:t>
            </a:r>
            <a:r>
              <a:rPr lang="en-US" dirty="0" err="1"/>
              <a:t>pasiv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tactul</a:t>
            </a:r>
            <a:r>
              <a:rPr lang="en-US" dirty="0"/>
              <a:t> </a:t>
            </a:r>
            <a:r>
              <a:rPr lang="en-US" dirty="0" err="1"/>
              <a:t>activ</a:t>
            </a:r>
            <a:r>
              <a:rPr lang="en-US" dirty="0"/>
              <a:t>.-&gt;</a:t>
            </a:r>
            <a:r>
              <a:rPr lang="en-US" dirty="0" err="1"/>
              <a:t>Mijl</a:t>
            </a:r>
            <a:r>
              <a:rPr lang="en-US" dirty="0"/>
              <a:t>. </a:t>
            </a:r>
            <a:r>
              <a:rPr lang="en-US" dirty="0" err="1"/>
              <a:t>secolului</a:t>
            </a:r>
            <a:r>
              <a:rPr lang="en-US" dirty="0"/>
              <a:t> al XIX-lea. </a:t>
            </a:r>
            <a:r>
              <a:rPr lang="en-US" dirty="0" err="1"/>
              <a:t>Secenov</a:t>
            </a:r>
            <a:r>
              <a:rPr lang="en-US" dirty="0"/>
              <a:t> </a:t>
            </a:r>
            <a:r>
              <a:rPr lang="en-US" dirty="0" err="1"/>
              <a:t>sublinia</a:t>
            </a:r>
            <a:r>
              <a:rPr lang="en-US" dirty="0"/>
              <a:t> </a:t>
            </a:r>
            <a:r>
              <a:rPr lang="en-US" dirty="0" err="1"/>
              <a:t>importanta</a:t>
            </a:r>
            <a:r>
              <a:rPr lang="en-US" dirty="0"/>
              <a:t> </a:t>
            </a:r>
            <a:r>
              <a:rPr lang="en-US" dirty="0" err="1"/>
              <a:t>relatiei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vaz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, tact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chinestezie</a:t>
            </a:r>
            <a:r>
              <a:rPr lang="en-US" dirty="0"/>
              <a:t>-&gt;</a:t>
            </a:r>
            <a:r>
              <a:rPr lang="en-US" b="1" dirty="0" err="1"/>
              <a:t>complexul</a:t>
            </a:r>
            <a:r>
              <a:rPr lang="en-US" b="1" dirty="0"/>
              <a:t> </a:t>
            </a:r>
            <a:r>
              <a:rPr lang="en-US" b="1" dirty="0" err="1"/>
              <a:t>senzorial</a:t>
            </a:r>
            <a:r>
              <a:rPr lang="en-US" b="1" dirty="0"/>
              <a:t> </a:t>
            </a:r>
            <a:r>
              <a:rPr lang="en-US" b="1" dirty="0" err="1"/>
              <a:t>tactilo-chinestezic</a:t>
            </a:r>
            <a:r>
              <a:rPr lang="en-US" b="1" dirty="0"/>
              <a:t>.</a:t>
            </a:r>
            <a:r>
              <a:rPr lang="en-US" dirty="0"/>
              <a:t> -&gt;In </a:t>
            </a:r>
            <a:r>
              <a:rPr lang="en-US" dirty="0" err="1"/>
              <a:t>explorarea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cale</a:t>
            </a:r>
            <a:r>
              <a:rPr lang="en-US" dirty="0"/>
              <a:t> </a:t>
            </a:r>
            <a:r>
              <a:rPr lang="en-US" dirty="0" err="1"/>
              <a:t>tactila</a:t>
            </a:r>
            <a:r>
              <a:rPr lang="en-US" dirty="0"/>
              <a:t> </a:t>
            </a:r>
            <a:r>
              <a:rPr lang="en-US" dirty="0" err="1"/>
              <a:t>constatam</a:t>
            </a:r>
            <a:r>
              <a:rPr lang="en-US" dirty="0"/>
              <a:t> </a:t>
            </a:r>
            <a:r>
              <a:rPr lang="en-US" dirty="0" err="1"/>
              <a:t>importanta</a:t>
            </a:r>
            <a:r>
              <a:rPr lang="en-US" dirty="0"/>
              <a:t> </a:t>
            </a:r>
            <a:r>
              <a:rPr lang="en-US" dirty="0" err="1"/>
              <a:t>asimetriei</a:t>
            </a:r>
            <a:r>
              <a:rPr lang="en-US" dirty="0"/>
              <a:t> </a:t>
            </a:r>
            <a:r>
              <a:rPr lang="en-US" dirty="0" err="1"/>
              <a:t>functionale</a:t>
            </a:r>
            <a:r>
              <a:rPr lang="en-US" dirty="0"/>
              <a:t> a </a:t>
            </a:r>
            <a:r>
              <a:rPr lang="en-US" dirty="0" err="1"/>
              <a:t>mainilor</a:t>
            </a:r>
            <a:r>
              <a:rPr lang="en-US" dirty="0"/>
              <a:t>: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dominanta</a:t>
            </a:r>
            <a:r>
              <a:rPr lang="en-US" dirty="0"/>
              <a:t>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miscarile</a:t>
            </a:r>
            <a:r>
              <a:rPr lang="en-US" dirty="0"/>
              <a:t> de </a:t>
            </a:r>
            <a:r>
              <a:rPr lang="en-US" dirty="0" err="1"/>
              <a:t>percepere</a:t>
            </a:r>
            <a:r>
              <a:rPr lang="en-US" dirty="0"/>
              <a:t> </a:t>
            </a:r>
            <a:r>
              <a:rPr lang="en-US" dirty="0" err="1"/>
              <a:t>propriu-zisa,iar</a:t>
            </a:r>
            <a:r>
              <a:rPr lang="en-US" dirty="0"/>
              <a:t>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subdominanta</a:t>
            </a:r>
            <a:r>
              <a:rPr lang="en-US" dirty="0"/>
              <a:t>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miscarile</a:t>
            </a:r>
            <a:r>
              <a:rPr lang="en-US" dirty="0"/>
              <a:t> de </a:t>
            </a:r>
            <a:r>
              <a:rPr lang="en-US" dirty="0" err="1"/>
              <a:t>fixare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sustinere</a:t>
            </a:r>
            <a:r>
              <a:rPr lang="en-US" dirty="0"/>
              <a:t> a </a:t>
            </a:r>
            <a:r>
              <a:rPr lang="en-US" dirty="0" err="1"/>
              <a:t>obiectului</a:t>
            </a:r>
            <a:r>
              <a:rPr lang="en-US" dirty="0"/>
              <a:t>.-&gt; la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dominanta</a:t>
            </a:r>
            <a:r>
              <a:rPr lang="en-US" dirty="0"/>
              <a:t> se </a:t>
            </a:r>
            <a:r>
              <a:rPr lang="en-US" dirty="0" err="1"/>
              <a:t>constata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ierarhizare</a:t>
            </a:r>
            <a:r>
              <a:rPr lang="en-US" dirty="0"/>
              <a:t> a </a:t>
            </a:r>
            <a:r>
              <a:rPr lang="en-US" dirty="0" err="1"/>
              <a:t>degetelor:degetul</a:t>
            </a:r>
            <a:r>
              <a:rPr lang="en-US" dirty="0"/>
              <a:t> </a:t>
            </a:r>
            <a:r>
              <a:rPr lang="en-US" dirty="0" err="1"/>
              <a:t>aratator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mijlociu</a:t>
            </a:r>
            <a:r>
              <a:rPr lang="en-US" dirty="0"/>
              <a:t>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explorarea</a:t>
            </a:r>
            <a:r>
              <a:rPr lang="en-US" dirty="0"/>
              <a:t> </a:t>
            </a:r>
            <a:r>
              <a:rPr lang="en-US" dirty="0" err="1"/>
              <a:t>suprafetelor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asperitatii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degetul</a:t>
            </a:r>
            <a:r>
              <a:rPr lang="en-US" dirty="0"/>
              <a:t> </a:t>
            </a:r>
            <a:r>
              <a:rPr lang="en-US" dirty="0" err="1"/>
              <a:t>aratator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mare </a:t>
            </a:r>
            <a:r>
              <a:rPr lang="en-US" dirty="0" err="1"/>
              <a:t>detecteaza</a:t>
            </a:r>
            <a:r>
              <a:rPr lang="en-US" dirty="0"/>
              <a:t> </a:t>
            </a:r>
            <a:r>
              <a:rPr lang="en-US" dirty="0" err="1"/>
              <a:t>colturile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II </a:t>
            </a:r>
            <a:r>
              <a:rPr lang="en-US" b="1" dirty="0" err="1"/>
              <a:t>Senzatiile</a:t>
            </a:r>
            <a:r>
              <a:rPr lang="en-US" b="1" dirty="0"/>
              <a:t> </a:t>
            </a:r>
            <a:r>
              <a:rPr lang="en-US" b="1" dirty="0" err="1"/>
              <a:t>termice</a:t>
            </a:r>
            <a:r>
              <a:rPr lang="en-US" b="1" dirty="0"/>
              <a:t> </a:t>
            </a:r>
            <a:r>
              <a:rPr lang="en-US" dirty="0"/>
              <a:t>-&gt;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cald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rece</a:t>
            </a:r>
            <a:r>
              <a:rPr lang="en-US" dirty="0"/>
              <a:t>. </a:t>
            </a:r>
            <a:r>
              <a:rPr lang="en-US" dirty="0" err="1"/>
              <a:t>Cercetarile</a:t>
            </a:r>
            <a:r>
              <a:rPr lang="en-US" dirty="0"/>
              <a:t> au </a:t>
            </a:r>
            <a:r>
              <a:rPr lang="en-US" dirty="0" err="1"/>
              <a:t>demonstrat</a:t>
            </a:r>
            <a:r>
              <a:rPr lang="en-US" dirty="0"/>
              <a:t> </a:t>
            </a:r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gradatii</a:t>
            </a:r>
            <a:r>
              <a:rPr lang="en-US" dirty="0"/>
              <a:t> </a:t>
            </a:r>
            <a:r>
              <a:rPr lang="en-US" dirty="0" err="1"/>
              <a:t>descendente</a:t>
            </a:r>
            <a:r>
              <a:rPr lang="en-US" dirty="0"/>
              <a:t> a </a:t>
            </a:r>
            <a:r>
              <a:rPr lang="en-US" dirty="0" err="1"/>
              <a:t>temperaturii</a:t>
            </a:r>
            <a:r>
              <a:rPr lang="en-US" dirty="0"/>
              <a:t> </a:t>
            </a:r>
            <a:r>
              <a:rPr lang="en-US" dirty="0" err="1"/>
              <a:t>corpului</a:t>
            </a:r>
            <a:r>
              <a:rPr lang="en-US" dirty="0"/>
              <a:t> </a:t>
            </a:r>
            <a:r>
              <a:rPr lang="en-US" dirty="0" err="1"/>
              <a:t>uman</a:t>
            </a:r>
            <a:r>
              <a:rPr lang="en-US" dirty="0"/>
              <a:t>: temp </a:t>
            </a:r>
            <a:r>
              <a:rPr lang="en-US" dirty="0" err="1"/>
              <a:t>sangelui</a:t>
            </a:r>
            <a:r>
              <a:rPr lang="en-US" dirty="0"/>
              <a:t> in circulatie-37,5grade; temp ficatului-38-38,5grade; </a:t>
            </a:r>
            <a:r>
              <a:rPr lang="en-US" dirty="0" err="1"/>
              <a:t>suprafata</a:t>
            </a:r>
            <a:r>
              <a:rPr lang="en-US" dirty="0"/>
              <a:t> obrajilor-25 grade; </a:t>
            </a:r>
            <a:r>
              <a:rPr lang="en-US" dirty="0" err="1"/>
              <a:t>suprafata</a:t>
            </a:r>
            <a:r>
              <a:rPr lang="en-US" dirty="0"/>
              <a:t> abdominala-34 grade; </a:t>
            </a:r>
            <a:r>
              <a:rPr lang="en-US" dirty="0" err="1"/>
              <a:t>suprafata</a:t>
            </a:r>
            <a:r>
              <a:rPr lang="en-US" dirty="0"/>
              <a:t> fruntii-35 grade.</a:t>
            </a:r>
          </a:p>
          <a:p>
            <a:r>
              <a:rPr lang="en-US" dirty="0" err="1"/>
              <a:t>Pragul</a:t>
            </a:r>
            <a:r>
              <a:rPr lang="en-US" dirty="0"/>
              <a:t> care </a:t>
            </a:r>
            <a:r>
              <a:rPr lang="en-US" dirty="0" err="1"/>
              <a:t>desparte</a:t>
            </a:r>
            <a:r>
              <a:rPr lang="en-US" dirty="0"/>
              <a:t> </a:t>
            </a:r>
            <a:r>
              <a:rPr lang="en-US" dirty="0" err="1"/>
              <a:t>senzatia</a:t>
            </a:r>
            <a:r>
              <a:rPr lang="en-US" dirty="0"/>
              <a:t> de </a:t>
            </a:r>
            <a:r>
              <a:rPr lang="en-US" dirty="0" err="1"/>
              <a:t>cald</a:t>
            </a:r>
            <a:r>
              <a:rPr lang="en-US" dirty="0"/>
              <a:t> de </a:t>
            </a:r>
            <a:r>
              <a:rPr lang="en-US" dirty="0" err="1"/>
              <a:t>cea</a:t>
            </a:r>
            <a:r>
              <a:rPr lang="en-US" dirty="0"/>
              <a:t> de </a:t>
            </a:r>
            <a:r>
              <a:rPr lang="en-US" dirty="0" err="1"/>
              <a:t>rece</a:t>
            </a:r>
            <a:r>
              <a:rPr lang="en-US" dirty="0"/>
              <a:t>- zero </a:t>
            </a:r>
            <a:r>
              <a:rPr lang="en-US" dirty="0" err="1"/>
              <a:t>fiziologic</a:t>
            </a:r>
            <a:r>
              <a:rPr lang="en-US" dirty="0"/>
              <a:t> </a:t>
            </a:r>
            <a:r>
              <a:rPr lang="en-US" dirty="0" err="1"/>
              <a:t>echivalent</a:t>
            </a:r>
            <a:r>
              <a:rPr lang="en-US" dirty="0"/>
              <a:t> cu temp </a:t>
            </a:r>
            <a:r>
              <a:rPr lang="en-US" dirty="0" err="1"/>
              <a:t>suprafetei</a:t>
            </a:r>
            <a:r>
              <a:rPr lang="en-US" dirty="0"/>
              <a:t> </a:t>
            </a:r>
            <a:r>
              <a:rPr lang="en-US" dirty="0" err="1"/>
              <a:t>pielii</a:t>
            </a:r>
            <a:r>
              <a:rPr lang="en-US" dirty="0"/>
              <a:t> </a:t>
            </a:r>
            <a:r>
              <a:rPr lang="en-US" dirty="0" err="1"/>
              <a:t>cuprinsa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20 </a:t>
            </a:r>
            <a:r>
              <a:rPr lang="en-US" dirty="0" err="1"/>
              <a:t>si</a:t>
            </a:r>
            <a:r>
              <a:rPr lang="en-US" dirty="0"/>
              <a:t> 36 de grade; </a:t>
            </a:r>
            <a:r>
              <a:rPr lang="en-US" dirty="0" err="1"/>
              <a:t>rece</a:t>
            </a:r>
            <a:r>
              <a:rPr lang="en-US" dirty="0"/>
              <a:t>-sub zero </a:t>
            </a:r>
            <a:r>
              <a:rPr lang="en-US" dirty="0" err="1"/>
              <a:t>fiziologic</a:t>
            </a:r>
            <a:r>
              <a:rPr lang="en-US" dirty="0"/>
              <a:t>, </a:t>
            </a:r>
            <a:r>
              <a:rPr lang="en-US" dirty="0" err="1"/>
              <a:t>cald</a:t>
            </a:r>
            <a:r>
              <a:rPr lang="en-US" dirty="0"/>
              <a:t> </a:t>
            </a:r>
            <a:r>
              <a:rPr lang="en-US" dirty="0" err="1"/>
              <a:t>deasupra</a:t>
            </a:r>
            <a:r>
              <a:rPr lang="en-US" dirty="0"/>
              <a:t> zero </a:t>
            </a:r>
            <a:r>
              <a:rPr lang="en-US" dirty="0" err="1"/>
              <a:t>fiziologic</a:t>
            </a:r>
            <a:r>
              <a:rPr lang="en-US" dirty="0"/>
              <a:t>, </a:t>
            </a:r>
            <a:r>
              <a:rPr lang="en-US" dirty="0" err="1"/>
              <a:t>fierbinte</a:t>
            </a:r>
            <a:r>
              <a:rPr lang="en-US" dirty="0"/>
              <a:t>- 40-47 grade; </a:t>
            </a:r>
            <a:r>
              <a:rPr lang="en-US" dirty="0" err="1"/>
              <a:t>Cercetarile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Wach</a:t>
            </a:r>
            <a:r>
              <a:rPr lang="en-US" dirty="0"/>
              <a:t> au </a:t>
            </a:r>
            <a:r>
              <a:rPr lang="en-US" dirty="0" err="1"/>
              <a:t>demonstrat</a:t>
            </a:r>
            <a:r>
              <a:rPr lang="en-US" dirty="0"/>
              <a:t> ca pt </a:t>
            </a:r>
            <a:r>
              <a:rPr lang="en-US" dirty="0" err="1"/>
              <a:t>producerea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de </a:t>
            </a:r>
            <a:r>
              <a:rPr lang="en-US" dirty="0" err="1"/>
              <a:t>cald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necesara</a:t>
            </a:r>
            <a:r>
              <a:rPr lang="en-US" dirty="0"/>
              <a:t> o </a:t>
            </a:r>
            <a:r>
              <a:rPr lang="en-US" dirty="0" err="1"/>
              <a:t>deviatie</a:t>
            </a:r>
            <a:r>
              <a:rPr lang="en-US" dirty="0"/>
              <a:t> de 0.2 grade </a:t>
            </a:r>
            <a:r>
              <a:rPr lang="en-US" dirty="0" err="1"/>
              <a:t>peste</a:t>
            </a:r>
            <a:r>
              <a:rPr lang="en-US" dirty="0"/>
              <a:t> zero </a:t>
            </a:r>
            <a:r>
              <a:rPr lang="en-US" dirty="0" err="1"/>
              <a:t>fiziologic</a:t>
            </a:r>
            <a:r>
              <a:rPr lang="en-US" dirty="0"/>
              <a:t> </a:t>
            </a:r>
            <a:r>
              <a:rPr lang="en-US" dirty="0" err="1"/>
              <a:t>iar</a:t>
            </a:r>
            <a:r>
              <a:rPr lang="en-US" dirty="0"/>
              <a:t> pt </a:t>
            </a:r>
            <a:r>
              <a:rPr lang="en-US" dirty="0" err="1"/>
              <a:t>producerea</a:t>
            </a:r>
            <a:r>
              <a:rPr lang="en-US" dirty="0"/>
              <a:t> </a:t>
            </a:r>
            <a:r>
              <a:rPr lang="en-US" dirty="0" err="1"/>
              <a:t>senzatiei</a:t>
            </a:r>
            <a:r>
              <a:rPr lang="en-US" dirty="0"/>
              <a:t> de </a:t>
            </a:r>
            <a:r>
              <a:rPr lang="en-US" dirty="0" err="1"/>
              <a:t>rece</a:t>
            </a:r>
            <a:r>
              <a:rPr lang="en-US" dirty="0"/>
              <a:t>, o </a:t>
            </a:r>
            <a:r>
              <a:rPr lang="en-US" dirty="0" err="1"/>
              <a:t>deviatie</a:t>
            </a:r>
            <a:r>
              <a:rPr lang="en-US" dirty="0"/>
              <a:t> de 0.4 grade sub zero </a:t>
            </a:r>
            <a:r>
              <a:rPr lang="en-US" dirty="0" err="1"/>
              <a:t>fiziologic</a:t>
            </a:r>
            <a:r>
              <a:rPr lang="en-US" dirty="0"/>
              <a:t>.</a:t>
            </a:r>
          </a:p>
          <a:p>
            <a:r>
              <a:rPr lang="en-US" dirty="0" err="1"/>
              <a:t>Contrastul-cel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relevant </a:t>
            </a:r>
            <a:r>
              <a:rPr lang="en-US" dirty="0" err="1"/>
              <a:t>fenomen</a:t>
            </a:r>
            <a:r>
              <a:rPr lang="en-US" dirty="0"/>
              <a:t>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termice</a:t>
            </a:r>
            <a:r>
              <a:rPr lang="en-US" dirty="0"/>
              <a:t>: un contact </a:t>
            </a:r>
            <a:r>
              <a:rPr lang="en-US" dirty="0" err="1"/>
              <a:t>prelungit</a:t>
            </a:r>
            <a:r>
              <a:rPr lang="en-US" dirty="0"/>
              <a:t> cu un </a:t>
            </a:r>
            <a:r>
              <a:rPr lang="en-US" dirty="0" err="1"/>
              <a:t>stimul</a:t>
            </a:r>
            <a:r>
              <a:rPr lang="en-US" dirty="0"/>
              <a:t> </a:t>
            </a:r>
            <a:r>
              <a:rPr lang="en-US" dirty="0" err="1"/>
              <a:t>cald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reci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invers</a:t>
            </a:r>
            <a:r>
              <a:rPr lang="en-US" dirty="0"/>
              <a:t>.</a:t>
            </a:r>
          </a:p>
          <a:p>
            <a:r>
              <a:rPr lang="en-US" dirty="0" err="1"/>
              <a:t>Senzatiile</a:t>
            </a:r>
            <a:r>
              <a:rPr lang="en-US" dirty="0"/>
              <a:t> </a:t>
            </a:r>
            <a:r>
              <a:rPr lang="en-US" dirty="0" err="1"/>
              <a:t>cutanate</a:t>
            </a:r>
            <a:r>
              <a:rPr lang="en-US" dirty="0"/>
              <a:t> </a:t>
            </a:r>
            <a:r>
              <a:rPr lang="en-US" dirty="0" err="1"/>
              <a:t>termice</a:t>
            </a:r>
            <a:r>
              <a:rPr lang="en-US" dirty="0"/>
              <a:t> au un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adaptativ</a:t>
            </a:r>
            <a:r>
              <a:rPr lang="en-US" dirty="0"/>
              <a:t> important in </a:t>
            </a:r>
            <a:r>
              <a:rPr lang="en-US" dirty="0" err="1"/>
              <a:t>reglarea</a:t>
            </a:r>
            <a:r>
              <a:rPr lang="en-US" dirty="0"/>
              <a:t> </a:t>
            </a:r>
            <a:r>
              <a:rPr lang="en-US" dirty="0" err="1"/>
              <a:t>homeostaziei</a:t>
            </a:r>
            <a:r>
              <a:rPr lang="en-US" dirty="0"/>
              <a:t> </a:t>
            </a:r>
            <a:r>
              <a:rPr lang="en-US" dirty="0" err="1"/>
              <a:t>organismului</a:t>
            </a:r>
            <a:r>
              <a:rPr lang="en-US" dirty="0"/>
              <a:t>.-&gt;</a:t>
            </a:r>
            <a:r>
              <a:rPr lang="en-US" dirty="0" err="1"/>
              <a:t>actiunea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reci</a:t>
            </a:r>
            <a:r>
              <a:rPr lang="en-US" dirty="0"/>
              <a:t> </a:t>
            </a:r>
            <a:r>
              <a:rPr lang="en-US" dirty="0" err="1"/>
              <a:t>declanseaza</a:t>
            </a:r>
            <a:r>
              <a:rPr lang="en-US" dirty="0"/>
              <a:t> </a:t>
            </a:r>
            <a:r>
              <a:rPr lang="en-US" dirty="0" err="1"/>
              <a:t>reactii</a:t>
            </a:r>
            <a:r>
              <a:rPr lang="en-US" dirty="0"/>
              <a:t> de </a:t>
            </a:r>
            <a:r>
              <a:rPr lang="en-US" dirty="0" err="1"/>
              <a:t>conservare</a:t>
            </a:r>
            <a:r>
              <a:rPr lang="en-US" dirty="0"/>
              <a:t> a </a:t>
            </a:r>
            <a:r>
              <a:rPr lang="en-US" dirty="0" err="1"/>
              <a:t>caldurii</a:t>
            </a:r>
            <a:r>
              <a:rPr lang="en-US" dirty="0"/>
              <a:t> </a:t>
            </a:r>
            <a:r>
              <a:rPr lang="en-US" dirty="0" err="1"/>
              <a:t>corpului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vasoconstrictie,piloerectie,tremurat</a:t>
            </a:r>
            <a:r>
              <a:rPr lang="en-US" dirty="0"/>
              <a:t> 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intensificarea</a:t>
            </a:r>
            <a:r>
              <a:rPr lang="en-US" dirty="0"/>
              <a:t> </a:t>
            </a:r>
            <a:r>
              <a:rPr lang="en-US" dirty="0" err="1"/>
              <a:t>miscarilor</a:t>
            </a:r>
            <a:r>
              <a:rPr lang="en-US" dirty="0"/>
              <a:t> de </a:t>
            </a:r>
            <a:r>
              <a:rPr lang="en-US" dirty="0" err="1"/>
              <a:t>incalzire;actiunea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calzi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</a:t>
            </a:r>
            <a:r>
              <a:rPr lang="en-US" dirty="0" err="1"/>
              <a:t>vasodilatatia</a:t>
            </a:r>
            <a:r>
              <a:rPr lang="en-US" dirty="0"/>
              <a:t>, </a:t>
            </a:r>
            <a:r>
              <a:rPr lang="en-US" dirty="0" err="1"/>
              <a:t>deschiderea</a:t>
            </a:r>
            <a:r>
              <a:rPr lang="en-US" dirty="0"/>
              <a:t> </a:t>
            </a:r>
            <a:r>
              <a:rPr lang="en-US" dirty="0" err="1"/>
              <a:t>porilor,incetinirea</a:t>
            </a:r>
            <a:r>
              <a:rPr lang="en-US" dirty="0"/>
              <a:t> </a:t>
            </a:r>
            <a:r>
              <a:rPr lang="en-US" dirty="0" err="1"/>
              <a:t>arderilor,diminuare</a:t>
            </a:r>
            <a:r>
              <a:rPr lang="en-US" dirty="0"/>
              <a:t> </a:t>
            </a:r>
            <a:r>
              <a:rPr lang="en-US" dirty="0" err="1"/>
              <a:t>ritmuri</a:t>
            </a:r>
            <a:r>
              <a:rPr lang="en-US" dirty="0"/>
              <a:t> </a:t>
            </a:r>
            <a:r>
              <a:rPr lang="en-US" dirty="0" err="1"/>
              <a:t>motorii,transpiratie</a:t>
            </a:r>
            <a:r>
              <a:rPr lang="en-US" dirty="0"/>
              <a:t>, </a:t>
            </a:r>
            <a:r>
              <a:rPr lang="en-US" dirty="0" err="1"/>
              <a:t>cautarea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locuri</a:t>
            </a:r>
            <a:r>
              <a:rPr lang="en-US" dirty="0"/>
              <a:t> </a:t>
            </a:r>
            <a:r>
              <a:rPr lang="en-US" dirty="0" err="1"/>
              <a:t>racoroase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477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III </a:t>
            </a:r>
            <a:r>
              <a:rPr lang="en-US" b="1" dirty="0" err="1"/>
              <a:t>Senzatiile</a:t>
            </a:r>
            <a:r>
              <a:rPr lang="en-US" b="1" dirty="0"/>
              <a:t> </a:t>
            </a:r>
            <a:r>
              <a:rPr lang="en-US" b="1" dirty="0" err="1"/>
              <a:t>algice</a:t>
            </a:r>
            <a:r>
              <a:rPr lang="en-US" b="1" dirty="0"/>
              <a:t> </a:t>
            </a:r>
            <a:r>
              <a:rPr lang="en-US" b="1" dirty="0" err="1"/>
              <a:t>cutanate</a:t>
            </a:r>
            <a:r>
              <a:rPr lang="en-US" b="1" dirty="0"/>
              <a:t>(de </a:t>
            </a:r>
            <a:r>
              <a:rPr lang="en-US" b="1" dirty="0" err="1"/>
              <a:t>durere</a:t>
            </a:r>
            <a:r>
              <a:rPr lang="en-US" b="1" dirty="0"/>
              <a:t>) </a:t>
            </a:r>
            <a:r>
              <a:rPr lang="en-US" dirty="0"/>
              <a:t>-&gt; </a:t>
            </a:r>
            <a:r>
              <a:rPr lang="en-US" dirty="0" err="1"/>
              <a:t>semnalizeaza</a:t>
            </a:r>
            <a:r>
              <a:rPr lang="en-US" dirty="0"/>
              <a:t> o </a:t>
            </a:r>
            <a:r>
              <a:rPr lang="en-US" dirty="0" err="1"/>
              <a:t>agresiune</a:t>
            </a:r>
            <a:r>
              <a:rPr lang="en-US" dirty="0"/>
              <a:t> </a:t>
            </a:r>
            <a:r>
              <a:rPr lang="en-US" dirty="0" err="1"/>
              <a:t>mecanica</a:t>
            </a:r>
            <a:r>
              <a:rPr lang="en-US" dirty="0"/>
              <a:t>, </a:t>
            </a:r>
            <a:r>
              <a:rPr lang="en-US" dirty="0" err="1"/>
              <a:t>termica</a:t>
            </a:r>
            <a:r>
              <a:rPr lang="en-US" dirty="0"/>
              <a:t>, </a:t>
            </a:r>
            <a:r>
              <a:rPr lang="en-US" dirty="0" err="1"/>
              <a:t>chimica</a:t>
            </a:r>
            <a:r>
              <a:rPr lang="en-US" dirty="0"/>
              <a:t>, </a:t>
            </a:r>
            <a:r>
              <a:rPr lang="en-US" dirty="0" err="1"/>
              <a:t>electrica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tegumentului</a:t>
            </a:r>
            <a:r>
              <a:rPr lang="en-US" dirty="0"/>
              <a:t>.-&gt;</a:t>
            </a:r>
            <a:r>
              <a:rPr lang="en-US" dirty="0" err="1"/>
              <a:t>Acest</a:t>
            </a:r>
            <a:r>
              <a:rPr lang="en-US" dirty="0"/>
              <a:t> tip de </a:t>
            </a:r>
            <a:r>
              <a:rPr lang="en-US" dirty="0" err="1"/>
              <a:t>senzatii</a:t>
            </a:r>
            <a:r>
              <a:rPr lang="en-US" dirty="0"/>
              <a:t> se </a:t>
            </a:r>
            <a:r>
              <a:rPr lang="en-US" dirty="0" err="1"/>
              <a:t>elaboreaza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lent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incat</a:t>
            </a:r>
            <a:r>
              <a:rPr lang="en-US" dirty="0"/>
              <a:t> in stare de </a:t>
            </a:r>
            <a:r>
              <a:rPr lang="en-US" dirty="0" err="1"/>
              <a:t>veghe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treaca</a:t>
            </a:r>
            <a:r>
              <a:rPr lang="en-US" dirty="0"/>
              <a:t> </a:t>
            </a:r>
            <a:r>
              <a:rPr lang="en-US" dirty="0" err="1"/>
              <a:t>cca</a:t>
            </a:r>
            <a:r>
              <a:rPr lang="en-US" dirty="0"/>
              <a:t> o </a:t>
            </a:r>
            <a:r>
              <a:rPr lang="en-US" dirty="0" err="1"/>
              <a:t>secunda</a:t>
            </a:r>
            <a:r>
              <a:rPr lang="en-US" dirty="0"/>
              <a:t> pt a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activat</a:t>
            </a:r>
            <a:r>
              <a:rPr lang="en-US" dirty="0"/>
              <a:t> </a:t>
            </a:r>
            <a:r>
              <a:rPr lang="en-US" dirty="0" err="1"/>
              <a:t>cortexul</a:t>
            </a:r>
            <a:r>
              <a:rPr lang="en-US" dirty="0"/>
              <a:t>.-&gt;s-a </a:t>
            </a:r>
            <a:r>
              <a:rPr lang="en-US" dirty="0" err="1"/>
              <a:t>conturat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ca in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senzatiilor</a:t>
            </a:r>
            <a:r>
              <a:rPr lang="en-US" dirty="0"/>
              <a:t> </a:t>
            </a:r>
            <a:r>
              <a:rPr lang="en-US" dirty="0" err="1"/>
              <a:t>algice</a:t>
            </a:r>
            <a:r>
              <a:rPr lang="en-US" dirty="0"/>
              <a:t> </a:t>
            </a:r>
            <a:r>
              <a:rPr lang="en-US" dirty="0" err="1"/>
              <a:t>cutanate</a:t>
            </a:r>
            <a:r>
              <a:rPr lang="en-US" dirty="0"/>
              <a:t> </a:t>
            </a:r>
            <a:r>
              <a:rPr lang="en-US" dirty="0" err="1"/>
              <a:t>caile</a:t>
            </a:r>
            <a:r>
              <a:rPr lang="en-US" dirty="0"/>
              <a:t> </a:t>
            </a:r>
            <a:r>
              <a:rPr lang="en-US" dirty="0" err="1"/>
              <a:t>nespecifice</a:t>
            </a:r>
            <a:r>
              <a:rPr lang="en-US" dirty="0"/>
              <a:t> au un </a:t>
            </a:r>
            <a:r>
              <a:rPr lang="en-US" dirty="0" err="1"/>
              <a:t>rol</a:t>
            </a:r>
            <a:r>
              <a:rPr lang="en-US" dirty="0"/>
              <a:t> fundamental </a:t>
            </a:r>
            <a:r>
              <a:rPr lang="en-US" dirty="0" err="1"/>
              <a:t>si</a:t>
            </a:r>
            <a:r>
              <a:rPr lang="en-US" dirty="0"/>
              <a:t> s-a </a:t>
            </a:r>
            <a:r>
              <a:rPr lang="en-US" dirty="0" err="1"/>
              <a:t>conturat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transmisie</a:t>
            </a:r>
            <a:r>
              <a:rPr lang="en-US" b="1" dirty="0"/>
              <a:t>: 2 cognitive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unul</a:t>
            </a:r>
            <a:r>
              <a:rPr lang="en-US" b="1" dirty="0"/>
              <a:t> </a:t>
            </a:r>
            <a:r>
              <a:rPr lang="en-US" b="1" dirty="0" err="1"/>
              <a:t>afectiv</a:t>
            </a:r>
            <a:r>
              <a:rPr lang="en-US" b="1" dirty="0"/>
              <a:t>.</a:t>
            </a:r>
            <a:endParaRPr lang="en-US" dirty="0"/>
          </a:p>
          <a:p>
            <a:pPr>
              <a:buNone/>
            </a:pPr>
            <a:r>
              <a:rPr lang="en-US" dirty="0" err="1"/>
              <a:t>Primul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cognitiv</a:t>
            </a:r>
            <a:r>
              <a:rPr lang="en-US" dirty="0"/>
              <a:t>-&gt;</a:t>
            </a:r>
            <a:r>
              <a:rPr lang="en-US" dirty="0" err="1"/>
              <a:t>fibrele</a:t>
            </a:r>
            <a:r>
              <a:rPr lang="en-US" dirty="0"/>
              <a:t> </a:t>
            </a:r>
            <a:r>
              <a:rPr lang="en-US" dirty="0" err="1"/>
              <a:t>nervoase</a:t>
            </a:r>
            <a:r>
              <a:rPr lang="en-US" dirty="0"/>
              <a:t> </a:t>
            </a:r>
            <a:r>
              <a:rPr lang="en-US" dirty="0" err="1"/>
              <a:t>senzitive</a:t>
            </a:r>
            <a:r>
              <a:rPr lang="en-US" dirty="0"/>
              <a:t> de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formatiunii</a:t>
            </a:r>
            <a:r>
              <a:rPr lang="en-US" dirty="0"/>
              <a:t> </a:t>
            </a:r>
            <a:r>
              <a:rPr lang="en-US" dirty="0" err="1"/>
              <a:t>reticulare</a:t>
            </a:r>
            <a:r>
              <a:rPr lang="en-US" dirty="0"/>
              <a:t> </a:t>
            </a:r>
            <a:r>
              <a:rPr lang="en-US" dirty="0" err="1"/>
              <a:t>mezencefalice</a:t>
            </a:r>
            <a:r>
              <a:rPr lang="en-US" dirty="0"/>
              <a:t> care </a:t>
            </a:r>
            <a:r>
              <a:rPr lang="en-US" dirty="0" err="1"/>
              <a:t>sigura</a:t>
            </a:r>
            <a:r>
              <a:rPr lang="en-US" dirty="0"/>
              <a:t> </a:t>
            </a:r>
            <a:r>
              <a:rPr lang="en-US" dirty="0" err="1"/>
              <a:t>starea</a:t>
            </a:r>
            <a:r>
              <a:rPr lang="en-US" dirty="0"/>
              <a:t> de </a:t>
            </a:r>
            <a:r>
              <a:rPr lang="en-US" dirty="0" err="1"/>
              <a:t>vigilenta</a:t>
            </a:r>
            <a:r>
              <a:rPr lang="en-US" dirty="0"/>
              <a:t> </a:t>
            </a:r>
            <a:r>
              <a:rPr lang="en-US" dirty="0" err="1"/>
              <a:t>nespecializata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care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tratarea</a:t>
            </a:r>
            <a:r>
              <a:rPr lang="en-US" dirty="0"/>
              <a:t> </a:t>
            </a:r>
            <a:r>
              <a:rPr lang="en-US" dirty="0" err="1"/>
              <a:t>mesajelor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cortex.</a:t>
            </a:r>
          </a:p>
          <a:p>
            <a:pPr>
              <a:buNone/>
            </a:pPr>
            <a:r>
              <a:rPr lang="en-US" dirty="0"/>
              <a:t>Al </a:t>
            </a:r>
            <a:r>
              <a:rPr lang="en-US" dirty="0" err="1"/>
              <a:t>doilea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cognitiv</a:t>
            </a:r>
            <a:r>
              <a:rPr lang="en-US" dirty="0"/>
              <a:t>-&gt;</a:t>
            </a:r>
            <a:r>
              <a:rPr lang="en-US" dirty="0" err="1"/>
              <a:t>nucleele</a:t>
            </a:r>
            <a:r>
              <a:rPr lang="en-US" dirty="0"/>
              <a:t> </a:t>
            </a:r>
            <a:r>
              <a:rPr lang="en-US" dirty="0" err="1"/>
              <a:t>reticulare</a:t>
            </a:r>
            <a:r>
              <a:rPr lang="en-US" dirty="0"/>
              <a:t> ale </a:t>
            </a:r>
            <a:r>
              <a:rPr lang="en-US" dirty="0" err="1"/>
              <a:t>talamusului</a:t>
            </a:r>
            <a:r>
              <a:rPr lang="en-US" dirty="0"/>
              <a:t> care </a:t>
            </a:r>
            <a:r>
              <a:rPr lang="en-US" dirty="0" err="1"/>
              <a:t>reunesc</a:t>
            </a:r>
            <a:r>
              <a:rPr lang="en-US" dirty="0"/>
              <a:t> </a:t>
            </a:r>
            <a:r>
              <a:rPr lang="en-US" dirty="0" err="1"/>
              <a:t>fibrele</a:t>
            </a:r>
            <a:r>
              <a:rPr lang="en-US" dirty="0"/>
              <a:t> </a:t>
            </a:r>
            <a:r>
              <a:rPr lang="en-US" dirty="0" err="1"/>
              <a:t>nervoase</a:t>
            </a:r>
            <a:r>
              <a:rPr lang="en-US" dirty="0"/>
              <a:t> </a:t>
            </a:r>
            <a:r>
              <a:rPr lang="en-US" dirty="0" err="1"/>
              <a:t>apartinand</a:t>
            </a:r>
            <a:r>
              <a:rPr lang="en-US" dirty="0"/>
              <a:t> </a:t>
            </a:r>
            <a:r>
              <a:rPr lang="en-US" dirty="0" err="1"/>
              <a:t>rinencefalului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Al </a:t>
            </a:r>
            <a:r>
              <a:rPr lang="en-US" dirty="0" err="1"/>
              <a:t>treilea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afectiv</a:t>
            </a:r>
            <a:r>
              <a:rPr lang="en-US" dirty="0"/>
              <a:t>-&gt;”</a:t>
            </a:r>
            <a:r>
              <a:rPr lang="en-US" dirty="0" err="1"/>
              <a:t>circuitul</a:t>
            </a:r>
            <a:r>
              <a:rPr lang="en-US" dirty="0"/>
              <a:t> emotional” </a:t>
            </a:r>
            <a:r>
              <a:rPr lang="en-US" dirty="0" err="1"/>
              <a:t>realizat</a:t>
            </a:r>
            <a:r>
              <a:rPr lang="en-US" dirty="0"/>
              <a:t> de </a:t>
            </a:r>
            <a:r>
              <a:rPr lang="en-US" dirty="0" err="1"/>
              <a:t>formatiunile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limbic </a:t>
            </a:r>
            <a:r>
              <a:rPr lang="en-US" dirty="0" err="1"/>
              <a:t>unde</a:t>
            </a:r>
            <a:r>
              <a:rPr lang="en-US" dirty="0"/>
              <a:t> are loc un prim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integrare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asigura</a:t>
            </a:r>
            <a:r>
              <a:rPr lang="en-US" dirty="0"/>
              <a:t> </a:t>
            </a:r>
            <a:r>
              <a:rPr lang="en-US" dirty="0" err="1"/>
              <a:t>raspunsuri</a:t>
            </a:r>
            <a:r>
              <a:rPr lang="en-US" dirty="0"/>
              <a:t> </a:t>
            </a:r>
            <a:r>
              <a:rPr lang="en-US" dirty="0" err="1"/>
              <a:t>comportamentale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</a:t>
            </a:r>
            <a:r>
              <a:rPr lang="en-US" dirty="0"/>
              <a:t> </a:t>
            </a:r>
            <a:r>
              <a:rPr lang="en-US" dirty="0" err="1"/>
              <a:t>adaptate</a:t>
            </a:r>
            <a:r>
              <a:rPr lang="en-US" dirty="0"/>
              <a:t>.-&gt;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semnalele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adaptate</a:t>
            </a:r>
            <a:r>
              <a:rPr lang="en-US" dirty="0"/>
              <a:t> la un al </a:t>
            </a:r>
            <a:r>
              <a:rPr lang="en-US" dirty="0" err="1"/>
              <a:t>doilea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legat</a:t>
            </a:r>
            <a:r>
              <a:rPr lang="en-US" dirty="0"/>
              <a:t> de </a:t>
            </a:r>
            <a:r>
              <a:rPr lang="en-US" dirty="0" err="1"/>
              <a:t>activitatea</a:t>
            </a:r>
            <a:r>
              <a:rPr lang="en-US" dirty="0"/>
              <a:t> </a:t>
            </a:r>
            <a:r>
              <a:rPr lang="en-US" dirty="0" err="1"/>
              <a:t>talamusului,hipocampului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cortexului</a:t>
            </a:r>
            <a:r>
              <a:rPr lang="en-US" dirty="0"/>
              <a:t> frontal, </a:t>
            </a:r>
            <a:r>
              <a:rPr lang="en-US" dirty="0" err="1"/>
              <a:t>determinand</a:t>
            </a:r>
            <a:r>
              <a:rPr lang="en-US" dirty="0"/>
              <a:t> </a:t>
            </a:r>
            <a:r>
              <a:rPr lang="en-US" dirty="0" err="1"/>
              <a:t>raspunsuri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bine</a:t>
            </a:r>
            <a:r>
              <a:rPr lang="en-US" dirty="0"/>
              <a:t> </a:t>
            </a:r>
            <a:r>
              <a:rPr lang="en-US" dirty="0" err="1"/>
              <a:t>adaptate</a:t>
            </a:r>
            <a:r>
              <a:rPr lang="en-US" dirty="0"/>
              <a:t>.-&gt;</a:t>
            </a:r>
            <a:r>
              <a:rPr lang="en-US" dirty="0" err="1"/>
              <a:t>cele</a:t>
            </a:r>
            <a:r>
              <a:rPr lang="en-US" dirty="0"/>
              <a:t> 2 </a:t>
            </a:r>
            <a:r>
              <a:rPr lang="en-US" dirty="0" err="1"/>
              <a:t>niveluri</a:t>
            </a:r>
            <a:r>
              <a:rPr lang="en-US" dirty="0"/>
              <a:t> </a:t>
            </a:r>
            <a:r>
              <a:rPr lang="en-US" dirty="0" err="1"/>
              <a:t>functioneaza</a:t>
            </a:r>
            <a:r>
              <a:rPr lang="en-US" dirty="0"/>
              <a:t> </a:t>
            </a:r>
            <a:r>
              <a:rPr lang="en-US" dirty="0" err="1"/>
              <a:t>sincronizat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Dificultatile</a:t>
            </a:r>
            <a:r>
              <a:rPr lang="en-US" dirty="0"/>
              <a:t> de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specificitatii</a:t>
            </a:r>
            <a:r>
              <a:rPr lang="en-US" dirty="0"/>
              <a:t> </a:t>
            </a:r>
            <a:r>
              <a:rPr lang="en-US" dirty="0" err="1"/>
              <a:t>senzatiilor</a:t>
            </a:r>
            <a:r>
              <a:rPr lang="en-US" dirty="0"/>
              <a:t> de </a:t>
            </a:r>
            <a:r>
              <a:rPr lang="en-US" dirty="0" err="1"/>
              <a:t>durere</a:t>
            </a:r>
            <a:r>
              <a:rPr lang="en-US" dirty="0"/>
              <a:t> se </a:t>
            </a:r>
            <a:r>
              <a:rPr lang="en-US" dirty="0" err="1"/>
              <a:t>vadesc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teorii</a:t>
            </a:r>
            <a:r>
              <a:rPr lang="en-US" dirty="0"/>
              <a:t> explicative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importante:</a:t>
            </a:r>
            <a:r>
              <a:rPr lang="en-US" i="1" dirty="0" err="1"/>
              <a:t>Teoria</a:t>
            </a:r>
            <a:r>
              <a:rPr lang="en-US" i="1" dirty="0"/>
              <a:t> </a:t>
            </a:r>
            <a:r>
              <a:rPr lang="en-US" i="1" dirty="0" err="1"/>
              <a:t>intensitatii</a:t>
            </a:r>
            <a:r>
              <a:rPr lang="en-US" i="1" dirty="0"/>
              <a:t> </a:t>
            </a:r>
            <a:r>
              <a:rPr lang="en-US" dirty="0"/>
              <a:t>:un prim model </a:t>
            </a:r>
            <a:r>
              <a:rPr lang="en-US" dirty="0" err="1"/>
              <a:t>explicativ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simplu</a:t>
            </a:r>
            <a:r>
              <a:rPr lang="en-US" dirty="0"/>
              <a:t> </a:t>
            </a:r>
            <a:r>
              <a:rPr lang="en-US" dirty="0" err="1"/>
              <a:t>considerand</a:t>
            </a:r>
            <a:r>
              <a:rPr lang="en-US" dirty="0"/>
              <a:t> ca </a:t>
            </a:r>
            <a:r>
              <a:rPr lang="en-US" dirty="0" err="1"/>
              <a:t>sporirea</a:t>
            </a:r>
            <a:r>
              <a:rPr lang="en-US" dirty="0"/>
              <a:t> </a:t>
            </a:r>
            <a:r>
              <a:rPr lang="en-US" dirty="0" err="1"/>
              <a:t>intensitatii</a:t>
            </a:r>
            <a:r>
              <a:rPr lang="en-US" dirty="0"/>
              <a:t> </a:t>
            </a:r>
            <a:r>
              <a:rPr lang="en-US" dirty="0" err="1"/>
              <a:t>stimulilor</a:t>
            </a:r>
            <a:r>
              <a:rPr lang="en-US" dirty="0"/>
              <a:t> </a:t>
            </a:r>
            <a:r>
              <a:rPr lang="en-US" dirty="0" err="1"/>
              <a:t>termici,mecanici,chimici</a:t>
            </a:r>
            <a:r>
              <a:rPr lang="en-US" dirty="0"/>
              <a:t>, </a:t>
            </a:r>
            <a:r>
              <a:rPr lang="en-US" dirty="0" err="1"/>
              <a:t>auditivi</a:t>
            </a:r>
            <a:r>
              <a:rPr lang="en-US" dirty="0"/>
              <a:t>, </a:t>
            </a:r>
            <a:r>
              <a:rPr lang="en-US" dirty="0" err="1"/>
              <a:t>vizuali</a:t>
            </a:r>
            <a:r>
              <a:rPr lang="en-US" dirty="0"/>
              <a:t> etc. conduce la </a:t>
            </a:r>
            <a:r>
              <a:rPr lang="en-US" dirty="0" err="1"/>
              <a:t>durere</a:t>
            </a:r>
            <a:r>
              <a:rPr lang="en-US" dirty="0"/>
              <a:t>.-&gt;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teorie</a:t>
            </a:r>
            <a:r>
              <a:rPr lang="en-US" dirty="0"/>
              <a:t> </a:t>
            </a:r>
            <a:r>
              <a:rPr lang="en-US" dirty="0" err="1"/>
              <a:t>sustine</a:t>
            </a:r>
            <a:r>
              <a:rPr lang="en-US" dirty="0"/>
              <a:t> </a:t>
            </a:r>
            <a:r>
              <a:rPr lang="en-US" dirty="0" err="1"/>
              <a:t>absenta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specificitati</a:t>
            </a:r>
            <a:r>
              <a:rPr lang="en-US" dirty="0"/>
              <a:t> a </a:t>
            </a:r>
            <a:r>
              <a:rPr lang="en-US" dirty="0" err="1"/>
              <a:t>senzatiilor</a:t>
            </a:r>
            <a:r>
              <a:rPr lang="en-US" dirty="0"/>
              <a:t> de </a:t>
            </a:r>
            <a:r>
              <a:rPr lang="en-US" dirty="0" err="1"/>
              <a:t>durere</a:t>
            </a:r>
            <a:r>
              <a:rPr lang="en-US" dirty="0"/>
              <a:t> </a:t>
            </a:r>
            <a:r>
              <a:rPr lang="en-US" dirty="0" err="1"/>
              <a:t>punandu</a:t>
            </a:r>
            <a:r>
              <a:rPr lang="en-US" dirty="0"/>
              <a:t>-le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</a:t>
            </a:r>
            <a:r>
              <a:rPr lang="en-US" dirty="0" err="1"/>
              <a:t>momentului</a:t>
            </a:r>
            <a:r>
              <a:rPr lang="en-US" dirty="0"/>
              <a:t> </a:t>
            </a:r>
            <a:r>
              <a:rPr lang="en-US" dirty="0" err="1"/>
              <a:t>depasirii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prag</a:t>
            </a:r>
            <a:r>
              <a:rPr lang="en-US" dirty="0"/>
              <a:t> de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maximala</a:t>
            </a:r>
            <a:r>
              <a:rPr lang="en-US" dirty="0"/>
              <a:t> a </a:t>
            </a:r>
            <a:r>
              <a:rPr lang="en-US" dirty="0" err="1"/>
              <a:t>stimulului.;</a:t>
            </a:r>
            <a:r>
              <a:rPr lang="en-US" i="1" dirty="0" err="1"/>
              <a:t>Teoria</a:t>
            </a:r>
            <a:r>
              <a:rPr lang="en-US" i="1" dirty="0"/>
              <a:t> </a:t>
            </a:r>
            <a:r>
              <a:rPr lang="en-US" i="1" dirty="0" err="1"/>
              <a:t>specificitatii</a:t>
            </a:r>
            <a:r>
              <a:rPr lang="en-US" i="1" dirty="0"/>
              <a:t> </a:t>
            </a:r>
            <a:r>
              <a:rPr lang="en-US" dirty="0"/>
              <a:t>-&gt;</a:t>
            </a:r>
            <a:r>
              <a:rPr lang="en-US" dirty="0" err="1"/>
              <a:t>durerea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forma specific de </a:t>
            </a:r>
            <a:r>
              <a:rPr lang="en-US" dirty="0" err="1"/>
              <a:t>sensibilitate</a:t>
            </a:r>
            <a:r>
              <a:rPr lang="en-US" dirty="0"/>
              <a:t>, </a:t>
            </a:r>
            <a:r>
              <a:rPr lang="en-US" dirty="0" err="1"/>
              <a:t>independenta</a:t>
            </a:r>
            <a:r>
              <a:rPr lang="en-US" dirty="0"/>
              <a:t> de </a:t>
            </a:r>
            <a:r>
              <a:rPr lang="en-US" dirty="0" err="1"/>
              <a:t>celelalte</a:t>
            </a:r>
            <a:r>
              <a:rPr lang="en-US" dirty="0"/>
              <a:t> </a:t>
            </a:r>
            <a:r>
              <a:rPr lang="en-US" dirty="0" err="1"/>
              <a:t>modalitati</a:t>
            </a:r>
            <a:r>
              <a:rPr lang="en-US" dirty="0"/>
              <a:t> </a:t>
            </a:r>
            <a:r>
              <a:rPr lang="en-US" dirty="0" err="1"/>
              <a:t>senzoriale</a:t>
            </a:r>
            <a:r>
              <a:rPr lang="en-US" dirty="0"/>
              <a:t>._&gt;</a:t>
            </a:r>
            <a:r>
              <a:rPr lang="en-US" dirty="0" err="1"/>
              <a:t>Argumentul</a:t>
            </a:r>
            <a:r>
              <a:rPr lang="en-US" dirty="0"/>
              <a:t> principal in </a:t>
            </a:r>
            <a:r>
              <a:rPr lang="en-US" dirty="0" err="1"/>
              <a:t>favoarea</a:t>
            </a:r>
            <a:r>
              <a:rPr lang="en-US" dirty="0"/>
              <a:t> </a:t>
            </a:r>
            <a:r>
              <a:rPr lang="en-US" dirty="0" err="1"/>
              <a:t>acestei</a:t>
            </a:r>
            <a:r>
              <a:rPr lang="en-US" dirty="0"/>
              <a:t> </a:t>
            </a:r>
            <a:r>
              <a:rPr lang="en-US" dirty="0" err="1"/>
              <a:t>teorii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puncte</a:t>
            </a:r>
            <a:r>
              <a:rPr lang="en-US" dirty="0"/>
              <a:t> de </a:t>
            </a:r>
            <a:r>
              <a:rPr lang="en-US" dirty="0" err="1"/>
              <a:t>sensibilitate</a:t>
            </a:r>
            <a:r>
              <a:rPr lang="en-US" dirty="0"/>
              <a:t> </a:t>
            </a:r>
            <a:r>
              <a:rPr lang="en-US" dirty="0" err="1"/>
              <a:t>dureroasa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tegument.S</a:t>
            </a:r>
            <a:r>
              <a:rPr lang="en-US" dirty="0"/>
              <a:t>-au </a:t>
            </a:r>
            <a:r>
              <a:rPr lang="en-US" dirty="0" err="1"/>
              <a:t>descoperit</a:t>
            </a:r>
            <a:r>
              <a:rPr lang="en-US" dirty="0"/>
              <a:t> </a:t>
            </a:r>
            <a:r>
              <a:rPr lang="en-US" dirty="0" err="1"/>
              <a:t>receptori</a:t>
            </a:r>
            <a:r>
              <a:rPr lang="en-US" dirty="0"/>
              <a:t> </a:t>
            </a:r>
            <a:r>
              <a:rPr lang="en-US" dirty="0" err="1"/>
              <a:t>specializati</a:t>
            </a:r>
            <a:r>
              <a:rPr lang="en-US" dirty="0"/>
              <a:t> pt </a:t>
            </a:r>
            <a:r>
              <a:rPr lang="en-US" dirty="0" err="1"/>
              <a:t>stimularea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intepare</a:t>
            </a:r>
            <a:r>
              <a:rPr lang="en-US" dirty="0"/>
              <a:t> (</a:t>
            </a:r>
            <a:r>
              <a:rPr lang="en-US" dirty="0" err="1"/>
              <a:t>entalgie</a:t>
            </a:r>
            <a:r>
              <a:rPr lang="en-US" dirty="0"/>
              <a:t>), </a:t>
            </a:r>
            <a:r>
              <a:rPr lang="en-US" dirty="0" err="1"/>
              <a:t>presiune</a:t>
            </a:r>
            <a:r>
              <a:rPr lang="en-US" dirty="0"/>
              <a:t>(</a:t>
            </a:r>
            <a:r>
              <a:rPr lang="en-US" dirty="0" err="1"/>
              <a:t>crusalgie</a:t>
            </a:r>
            <a:r>
              <a:rPr lang="en-US" dirty="0"/>
              <a:t>),</a:t>
            </a:r>
            <a:r>
              <a:rPr lang="en-US" dirty="0" err="1"/>
              <a:t>arsuri</a:t>
            </a:r>
            <a:r>
              <a:rPr lang="en-US" dirty="0"/>
              <a:t>(</a:t>
            </a:r>
            <a:r>
              <a:rPr lang="en-US" dirty="0" err="1"/>
              <a:t>termalgie</a:t>
            </a:r>
            <a:r>
              <a:rPr lang="en-US" dirty="0"/>
              <a:t>), </a:t>
            </a:r>
            <a:r>
              <a:rPr lang="en-US" dirty="0" err="1"/>
              <a:t>stimulare</a:t>
            </a:r>
            <a:r>
              <a:rPr lang="en-US" dirty="0"/>
              <a:t> </a:t>
            </a:r>
            <a:r>
              <a:rPr lang="en-US" dirty="0" err="1"/>
              <a:t>electrica</a:t>
            </a:r>
            <a:r>
              <a:rPr lang="en-US" dirty="0"/>
              <a:t>(</a:t>
            </a:r>
            <a:r>
              <a:rPr lang="en-US" dirty="0" err="1"/>
              <a:t>ligopatie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baripatie</a:t>
            </a:r>
            <a:r>
              <a:rPr lang="en-US" dirty="0"/>
              <a:t>), </a:t>
            </a:r>
            <a:r>
              <a:rPr lang="en-US" dirty="0" err="1"/>
              <a:t>furnicaturi</a:t>
            </a:r>
            <a:r>
              <a:rPr lang="en-US" dirty="0"/>
              <a:t> (</a:t>
            </a:r>
            <a:r>
              <a:rPr lang="en-US" dirty="0" err="1"/>
              <a:t>mirmalgie</a:t>
            </a:r>
            <a:r>
              <a:rPr lang="en-US" dirty="0"/>
              <a:t>).</a:t>
            </a:r>
          </a:p>
          <a:p>
            <a:r>
              <a:rPr lang="en-US" dirty="0" err="1"/>
              <a:t>Adaptarea</a:t>
            </a:r>
            <a:r>
              <a:rPr lang="en-US" dirty="0"/>
              <a:t>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senzatiilor</a:t>
            </a:r>
            <a:r>
              <a:rPr lang="en-US" dirty="0"/>
              <a:t> </a:t>
            </a:r>
            <a:r>
              <a:rPr lang="en-US" dirty="0" err="1"/>
              <a:t>algice</a:t>
            </a:r>
            <a:r>
              <a:rPr lang="en-US" dirty="0"/>
              <a:t>-&gt;</a:t>
            </a:r>
            <a:r>
              <a:rPr lang="en-US" dirty="0" err="1"/>
              <a:t>f.dificila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lunga</a:t>
            </a:r>
            <a:r>
              <a:rPr lang="en-US" dirty="0"/>
              <a:t> </a:t>
            </a:r>
            <a:r>
              <a:rPr lang="en-US" dirty="0" err="1"/>
              <a:t>durata.Noaptea,cand</a:t>
            </a:r>
            <a:r>
              <a:rPr lang="en-US" dirty="0"/>
              <a:t> </a:t>
            </a:r>
            <a:r>
              <a:rPr lang="en-US" dirty="0" err="1"/>
              <a:t>actiunea</a:t>
            </a:r>
            <a:r>
              <a:rPr lang="en-US" dirty="0"/>
              <a:t> </a:t>
            </a:r>
            <a:r>
              <a:rPr lang="en-US" dirty="0" err="1"/>
              <a:t>scoartei</a:t>
            </a:r>
            <a:r>
              <a:rPr lang="en-US" dirty="0"/>
              <a:t> </a:t>
            </a:r>
            <a:r>
              <a:rPr lang="en-US" dirty="0" err="1"/>
              <a:t>cerebrale</a:t>
            </a:r>
            <a:r>
              <a:rPr lang="en-US" dirty="0"/>
              <a:t> </a:t>
            </a:r>
            <a:r>
              <a:rPr lang="en-US" dirty="0" err="1"/>
              <a:t>slabeste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solicitarile</a:t>
            </a:r>
            <a:r>
              <a:rPr lang="en-US" dirty="0"/>
              <a:t> </a:t>
            </a:r>
            <a:r>
              <a:rPr lang="en-US" dirty="0" err="1"/>
              <a:t>externe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reduse,intensitatea</a:t>
            </a:r>
            <a:r>
              <a:rPr lang="en-US" dirty="0"/>
              <a:t> </a:t>
            </a:r>
            <a:r>
              <a:rPr lang="en-US" dirty="0" err="1"/>
              <a:t>durerii</a:t>
            </a:r>
            <a:r>
              <a:rPr lang="en-US" dirty="0"/>
              <a:t> se </a:t>
            </a:r>
            <a:r>
              <a:rPr lang="en-US" dirty="0" err="1"/>
              <a:t>amplifica</a:t>
            </a:r>
            <a:r>
              <a:rPr lang="en-US" dirty="0"/>
              <a:t>.-&gt;</a:t>
            </a:r>
            <a:r>
              <a:rPr lang="en-US" dirty="0" err="1"/>
              <a:t>Rolul</a:t>
            </a:r>
            <a:r>
              <a:rPr lang="en-US" dirty="0"/>
              <a:t> </a:t>
            </a:r>
            <a:r>
              <a:rPr lang="en-US" dirty="0" err="1"/>
              <a:t>setului</a:t>
            </a:r>
            <a:r>
              <a:rPr lang="en-US" dirty="0"/>
              <a:t> </a:t>
            </a:r>
            <a:r>
              <a:rPr lang="en-US" dirty="0" err="1"/>
              <a:t>pregatitor</a:t>
            </a:r>
            <a:r>
              <a:rPr lang="en-US" dirty="0"/>
              <a:t>: </a:t>
            </a:r>
            <a:r>
              <a:rPr lang="en-US" dirty="0" err="1"/>
              <a:t>avertizarea</a:t>
            </a:r>
            <a:r>
              <a:rPr lang="en-US" dirty="0"/>
              <a:t> </a:t>
            </a:r>
            <a:r>
              <a:rPr lang="en-US" dirty="0" err="1"/>
              <a:t>provoaca</a:t>
            </a:r>
            <a:r>
              <a:rPr lang="en-US" dirty="0"/>
              <a:t> o </a:t>
            </a:r>
            <a:r>
              <a:rPr lang="en-US" dirty="0" err="1"/>
              <a:t>crestere</a:t>
            </a:r>
            <a:r>
              <a:rPr lang="en-US" dirty="0"/>
              <a:t> a </a:t>
            </a:r>
            <a:r>
              <a:rPr lang="en-US" dirty="0" err="1"/>
              <a:t>pragurilor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algice</a:t>
            </a:r>
            <a:r>
              <a:rPr lang="en-US" dirty="0"/>
              <a:t>, o </a:t>
            </a:r>
            <a:r>
              <a:rPr lang="en-US" dirty="0" err="1"/>
              <a:t>sporire</a:t>
            </a:r>
            <a:r>
              <a:rPr lang="en-US" dirty="0"/>
              <a:t> a </a:t>
            </a:r>
            <a:r>
              <a:rPr lang="en-US" dirty="0" err="1"/>
              <a:t>tolerantei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</a:t>
            </a:r>
            <a:r>
              <a:rPr lang="en-US" dirty="0" err="1"/>
              <a:t>stimulul</a:t>
            </a:r>
            <a:r>
              <a:rPr lang="en-US" dirty="0"/>
              <a:t> </a:t>
            </a:r>
            <a:r>
              <a:rPr lang="en-US" dirty="0" err="1"/>
              <a:t>nociv</a:t>
            </a:r>
            <a:r>
              <a:rPr lang="en-US" dirty="0"/>
              <a:t>.-&gt;</a:t>
            </a:r>
            <a:r>
              <a:rPr lang="en-US" dirty="0" err="1"/>
              <a:t>Rolul</a:t>
            </a:r>
            <a:r>
              <a:rPr lang="en-US" dirty="0"/>
              <a:t> </a:t>
            </a:r>
            <a:r>
              <a:rPr lang="en-US" dirty="0" err="1"/>
              <a:t>experientei</a:t>
            </a:r>
            <a:r>
              <a:rPr lang="en-US" dirty="0"/>
              <a:t> </a:t>
            </a:r>
            <a:r>
              <a:rPr lang="en-US" dirty="0" err="1"/>
              <a:t>anterioare</a:t>
            </a:r>
            <a:r>
              <a:rPr lang="en-US" dirty="0"/>
              <a:t>: </a:t>
            </a:r>
            <a:r>
              <a:rPr lang="en-US" dirty="0" err="1"/>
              <a:t>oamenii</a:t>
            </a:r>
            <a:r>
              <a:rPr lang="en-US" dirty="0"/>
              <a:t> pot </a:t>
            </a:r>
            <a:r>
              <a:rPr lang="en-US" dirty="0" err="1"/>
              <a:t>dezvolta</a:t>
            </a:r>
            <a:r>
              <a:rPr lang="en-US" dirty="0"/>
              <a:t> </a:t>
            </a:r>
            <a:r>
              <a:rPr lang="en-US" dirty="0" err="1"/>
              <a:t>reactii</a:t>
            </a:r>
            <a:r>
              <a:rPr lang="en-US" dirty="0"/>
              <a:t> </a:t>
            </a:r>
            <a:r>
              <a:rPr lang="en-US" dirty="0" err="1"/>
              <a:t>fobice</a:t>
            </a:r>
            <a:r>
              <a:rPr lang="en-US" dirty="0"/>
              <a:t>, de </a:t>
            </a:r>
            <a:r>
              <a:rPr lang="en-US" dirty="0" err="1"/>
              <a:t>teama,frica,intoleranta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produc</a:t>
            </a:r>
            <a:r>
              <a:rPr lang="en-US" dirty="0"/>
              <a:t> o </a:t>
            </a:r>
            <a:r>
              <a:rPr lang="en-US" dirty="0" err="1"/>
              <a:t>sensibilizare</a:t>
            </a:r>
            <a:r>
              <a:rPr lang="en-US" dirty="0"/>
              <a:t> </a:t>
            </a:r>
            <a:r>
              <a:rPr lang="en-US" dirty="0" err="1"/>
              <a:t>excesiva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</a:t>
            </a:r>
            <a:r>
              <a:rPr lang="en-US" dirty="0" err="1"/>
              <a:t>stimulii</a:t>
            </a:r>
            <a:r>
              <a:rPr lang="en-US" dirty="0"/>
              <a:t> </a:t>
            </a:r>
            <a:r>
              <a:rPr lang="en-US" dirty="0" err="1"/>
              <a:t>respectivi.Un</a:t>
            </a:r>
            <a:r>
              <a:rPr lang="en-US" dirty="0"/>
              <a:t>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dirty="0" err="1"/>
              <a:t>antrenament</a:t>
            </a:r>
            <a:r>
              <a:rPr lang="en-US" dirty="0"/>
              <a:t>, </a:t>
            </a:r>
            <a:r>
              <a:rPr lang="en-US" dirty="0" err="1"/>
              <a:t>autocontrol</a:t>
            </a:r>
            <a:r>
              <a:rPr lang="en-US" dirty="0"/>
              <a:t>, </a:t>
            </a:r>
            <a:r>
              <a:rPr lang="en-US" dirty="0" err="1"/>
              <a:t>educatie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contribuie</a:t>
            </a:r>
            <a:r>
              <a:rPr lang="en-US" dirty="0"/>
              <a:t> la </a:t>
            </a:r>
            <a:r>
              <a:rPr lang="en-US" dirty="0" err="1"/>
              <a:t>diminuarea</a:t>
            </a:r>
            <a:r>
              <a:rPr lang="en-US" dirty="0"/>
              <a:t> </a:t>
            </a:r>
            <a:r>
              <a:rPr lang="en-US" dirty="0" err="1"/>
              <a:t>reactiilor</a:t>
            </a:r>
            <a:r>
              <a:rPr lang="en-US" dirty="0"/>
              <a:t> </a:t>
            </a:r>
            <a:r>
              <a:rPr lang="en-US" dirty="0" err="1"/>
              <a:t>comportamentale</a:t>
            </a:r>
            <a:r>
              <a:rPr lang="en-US" dirty="0"/>
              <a:t> negative.-&gt;</a:t>
            </a:r>
            <a:r>
              <a:rPr lang="en-US" dirty="0" err="1"/>
              <a:t>Conditionarea</a:t>
            </a:r>
            <a:r>
              <a:rPr lang="en-US" dirty="0"/>
              <a:t> social-</a:t>
            </a:r>
            <a:r>
              <a:rPr lang="en-US" dirty="0" err="1"/>
              <a:t>culturala</a:t>
            </a:r>
            <a:r>
              <a:rPr lang="en-US" dirty="0"/>
              <a:t>: </a:t>
            </a:r>
            <a:r>
              <a:rPr lang="en-US" dirty="0" err="1"/>
              <a:t>diferentele</a:t>
            </a:r>
            <a:r>
              <a:rPr lang="en-US" dirty="0"/>
              <a:t> de </a:t>
            </a:r>
            <a:r>
              <a:rPr lang="en-US" dirty="0" err="1"/>
              <a:t>sex,varsta</a:t>
            </a:r>
            <a:r>
              <a:rPr lang="en-US" dirty="0"/>
              <a:t>, </a:t>
            </a:r>
            <a:r>
              <a:rPr lang="en-US" dirty="0" err="1"/>
              <a:t>etnie,religie,cultura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civilizatie,obiceiuri</a:t>
            </a:r>
            <a:r>
              <a:rPr lang="en-US" dirty="0"/>
              <a:t>, </a:t>
            </a:r>
            <a:r>
              <a:rPr lang="en-US" dirty="0" err="1"/>
              <a:t>traditii</a:t>
            </a:r>
            <a:r>
              <a:rPr lang="en-US" dirty="0"/>
              <a:t> </a:t>
            </a:r>
            <a:r>
              <a:rPr lang="en-US" dirty="0" err="1"/>
              <a:t>induc</a:t>
            </a:r>
            <a:r>
              <a:rPr lang="en-US" dirty="0"/>
              <a:t> </a:t>
            </a:r>
            <a:r>
              <a:rPr lang="en-US" dirty="0" err="1"/>
              <a:t>modificari</a:t>
            </a:r>
            <a:r>
              <a:rPr lang="en-US" dirty="0"/>
              <a:t> </a:t>
            </a:r>
            <a:r>
              <a:rPr lang="en-US" dirty="0" err="1"/>
              <a:t>semificative</a:t>
            </a:r>
            <a:r>
              <a:rPr lang="en-US" dirty="0"/>
              <a:t> in </a:t>
            </a:r>
            <a:r>
              <a:rPr lang="en-US" dirty="0" err="1"/>
              <a:t>felul</a:t>
            </a:r>
            <a:r>
              <a:rPr lang="en-US" dirty="0"/>
              <a:t> in care </a:t>
            </a:r>
            <a:r>
              <a:rPr lang="en-US" dirty="0" err="1"/>
              <a:t>oamenii</a:t>
            </a:r>
            <a:r>
              <a:rPr lang="en-US" dirty="0"/>
              <a:t> se </a:t>
            </a:r>
            <a:r>
              <a:rPr lang="en-US" dirty="0" err="1"/>
              <a:t>raporteaza</a:t>
            </a:r>
            <a:r>
              <a:rPr lang="en-US" dirty="0"/>
              <a:t> la </a:t>
            </a:r>
            <a:r>
              <a:rPr lang="en-US" dirty="0" err="1"/>
              <a:t>durere;reprezentarile</a:t>
            </a:r>
            <a:r>
              <a:rPr lang="en-US" dirty="0"/>
              <a:t> </a:t>
            </a:r>
            <a:r>
              <a:rPr lang="en-US" dirty="0" err="1"/>
              <a:t>sociale</a:t>
            </a:r>
            <a:r>
              <a:rPr lang="en-US" dirty="0"/>
              <a:t> au un </a:t>
            </a:r>
            <a:r>
              <a:rPr lang="en-US" dirty="0" err="1"/>
              <a:t>rol</a:t>
            </a:r>
            <a:r>
              <a:rPr lang="en-US" dirty="0"/>
              <a:t> important in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sens</a:t>
            </a:r>
            <a:r>
              <a:rPr lang="en-US" dirty="0"/>
              <a:t>: </a:t>
            </a:r>
            <a:r>
              <a:rPr lang="en-US" dirty="0" err="1"/>
              <a:t>femeile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fricoase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incapabile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suporte</a:t>
            </a:r>
            <a:r>
              <a:rPr lang="en-US" dirty="0"/>
              <a:t> </a:t>
            </a:r>
            <a:r>
              <a:rPr lang="en-US" dirty="0" err="1"/>
              <a:t>durerea</a:t>
            </a:r>
            <a:r>
              <a:rPr lang="en-US" dirty="0"/>
              <a:t> </a:t>
            </a:r>
            <a:r>
              <a:rPr lang="en-US" dirty="0" err="1"/>
              <a:t>fata</a:t>
            </a:r>
            <a:r>
              <a:rPr lang="en-US" dirty="0"/>
              <a:t> de </a:t>
            </a:r>
            <a:r>
              <a:rPr lang="en-US" dirty="0" err="1"/>
              <a:t>barbati;o</a:t>
            </a:r>
            <a:r>
              <a:rPr lang="en-US" dirty="0"/>
              <a:t> data cu </a:t>
            </a:r>
            <a:r>
              <a:rPr lang="en-US" dirty="0" err="1"/>
              <a:t>inaintarea</a:t>
            </a:r>
            <a:r>
              <a:rPr lang="en-US" dirty="0"/>
              <a:t> in </a:t>
            </a:r>
            <a:r>
              <a:rPr lang="en-US" dirty="0" err="1"/>
              <a:t>varsta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masura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 </a:t>
            </a:r>
            <a:r>
              <a:rPr lang="en-US" dirty="0" err="1"/>
              <a:t>biologice</a:t>
            </a:r>
            <a:r>
              <a:rPr lang="en-US" dirty="0"/>
              <a:t> </a:t>
            </a:r>
            <a:r>
              <a:rPr lang="en-US" dirty="0" err="1"/>
              <a:t>scad</a:t>
            </a:r>
            <a:r>
              <a:rPr lang="en-US" dirty="0"/>
              <a:t> </a:t>
            </a:r>
            <a:r>
              <a:rPr lang="en-US" dirty="0" err="1"/>
              <a:t>scade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pragul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algice</a:t>
            </a:r>
            <a:r>
              <a:rPr lang="en-US" dirty="0"/>
              <a:t>; </a:t>
            </a:r>
            <a:r>
              <a:rPr lang="en-US" dirty="0" err="1"/>
              <a:t>cercetarile</a:t>
            </a:r>
            <a:r>
              <a:rPr lang="en-US" dirty="0"/>
              <a:t> au pus in </a:t>
            </a:r>
            <a:r>
              <a:rPr lang="en-US" dirty="0" err="1"/>
              <a:t>evidenta</a:t>
            </a:r>
            <a:r>
              <a:rPr lang="en-US" dirty="0"/>
              <a:t> </a:t>
            </a:r>
            <a:r>
              <a:rPr lang="en-US" dirty="0" err="1"/>
              <a:t>seturi</a:t>
            </a:r>
            <a:r>
              <a:rPr lang="en-US" dirty="0"/>
              <a:t> </a:t>
            </a:r>
            <a:r>
              <a:rPr lang="en-US" dirty="0" err="1"/>
              <a:t>comportamentale</a:t>
            </a:r>
            <a:r>
              <a:rPr lang="en-US" dirty="0"/>
              <a:t> </a:t>
            </a:r>
            <a:r>
              <a:rPr lang="en-US" dirty="0" err="1"/>
              <a:t>tipice</a:t>
            </a:r>
            <a:r>
              <a:rPr lang="en-US" dirty="0"/>
              <a:t> pt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nationalitati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Senzatiile</a:t>
            </a:r>
            <a:r>
              <a:rPr lang="en-US" dirty="0"/>
              <a:t> </a:t>
            </a:r>
            <a:r>
              <a:rPr lang="en-US" dirty="0" err="1"/>
              <a:t>proprioceptiv-kinestezice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echilibru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langa</a:t>
            </a:r>
            <a:r>
              <a:rPr lang="en-US" dirty="0"/>
              <a:t> </a:t>
            </a:r>
            <a:r>
              <a:rPr lang="en-US" dirty="0" err="1"/>
              <a:t>rolul</a:t>
            </a:r>
            <a:r>
              <a:rPr lang="en-US" dirty="0"/>
              <a:t> biologic fundamental al </a:t>
            </a:r>
            <a:r>
              <a:rPr lang="en-US" dirty="0" err="1"/>
              <a:t>motricitatii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amintit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rolul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psihologic</a:t>
            </a:r>
            <a:r>
              <a:rPr lang="en-US" dirty="0"/>
              <a:t> in tot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inseamna</a:t>
            </a:r>
            <a:r>
              <a:rPr lang="en-US" dirty="0"/>
              <a:t> </a:t>
            </a:r>
            <a:r>
              <a:rPr lang="en-US" dirty="0" err="1"/>
              <a:t>autonomia</a:t>
            </a:r>
            <a:r>
              <a:rPr lang="en-US" dirty="0"/>
              <a:t> </a:t>
            </a:r>
            <a:r>
              <a:rPr lang="en-US" dirty="0" err="1"/>
              <a:t>actiunilor</a:t>
            </a:r>
            <a:r>
              <a:rPr lang="en-US" dirty="0"/>
              <a:t> </a:t>
            </a:r>
            <a:r>
              <a:rPr lang="en-US" dirty="0" err="1"/>
              <a:t>omului</a:t>
            </a:r>
            <a:r>
              <a:rPr lang="en-US" dirty="0"/>
              <a:t> in </a:t>
            </a:r>
            <a:r>
              <a:rPr lang="en-US" dirty="0" err="1"/>
              <a:t>mediul</a:t>
            </a:r>
            <a:r>
              <a:rPr lang="en-US" dirty="0"/>
              <a:t> </a:t>
            </a:r>
            <a:r>
              <a:rPr lang="en-US" dirty="0" err="1"/>
              <a:t>inconjurator</a:t>
            </a:r>
            <a:r>
              <a:rPr lang="en-US" dirty="0"/>
              <a:t>.</a:t>
            </a:r>
          </a:p>
          <a:p>
            <a:r>
              <a:rPr lang="en-US" dirty="0" err="1"/>
              <a:t>Aparatul</a:t>
            </a:r>
            <a:r>
              <a:rPr lang="en-US" dirty="0"/>
              <a:t> muscular </a:t>
            </a:r>
            <a:r>
              <a:rPr lang="en-US" dirty="0" err="1"/>
              <a:t>controleaza</a:t>
            </a:r>
            <a:r>
              <a:rPr lang="en-US" dirty="0"/>
              <a:t> un nr </a:t>
            </a:r>
            <a:r>
              <a:rPr lang="en-US" dirty="0" err="1"/>
              <a:t>foarte</a:t>
            </a:r>
            <a:r>
              <a:rPr lang="en-US" dirty="0"/>
              <a:t> mare de </a:t>
            </a:r>
            <a:r>
              <a:rPr lang="en-US" dirty="0" err="1"/>
              <a:t>contractii</a:t>
            </a:r>
            <a:r>
              <a:rPr lang="en-US" dirty="0"/>
              <a:t> </a:t>
            </a:r>
            <a:r>
              <a:rPr lang="en-US" dirty="0" err="1"/>
              <a:t>musculare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in </a:t>
            </a:r>
            <a:r>
              <a:rPr lang="en-US" dirty="0" err="1"/>
              <a:t>intensitate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avand</a:t>
            </a:r>
            <a:r>
              <a:rPr lang="en-US" dirty="0"/>
              <a:t> ca </a:t>
            </a:r>
            <a:r>
              <a:rPr lang="en-US" dirty="0" err="1"/>
              <a:t>efect</a:t>
            </a:r>
            <a:r>
              <a:rPr lang="en-US" dirty="0"/>
              <a:t> o </a:t>
            </a:r>
            <a:r>
              <a:rPr lang="en-US" dirty="0" err="1"/>
              <a:t>deplasare</a:t>
            </a:r>
            <a:r>
              <a:rPr lang="en-US" dirty="0"/>
              <a:t> </a:t>
            </a:r>
            <a:r>
              <a:rPr lang="en-US" dirty="0" err="1"/>
              <a:t>unghiulara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o </a:t>
            </a:r>
            <a:r>
              <a:rPr lang="en-US" dirty="0" err="1"/>
              <a:t>pozitie</a:t>
            </a:r>
            <a:r>
              <a:rPr lang="en-US" dirty="0"/>
              <a:t> </a:t>
            </a:r>
            <a:r>
              <a:rPr lang="en-US" dirty="0" err="1"/>
              <a:t>fixa</a:t>
            </a:r>
            <a:r>
              <a:rPr lang="en-US" dirty="0"/>
              <a:t>.-&gt;in </a:t>
            </a:r>
            <a:r>
              <a:rPr lang="en-US" dirty="0" err="1"/>
              <a:t>cursul</a:t>
            </a:r>
            <a:r>
              <a:rPr lang="en-US" dirty="0"/>
              <a:t> </a:t>
            </a:r>
            <a:r>
              <a:rPr lang="en-US" dirty="0" err="1"/>
              <a:t>evolutiei</a:t>
            </a:r>
            <a:r>
              <a:rPr lang="en-US" dirty="0"/>
              <a:t> </a:t>
            </a:r>
            <a:r>
              <a:rPr lang="en-US" dirty="0" err="1"/>
              <a:t>organizarea</a:t>
            </a:r>
            <a:r>
              <a:rPr lang="en-US" dirty="0"/>
              <a:t> </a:t>
            </a:r>
            <a:r>
              <a:rPr lang="en-US" dirty="0" err="1"/>
              <a:t>sistemelor</a:t>
            </a:r>
            <a:r>
              <a:rPr lang="en-US" dirty="0"/>
              <a:t> de control neuromuscular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modelata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interiorizare</a:t>
            </a:r>
            <a:r>
              <a:rPr lang="en-US" dirty="0"/>
              <a:t> a </a:t>
            </a:r>
            <a:r>
              <a:rPr lang="en-US" dirty="0" err="1"/>
              <a:t>miscarii</a:t>
            </a:r>
            <a:r>
              <a:rPr lang="en-US" dirty="0"/>
              <a:t> </a:t>
            </a:r>
            <a:r>
              <a:rPr lang="en-US" dirty="0" err="1"/>
              <a:t>mecanice</a:t>
            </a:r>
            <a:r>
              <a:rPr lang="en-US" dirty="0"/>
              <a:t> a </a:t>
            </a:r>
            <a:r>
              <a:rPr lang="en-US" dirty="0" err="1"/>
              <a:t>corpului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al </a:t>
            </a:r>
            <a:r>
              <a:rPr lang="en-US" dirty="0" err="1"/>
              <a:t>interactiunilor</a:t>
            </a:r>
            <a:r>
              <a:rPr lang="en-US" dirty="0"/>
              <a:t> cu </a:t>
            </a:r>
            <a:r>
              <a:rPr lang="en-US" dirty="0" err="1"/>
              <a:t>mediul</a:t>
            </a:r>
            <a:r>
              <a:rPr lang="en-US" dirty="0"/>
              <a:t> </a:t>
            </a:r>
            <a:r>
              <a:rPr lang="en-US" dirty="0" err="1"/>
              <a:t>inconjurator</a:t>
            </a:r>
            <a:r>
              <a:rPr lang="en-US" dirty="0"/>
              <a:t>.</a:t>
            </a:r>
          </a:p>
          <a:p>
            <a:r>
              <a:rPr lang="en-US" dirty="0" err="1"/>
              <a:t>Miscarile</a:t>
            </a:r>
            <a:r>
              <a:rPr lang="en-US" dirty="0"/>
              <a:t> </a:t>
            </a:r>
            <a:r>
              <a:rPr lang="en-US" dirty="0" err="1"/>
              <a:t>haptice</a:t>
            </a:r>
            <a:r>
              <a:rPr lang="en-US" dirty="0"/>
              <a:t>(de </a:t>
            </a:r>
            <a:r>
              <a:rPr lang="en-US" dirty="0" err="1"/>
              <a:t>apucare</a:t>
            </a:r>
            <a:r>
              <a:rPr lang="en-US" dirty="0"/>
              <a:t>) pun </a:t>
            </a:r>
            <a:r>
              <a:rPr lang="en-US" dirty="0" err="1"/>
              <a:t>sistemul</a:t>
            </a:r>
            <a:r>
              <a:rPr lang="en-US" dirty="0"/>
              <a:t> motor in </a:t>
            </a:r>
            <a:r>
              <a:rPr lang="en-US" dirty="0" err="1"/>
              <a:t>fata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situatii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dificile</a:t>
            </a:r>
            <a:r>
              <a:rPr lang="en-US" dirty="0"/>
              <a:t> </a:t>
            </a:r>
            <a:r>
              <a:rPr lang="en-US" dirty="0" err="1"/>
              <a:t>intrucat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puse</a:t>
            </a:r>
            <a:r>
              <a:rPr lang="en-US" dirty="0"/>
              <a:t> in </a:t>
            </a:r>
            <a:r>
              <a:rPr lang="en-US" dirty="0" err="1"/>
              <a:t>joc</a:t>
            </a:r>
            <a:r>
              <a:rPr lang="en-US" dirty="0"/>
              <a:t> </a:t>
            </a:r>
            <a:r>
              <a:rPr lang="en-US" dirty="0" err="1"/>
              <a:t>numeroase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 </a:t>
            </a:r>
            <a:r>
              <a:rPr lang="en-US" dirty="0" err="1"/>
              <a:t>musculare:unele</a:t>
            </a:r>
            <a:r>
              <a:rPr lang="en-US" dirty="0"/>
              <a:t> pt </a:t>
            </a:r>
            <a:r>
              <a:rPr lang="en-US" dirty="0" err="1"/>
              <a:t>fixare</a:t>
            </a:r>
            <a:r>
              <a:rPr lang="en-US" dirty="0"/>
              <a:t> </a:t>
            </a:r>
            <a:r>
              <a:rPr lang="en-US" dirty="0" err="1"/>
              <a:t>altele</a:t>
            </a:r>
            <a:r>
              <a:rPr lang="en-US" dirty="0"/>
              <a:t> pt </a:t>
            </a:r>
            <a:r>
              <a:rPr lang="en-US" dirty="0" err="1"/>
              <a:t>mentinerea</a:t>
            </a:r>
            <a:r>
              <a:rPr lang="en-US" dirty="0"/>
              <a:t> </a:t>
            </a:r>
            <a:r>
              <a:rPr lang="en-US" dirty="0" err="1"/>
              <a:t>echilibrului</a:t>
            </a:r>
            <a:r>
              <a:rPr lang="en-US" dirty="0"/>
              <a:t>.</a:t>
            </a:r>
          </a:p>
          <a:p>
            <a:r>
              <a:rPr lang="en-US" dirty="0" err="1"/>
              <a:t>Functionarea</a:t>
            </a:r>
            <a:r>
              <a:rPr lang="en-US" dirty="0"/>
              <a:t> </a:t>
            </a:r>
            <a:r>
              <a:rPr lang="en-US" dirty="0" err="1"/>
              <a:t>muschilor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determinata</a:t>
            </a:r>
            <a:r>
              <a:rPr lang="en-US" dirty="0"/>
              <a:t> de </a:t>
            </a:r>
            <a:r>
              <a:rPr lang="en-US" dirty="0" err="1"/>
              <a:t>proprietatile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mecanice</a:t>
            </a:r>
            <a:r>
              <a:rPr lang="en-US" dirty="0"/>
              <a:t>, de  </a:t>
            </a:r>
            <a:r>
              <a:rPr lang="en-US" dirty="0" err="1"/>
              <a:t>elasticitate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inertie</a:t>
            </a:r>
            <a:r>
              <a:rPr lang="en-US" dirty="0"/>
              <a:t>.</a:t>
            </a:r>
          </a:p>
          <a:p>
            <a:r>
              <a:rPr lang="en-US" dirty="0" err="1"/>
              <a:t>Unitatea</a:t>
            </a:r>
            <a:r>
              <a:rPr lang="en-US" dirty="0"/>
              <a:t> </a:t>
            </a:r>
            <a:r>
              <a:rPr lang="en-US" dirty="0" err="1"/>
              <a:t>motrica</a:t>
            </a:r>
            <a:r>
              <a:rPr lang="en-US" dirty="0"/>
              <a:t> </a:t>
            </a:r>
            <a:r>
              <a:rPr lang="en-US" dirty="0" err="1"/>
              <a:t>constituie</a:t>
            </a:r>
            <a:r>
              <a:rPr lang="en-US" dirty="0"/>
              <a:t> </a:t>
            </a:r>
            <a:r>
              <a:rPr lang="en-US" dirty="0" err="1"/>
              <a:t>elementul</a:t>
            </a:r>
            <a:r>
              <a:rPr lang="en-US" dirty="0"/>
              <a:t> functional de </a:t>
            </a:r>
            <a:r>
              <a:rPr lang="en-US" dirty="0" err="1"/>
              <a:t>baza</a:t>
            </a:r>
            <a:r>
              <a:rPr lang="en-US" dirty="0"/>
              <a:t> al </a:t>
            </a:r>
            <a:r>
              <a:rPr lang="en-US" dirty="0" err="1"/>
              <a:t>activitatii</a:t>
            </a:r>
            <a:r>
              <a:rPr lang="en-US" dirty="0"/>
              <a:t> </a:t>
            </a:r>
            <a:r>
              <a:rPr lang="en-US" dirty="0" err="1"/>
              <a:t>musculare</a:t>
            </a:r>
            <a:r>
              <a:rPr lang="en-US" dirty="0"/>
              <a:t>.-&gt;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constituita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neuron motor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ansamblu</a:t>
            </a:r>
            <a:r>
              <a:rPr lang="en-US" dirty="0"/>
              <a:t> de </a:t>
            </a:r>
            <a:r>
              <a:rPr lang="en-US" dirty="0" err="1"/>
              <a:t>fibre</a:t>
            </a:r>
            <a:r>
              <a:rPr lang="en-US" dirty="0"/>
              <a:t> </a:t>
            </a:r>
            <a:r>
              <a:rPr lang="en-US" dirty="0" err="1"/>
              <a:t>dispuse</a:t>
            </a:r>
            <a:r>
              <a:rPr lang="en-US" dirty="0"/>
              <a:t> in </a:t>
            </a:r>
            <a:r>
              <a:rPr lang="en-US" dirty="0" err="1"/>
              <a:t>tesutul</a:t>
            </a:r>
            <a:r>
              <a:rPr lang="en-US" dirty="0"/>
              <a:t> muscular care </a:t>
            </a:r>
            <a:r>
              <a:rPr lang="en-US" dirty="0" err="1"/>
              <a:t>sunt</a:t>
            </a:r>
            <a:r>
              <a:rPr lang="en-US" dirty="0"/>
              <a:t> in contact cu </a:t>
            </a:r>
            <a:r>
              <a:rPr lang="en-US" dirty="0" err="1"/>
              <a:t>axonul</a:t>
            </a:r>
            <a:r>
              <a:rPr lang="en-US" dirty="0"/>
              <a:t> </a:t>
            </a:r>
            <a:r>
              <a:rPr lang="en-US" dirty="0" err="1"/>
              <a:t>acestui</a:t>
            </a:r>
            <a:r>
              <a:rPr lang="en-US" dirty="0"/>
              <a:t> neuron.-&gt;</a:t>
            </a:r>
            <a:r>
              <a:rPr lang="en-US" dirty="0" err="1"/>
              <a:t>unitatii</a:t>
            </a:r>
            <a:r>
              <a:rPr lang="en-US" dirty="0"/>
              <a:t> </a:t>
            </a:r>
            <a:r>
              <a:rPr lang="en-US" dirty="0" err="1"/>
              <a:t>motorii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lente;unitati</a:t>
            </a:r>
            <a:r>
              <a:rPr lang="en-US" dirty="0"/>
              <a:t> </a:t>
            </a:r>
            <a:r>
              <a:rPr lang="en-US" dirty="0" err="1"/>
              <a:t>motorii</a:t>
            </a:r>
            <a:r>
              <a:rPr lang="en-US" dirty="0"/>
              <a:t> </a:t>
            </a:r>
            <a:r>
              <a:rPr lang="en-US" dirty="0" err="1"/>
              <a:t>rapide</a:t>
            </a:r>
            <a:r>
              <a:rPr lang="en-US" dirty="0"/>
              <a:t> cu un </a:t>
            </a:r>
            <a:r>
              <a:rPr lang="en-US" dirty="0" err="1"/>
              <a:t>caracter</a:t>
            </a:r>
            <a:r>
              <a:rPr lang="en-US" dirty="0"/>
              <a:t> predominant </a:t>
            </a:r>
            <a:r>
              <a:rPr lang="en-US" dirty="0" err="1"/>
              <a:t>fazic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unitati</a:t>
            </a:r>
            <a:r>
              <a:rPr lang="en-US" dirty="0"/>
              <a:t> </a:t>
            </a:r>
            <a:r>
              <a:rPr lang="en-US" dirty="0" err="1"/>
              <a:t>motorii</a:t>
            </a:r>
            <a:r>
              <a:rPr lang="en-US" dirty="0"/>
              <a:t> </a:t>
            </a:r>
            <a:r>
              <a:rPr lang="en-US" dirty="0" err="1"/>
              <a:t>lente</a:t>
            </a:r>
            <a:r>
              <a:rPr lang="en-US" dirty="0"/>
              <a:t> cu un </a:t>
            </a:r>
            <a:r>
              <a:rPr lang="en-US" dirty="0" err="1"/>
              <a:t>caracter</a:t>
            </a:r>
            <a:r>
              <a:rPr lang="en-US" dirty="0"/>
              <a:t> predominant tonic.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</a:t>
            </a:r>
            <a:r>
              <a:rPr lang="en-US" dirty="0" err="1"/>
              <a:t>sarcinile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prespupun</a:t>
            </a:r>
            <a:r>
              <a:rPr lang="en-US" dirty="0"/>
              <a:t> </a:t>
            </a:r>
            <a:r>
              <a:rPr lang="en-US" dirty="0" err="1"/>
              <a:t>mentinerea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perioada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lunga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pozitii</a:t>
            </a:r>
            <a:r>
              <a:rPr lang="en-US" dirty="0"/>
              <a:t> </a:t>
            </a:r>
            <a:r>
              <a:rPr lang="en-US" dirty="0" err="1"/>
              <a:t>statice</a:t>
            </a:r>
            <a:r>
              <a:rPr lang="en-US" dirty="0"/>
              <a:t> </a:t>
            </a:r>
            <a:r>
              <a:rPr lang="en-US" dirty="0" err="1"/>
              <a:t>verticale,orizontale</a:t>
            </a:r>
            <a:r>
              <a:rPr lang="en-US" dirty="0"/>
              <a:t>, </a:t>
            </a:r>
            <a:r>
              <a:rPr lang="en-US" dirty="0" err="1"/>
              <a:t>inclinate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asezat</a:t>
            </a:r>
            <a:r>
              <a:rPr lang="en-US" dirty="0"/>
              <a:t> se </a:t>
            </a:r>
            <a:r>
              <a:rPr lang="en-US" dirty="0" err="1"/>
              <a:t>impun</a:t>
            </a:r>
            <a:r>
              <a:rPr lang="en-US" dirty="0"/>
              <a:t> </a:t>
            </a:r>
            <a:r>
              <a:rPr lang="en-US" dirty="0" err="1"/>
              <a:t>semnalele</a:t>
            </a:r>
            <a:r>
              <a:rPr lang="en-US" dirty="0"/>
              <a:t> de tip </a:t>
            </a:r>
            <a:r>
              <a:rPr lang="en-US" dirty="0" err="1"/>
              <a:t>proprioceptiv</a:t>
            </a:r>
            <a:r>
              <a:rPr lang="en-US" dirty="0"/>
              <a:t>; in </a:t>
            </a:r>
            <a:r>
              <a:rPr lang="en-US" dirty="0" err="1"/>
              <a:t>situatiile</a:t>
            </a:r>
            <a:r>
              <a:rPr lang="en-US" dirty="0"/>
              <a:t> in care </a:t>
            </a:r>
            <a:r>
              <a:rPr lang="en-US" dirty="0" err="1"/>
              <a:t>apare</a:t>
            </a:r>
            <a:r>
              <a:rPr lang="en-US" dirty="0"/>
              <a:t> </a:t>
            </a:r>
            <a:r>
              <a:rPr lang="en-US" dirty="0" err="1"/>
              <a:t>necesitatea</a:t>
            </a:r>
            <a:r>
              <a:rPr lang="en-US" dirty="0"/>
              <a:t> </a:t>
            </a:r>
            <a:r>
              <a:rPr lang="en-US" dirty="0" err="1"/>
              <a:t>efectuarii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miscari</a:t>
            </a:r>
            <a:r>
              <a:rPr lang="en-US" dirty="0"/>
              <a:t> fine, </a:t>
            </a:r>
            <a:r>
              <a:rPr lang="en-US" dirty="0" err="1"/>
              <a:t>coordonate</a:t>
            </a:r>
            <a:r>
              <a:rPr lang="en-US" dirty="0"/>
              <a:t> se </a:t>
            </a:r>
            <a:r>
              <a:rPr lang="en-US" dirty="0" err="1"/>
              <a:t>impun</a:t>
            </a:r>
            <a:r>
              <a:rPr lang="en-US" dirty="0"/>
              <a:t> </a:t>
            </a:r>
            <a:r>
              <a:rPr lang="en-US" dirty="0" err="1"/>
              <a:t>semnalele</a:t>
            </a:r>
            <a:r>
              <a:rPr lang="en-US" dirty="0"/>
              <a:t> de </a:t>
            </a:r>
            <a:r>
              <a:rPr lang="en-US" dirty="0" err="1"/>
              <a:t>ordin</a:t>
            </a:r>
            <a:r>
              <a:rPr lang="en-US" dirty="0"/>
              <a:t> </a:t>
            </a:r>
            <a:r>
              <a:rPr lang="en-US" dirty="0" err="1"/>
              <a:t>kinestezic</a:t>
            </a:r>
            <a:r>
              <a:rPr lang="en-US" dirty="0"/>
              <a:t>.</a:t>
            </a:r>
          </a:p>
          <a:p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vaz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kinestezie:pe</a:t>
            </a:r>
            <a:r>
              <a:rPr lang="en-US" dirty="0"/>
              <a:t> </a:t>
            </a:r>
            <a:r>
              <a:rPr lang="en-US" dirty="0" err="1"/>
              <a:t>parcursul</a:t>
            </a:r>
            <a:r>
              <a:rPr lang="en-US" dirty="0"/>
              <a:t> </a:t>
            </a:r>
            <a:r>
              <a:rPr lang="en-US" dirty="0" err="1"/>
              <a:t>dezvoltarii</a:t>
            </a:r>
            <a:r>
              <a:rPr lang="en-US" dirty="0"/>
              <a:t> </a:t>
            </a:r>
            <a:r>
              <a:rPr lang="en-US" dirty="0" err="1"/>
              <a:t>ontogenetice</a:t>
            </a:r>
            <a:r>
              <a:rPr lang="en-US" dirty="0"/>
              <a:t>, se </a:t>
            </a:r>
            <a:r>
              <a:rPr lang="en-US" dirty="0" err="1"/>
              <a:t>stabilesc</a:t>
            </a:r>
            <a:r>
              <a:rPr lang="en-US" dirty="0"/>
              <a:t> </a:t>
            </a:r>
            <a:r>
              <a:rPr lang="en-US" dirty="0" err="1"/>
              <a:t>legaturi</a:t>
            </a:r>
            <a:r>
              <a:rPr lang="en-US" dirty="0"/>
              <a:t> </a:t>
            </a:r>
            <a:r>
              <a:rPr lang="en-US" dirty="0" err="1"/>
              <a:t>functionale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analizatorul</a:t>
            </a:r>
            <a:r>
              <a:rPr lang="en-US" dirty="0"/>
              <a:t> </a:t>
            </a:r>
            <a:r>
              <a:rPr lang="en-US" dirty="0" err="1"/>
              <a:t>proprioceptiv-kinestezic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vizual</a:t>
            </a:r>
            <a:r>
              <a:rPr lang="en-US" dirty="0"/>
              <a:t>.-&gt;se </a:t>
            </a:r>
            <a:r>
              <a:rPr lang="en-US" dirty="0" err="1"/>
              <a:t>constata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de transfer al </a:t>
            </a:r>
            <a:r>
              <a:rPr lang="en-US" dirty="0" err="1"/>
              <a:t>strategiilor</a:t>
            </a:r>
            <a:r>
              <a:rPr lang="en-US" dirty="0"/>
              <a:t> de </a:t>
            </a:r>
            <a:r>
              <a:rPr lang="en-US" dirty="0" err="1"/>
              <a:t>explorare</a:t>
            </a:r>
            <a:r>
              <a:rPr lang="en-US" dirty="0"/>
              <a:t> din </a:t>
            </a:r>
            <a:r>
              <a:rPr lang="en-US" dirty="0" err="1"/>
              <a:t>sfera</a:t>
            </a:r>
            <a:r>
              <a:rPr lang="en-US" dirty="0"/>
              <a:t> </a:t>
            </a:r>
            <a:r>
              <a:rPr lang="en-US" dirty="0" err="1"/>
              <a:t>vizuala</a:t>
            </a:r>
            <a:r>
              <a:rPr lang="en-US" dirty="0"/>
              <a:t> in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proprioceptiv-kinestezica</a:t>
            </a:r>
            <a:r>
              <a:rPr lang="en-US" dirty="0"/>
              <a:t>.-&gt;</a:t>
            </a:r>
            <a:r>
              <a:rPr lang="en-US" dirty="0" err="1"/>
              <a:t>Zonele</a:t>
            </a:r>
            <a:r>
              <a:rPr lang="en-US" dirty="0"/>
              <a:t> cu </a:t>
            </a:r>
            <a:r>
              <a:rPr lang="en-US" dirty="0" err="1"/>
              <a:t>incarcatura</a:t>
            </a:r>
            <a:r>
              <a:rPr lang="en-US" dirty="0"/>
              <a:t> informational </a:t>
            </a:r>
            <a:r>
              <a:rPr lang="en-US" dirty="0" err="1"/>
              <a:t>relevanta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colturile</a:t>
            </a:r>
            <a:r>
              <a:rPr lang="en-US" dirty="0"/>
              <a:t>, </a:t>
            </a:r>
            <a:r>
              <a:rPr lang="en-US" dirty="0" err="1"/>
              <a:t>unghiurile</a:t>
            </a:r>
            <a:r>
              <a:rPr lang="en-US" dirty="0"/>
              <a:t>, </a:t>
            </a:r>
            <a:r>
              <a:rPr lang="en-US" dirty="0" err="1"/>
              <a:t>zonele</a:t>
            </a:r>
            <a:r>
              <a:rPr lang="en-US" dirty="0"/>
              <a:t> </a:t>
            </a:r>
            <a:r>
              <a:rPr lang="en-US" dirty="0" err="1"/>
              <a:t>curbe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raporturile</a:t>
            </a:r>
            <a:r>
              <a:rPr lang="en-US" dirty="0"/>
              <a:t> de </a:t>
            </a:r>
            <a:r>
              <a:rPr lang="en-US" dirty="0" err="1"/>
              <a:t>proportionalitate</a:t>
            </a:r>
            <a:r>
              <a:rPr lang="en-US" dirty="0"/>
              <a:t>.-&gt;in </a:t>
            </a:r>
            <a:r>
              <a:rPr lang="en-US" dirty="0" err="1"/>
              <a:t>acest</a:t>
            </a:r>
            <a:r>
              <a:rPr lang="en-US" dirty="0"/>
              <a:t> gen de </a:t>
            </a:r>
            <a:r>
              <a:rPr lang="en-US" dirty="0" err="1"/>
              <a:t>explorare</a:t>
            </a:r>
            <a:r>
              <a:rPr lang="en-US" dirty="0"/>
              <a:t> se </a:t>
            </a:r>
            <a:r>
              <a:rPr lang="en-US" dirty="0" err="1"/>
              <a:t>vadeste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bine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vaz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tactilo-kinestezie</a:t>
            </a:r>
            <a:r>
              <a:rPr lang="en-US" dirty="0"/>
              <a:t> -&gt;</a:t>
            </a:r>
            <a:r>
              <a:rPr lang="en-US" dirty="0" err="1"/>
              <a:t>experimentele</a:t>
            </a:r>
            <a:r>
              <a:rPr lang="en-US" dirty="0"/>
              <a:t> </a:t>
            </a:r>
            <a:r>
              <a:rPr lang="en-US" dirty="0" err="1"/>
              <a:t>efectuate</a:t>
            </a:r>
            <a:r>
              <a:rPr lang="en-US" dirty="0"/>
              <a:t> de Bartley, </a:t>
            </a:r>
            <a:r>
              <a:rPr lang="en-US" dirty="0" err="1"/>
              <a:t>Leontiev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Vekker</a:t>
            </a:r>
            <a:r>
              <a:rPr lang="en-US" dirty="0"/>
              <a:t> au </a:t>
            </a:r>
            <a:r>
              <a:rPr lang="en-US" dirty="0" err="1"/>
              <a:t>demonstra</a:t>
            </a:r>
            <a:r>
              <a:rPr lang="en-US" dirty="0"/>
              <a:t> ca in </a:t>
            </a:r>
            <a:r>
              <a:rPr lang="en-US" dirty="0" err="1"/>
              <a:t>perceptia</a:t>
            </a:r>
            <a:r>
              <a:rPr lang="en-US" dirty="0"/>
              <a:t> </a:t>
            </a:r>
            <a:r>
              <a:rPr lang="en-US" dirty="0" err="1"/>
              <a:t>kinestezica</a:t>
            </a:r>
            <a:r>
              <a:rPr lang="en-US" dirty="0"/>
              <a:t> a </a:t>
            </a:r>
            <a:r>
              <a:rPr lang="en-US" dirty="0" err="1"/>
              <a:t>marimii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formei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se </a:t>
            </a:r>
            <a:r>
              <a:rPr lang="en-US" dirty="0" err="1"/>
              <a:t>reactualizeaza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imaginea</a:t>
            </a:r>
            <a:r>
              <a:rPr lang="en-US" dirty="0"/>
              <a:t> </a:t>
            </a:r>
            <a:r>
              <a:rPr lang="en-US" dirty="0" err="1"/>
              <a:t>vizuala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se </a:t>
            </a:r>
            <a:r>
              <a:rPr lang="en-US" dirty="0" err="1"/>
              <a:t>cauta</a:t>
            </a:r>
            <a:r>
              <a:rPr lang="en-US" dirty="0"/>
              <a:t> o </a:t>
            </a:r>
            <a:r>
              <a:rPr lang="en-US" dirty="0" err="1"/>
              <a:t>vizualizare</a:t>
            </a:r>
            <a:r>
              <a:rPr lang="en-US" dirty="0"/>
              <a:t> a </a:t>
            </a:r>
            <a:r>
              <a:rPr lang="en-US" dirty="0" err="1"/>
              <a:t>contactului</a:t>
            </a:r>
            <a:r>
              <a:rPr lang="en-US" dirty="0"/>
              <a:t> cu </a:t>
            </a:r>
            <a:r>
              <a:rPr lang="en-US" dirty="0" err="1"/>
              <a:t>obiectul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Reid a </a:t>
            </a:r>
            <a:r>
              <a:rPr lang="en-US" dirty="0" err="1"/>
              <a:t>descris</a:t>
            </a:r>
            <a:r>
              <a:rPr lang="en-US" dirty="0"/>
              <a:t> </a:t>
            </a:r>
            <a:r>
              <a:rPr lang="en-US" i="1" dirty="0" err="1"/>
              <a:t>iluzia</a:t>
            </a:r>
            <a:r>
              <a:rPr lang="en-US" i="1" dirty="0"/>
              <a:t> de </a:t>
            </a:r>
            <a:r>
              <a:rPr lang="en-US" i="1" dirty="0" err="1"/>
              <a:t>miscare</a:t>
            </a:r>
            <a:r>
              <a:rPr lang="en-US" i="1" dirty="0"/>
              <a:t> </a:t>
            </a:r>
            <a:r>
              <a:rPr lang="en-US" dirty="0"/>
              <a:t> in </a:t>
            </a:r>
            <a:r>
              <a:rPr lang="en-US" dirty="0" err="1"/>
              <a:t>sfera</a:t>
            </a:r>
            <a:r>
              <a:rPr lang="en-US" dirty="0"/>
              <a:t> </a:t>
            </a:r>
            <a:r>
              <a:rPr lang="en-US" dirty="0" err="1"/>
              <a:t>sensibilitatii</a:t>
            </a:r>
            <a:r>
              <a:rPr lang="en-US" dirty="0"/>
              <a:t> </a:t>
            </a:r>
            <a:r>
              <a:rPr lang="en-US" dirty="0" err="1"/>
              <a:t>proprioceptiv-kinestezica:miscarea</a:t>
            </a:r>
            <a:r>
              <a:rPr lang="en-US" dirty="0"/>
              <a:t> de la </a:t>
            </a:r>
            <a:r>
              <a:rPr lang="en-US" dirty="0" err="1"/>
              <a:t>dreapta</a:t>
            </a:r>
            <a:r>
              <a:rPr lang="en-US" dirty="0"/>
              <a:t> la </a:t>
            </a:r>
            <a:r>
              <a:rPr lang="en-US" dirty="0" err="1"/>
              <a:t>stanga</a:t>
            </a:r>
            <a:r>
              <a:rPr lang="en-US" dirty="0"/>
              <a:t> conduce la </a:t>
            </a:r>
            <a:r>
              <a:rPr lang="en-US" dirty="0" err="1"/>
              <a:t>subestimari;miscarea</a:t>
            </a:r>
            <a:r>
              <a:rPr lang="en-US" dirty="0"/>
              <a:t> in plan median </a:t>
            </a:r>
            <a:r>
              <a:rPr lang="en-US" dirty="0" err="1"/>
              <a:t>dinspre</a:t>
            </a:r>
            <a:r>
              <a:rPr lang="en-US" dirty="0"/>
              <a:t> </a:t>
            </a:r>
            <a:r>
              <a:rPr lang="en-US" dirty="0" err="1"/>
              <a:t>corp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corp</a:t>
            </a:r>
            <a:r>
              <a:rPr lang="en-US" dirty="0"/>
              <a:t> conduce la supra </a:t>
            </a:r>
            <a:r>
              <a:rPr lang="en-US" dirty="0" err="1"/>
              <a:t>estimari</a:t>
            </a:r>
            <a:r>
              <a:rPr lang="en-US" dirty="0"/>
              <a:t>.</a:t>
            </a:r>
          </a:p>
          <a:p>
            <a:r>
              <a:rPr lang="en-US" i="1" dirty="0" err="1"/>
              <a:t>Raportul</a:t>
            </a:r>
            <a:r>
              <a:rPr lang="en-US" i="1" dirty="0"/>
              <a:t> </a:t>
            </a:r>
            <a:r>
              <a:rPr lang="en-US" i="1" dirty="0" err="1"/>
              <a:t>viteza-miscare</a:t>
            </a:r>
            <a:r>
              <a:rPr lang="en-US" i="1" dirty="0"/>
              <a:t> </a:t>
            </a:r>
            <a:r>
              <a:rPr lang="en-US" dirty="0"/>
              <a:t>:Woodworth-&gt;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totala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miscari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inferioara</a:t>
            </a:r>
            <a:r>
              <a:rPr lang="en-US" dirty="0"/>
              <a:t> </a:t>
            </a:r>
            <a:r>
              <a:rPr lang="en-US" dirty="0" err="1"/>
              <a:t>timpului</a:t>
            </a:r>
            <a:r>
              <a:rPr lang="en-US" dirty="0"/>
              <a:t> </a:t>
            </a:r>
            <a:r>
              <a:rPr lang="en-US" dirty="0" err="1"/>
              <a:t>cerut</a:t>
            </a:r>
            <a:r>
              <a:rPr lang="en-US" dirty="0"/>
              <a:t> pt a </a:t>
            </a:r>
            <a:r>
              <a:rPr lang="en-US" dirty="0" err="1"/>
              <a:t>detecta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corecta</a:t>
            </a:r>
            <a:r>
              <a:rPr lang="en-US" dirty="0"/>
              <a:t> </a:t>
            </a:r>
            <a:r>
              <a:rPr lang="en-US" dirty="0" err="1"/>
              <a:t>eventualele</a:t>
            </a:r>
            <a:r>
              <a:rPr lang="en-US" dirty="0"/>
              <a:t> </a:t>
            </a:r>
            <a:r>
              <a:rPr lang="en-US" dirty="0" err="1"/>
              <a:t>erori</a:t>
            </a:r>
            <a:r>
              <a:rPr lang="en-US" dirty="0"/>
              <a:t> </a:t>
            </a:r>
            <a:r>
              <a:rPr lang="en-US" dirty="0" err="1"/>
              <a:t>initiale</a:t>
            </a:r>
            <a:r>
              <a:rPr lang="en-US" dirty="0"/>
              <a:t>.-&gt;</a:t>
            </a:r>
            <a:r>
              <a:rPr lang="en-US" dirty="0" err="1"/>
              <a:t>Ipoteza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Woodworth </a:t>
            </a:r>
            <a:r>
              <a:rPr lang="en-US" dirty="0" err="1"/>
              <a:t>pornea</a:t>
            </a:r>
            <a:r>
              <a:rPr lang="en-US" dirty="0"/>
              <a:t> de la o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inversa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viteza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precizia</a:t>
            </a:r>
            <a:r>
              <a:rPr lang="en-US" dirty="0"/>
              <a:t> </a:t>
            </a:r>
            <a:r>
              <a:rPr lang="en-US" dirty="0" err="1"/>
              <a:t>miscarii</a:t>
            </a:r>
            <a:r>
              <a:rPr lang="en-US" dirty="0"/>
              <a:t>-&gt;prima </a:t>
            </a:r>
            <a:r>
              <a:rPr lang="en-US" dirty="0" err="1"/>
              <a:t>estimare</a:t>
            </a:r>
            <a:r>
              <a:rPr lang="en-US" dirty="0"/>
              <a:t> </a:t>
            </a:r>
            <a:r>
              <a:rPr lang="en-US" dirty="0" err="1"/>
              <a:t>cantitativa</a:t>
            </a:r>
            <a:r>
              <a:rPr lang="en-US" dirty="0"/>
              <a:t> a </a:t>
            </a:r>
            <a:r>
              <a:rPr lang="en-US" dirty="0" err="1"/>
              <a:t>relatiei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rapiditate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precizia</a:t>
            </a:r>
            <a:r>
              <a:rPr lang="en-US" dirty="0"/>
              <a:t> </a:t>
            </a:r>
            <a:r>
              <a:rPr lang="en-US" dirty="0" err="1"/>
              <a:t>miscarii</a:t>
            </a:r>
            <a:r>
              <a:rPr lang="en-US" dirty="0"/>
              <a:t> se </a:t>
            </a:r>
            <a:r>
              <a:rPr lang="en-US" dirty="0" err="1"/>
              <a:t>datoreaza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Fitts</a:t>
            </a:r>
            <a:r>
              <a:rPr lang="en-US" dirty="0"/>
              <a:t>-&gt;</a:t>
            </a:r>
            <a:r>
              <a:rPr lang="en-US" dirty="0" err="1"/>
              <a:t>Legea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Fitts:durata</a:t>
            </a:r>
            <a:r>
              <a:rPr lang="en-US" dirty="0"/>
              <a:t> </a:t>
            </a:r>
            <a:r>
              <a:rPr lang="en-US" dirty="0" err="1"/>
              <a:t>executiei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miscari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raportul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amplitudinea</a:t>
            </a:r>
            <a:r>
              <a:rPr lang="en-US" dirty="0"/>
              <a:t> </a:t>
            </a:r>
            <a:r>
              <a:rPr lang="en-US" dirty="0" err="1"/>
              <a:t>miscarii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variatiile</a:t>
            </a:r>
            <a:r>
              <a:rPr lang="en-US" dirty="0"/>
              <a:t> </a:t>
            </a:r>
            <a:r>
              <a:rPr lang="en-US" dirty="0" err="1"/>
              <a:t>spatiale</a:t>
            </a:r>
            <a:r>
              <a:rPr lang="en-US"/>
              <a:t> tolerate</a:t>
            </a:r>
            <a:endParaRPr lang="en-US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575F6D"/>
      </a:dk2>
      <a:lt2>
        <a:srgbClr val="DBFF05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5444</Words>
  <Application>Microsoft Office PowerPoint</Application>
  <PresentationFormat>Expunere pe ecran (4:3)</PresentationFormat>
  <Paragraphs>147</Paragraphs>
  <Slides>35</Slides>
  <Notes>1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Senzatia</vt:lpstr>
      <vt:lpstr>De la excitabilitate  la sensibilitate</vt:lpstr>
      <vt:lpstr>Prezentare PowerPoint</vt:lpstr>
      <vt:lpstr>Definirea si specificul psihologic al senzatiilor</vt:lpstr>
      <vt:lpstr>Prezentare PowerPoint</vt:lpstr>
      <vt:lpstr>Prezentare PowerPoint</vt:lpstr>
      <vt:lpstr>Prezentare PowerPoint</vt:lpstr>
      <vt:lpstr>Calitatile senzatiilor</vt:lpstr>
      <vt:lpstr>Prezentare PowerPoint</vt:lpstr>
      <vt:lpstr>Prezentare PowerPoint</vt:lpstr>
      <vt:lpstr>Legile sensibilitatii</vt:lpstr>
      <vt:lpstr>Prezentare PowerPoint</vt:lpstr>
      <vt:lpstr>Prezentare PowerPoint</vt:lpstr>
      <vt:lpstr>Senzatiile vizuale</vt:lpstr>
      <vt:lpstr>Prezentare PowerPoint</vt:lpstr>
      <vt:lpstr>Prezentare PowerPoint</vt:lpstr>
      <vt:lpstr>Prezentare PowerPoint</vt:lpstr>
      <vt:lpstr>Senzatiile auditive</vt:lpstr>
      <vt:lpstr>Prezentare PowerPoint</vt:lpstr>
      <vt:lpstr>Prezentare PowerPoint</vt:lpstr>
      <vt:lpstr>Senzatiile gustative</vt:lpstr>
      <vt:lpstr>Prezentare PowerPoint</vt:lpstr>
      <vt:lpstr>Prezentare PowerPoint</vt:lpstr>
      <vt:lpstr>Senzatiile olfactive</vt:lpstr>
      <vt:lpstr>Prezentare PowerPoint</vt:lpstr>
      <vt:lpstr>Prezentare PowerPoint</vt:lpstr>
      <vt:lpstr>Prezentare PowerPoint</vt:lpstr>
      <vt:lpstr>Senzatiile cutanate</vt:lpstr>
      <vt:lpstr>Prezentare PowerPoint</vt:lpstr>
      <vt:lpstr>Prezentare PowerPoint</vt:lpstr>
      <vt:lpstr>Prezentare PowerPoint</vt:lpstr>
      <vt:lpstr>Prezentare PowerPoint</vt:lpstr>
      <vt:lpstr>Senzatiile proprioceptiv-kinestezice si de echilibru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Senzatii</dc:title>
  <dc:creator>Valentina</dc:creator>
  <cp:lastModifiedBy>valentina.constantin@outlook.com</cp:lastModifiedBy>
  <cp:revision>51</cp:revision>
  <dcterms:created xsi:type="dcterms:W3CDTF">2006-08-16T00:00:00Z</dcterms:created>
  <dcterms:modified xsi:type="dcterms:W3CDTF">2020-12-10T18:18:52Z</dcterms:modified>
</cp:coreProperties>
</file>