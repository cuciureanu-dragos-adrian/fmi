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7" autoAdjust="0"/>
    <p:restoredTop sz="94660"/>
  </p:normalViewPr>
  <p:slideViewPr>
    <p:cSldViewPr>
      <p:cViewPr varScale="1">
        <p:scale>
          <a:sx n="79" d="100"/>
          <a:sy n="79" d="100"/>
        </p:scale>
        <p:origin x="159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676400"/>
            <a:ext cx="6872068" cy="2868168"/>
          </a:xfrm>
        </p:spPr>
        <p:txBody>
          <a:bodyPr>
            <a:noAutofit/>
          </a:bodyPr>
          <a:lstStyle/>
          <a:p>
            <a:r>
              <a:rPr lang="en-US" sz="9600" dirty="0" err="1"/>
              <a:t>Gandirea</a:t>
            </a:r>
            <a:endParaRPr lang="en-US"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Perspective in </a:t>
            </a:r>
            <a:r>
              <a:rPr lang="en-US" dirty="0" err="1"/>
              <a:t>abordarea</a:t>
            </a:r>
            <a:r>
              <a:rPr lang="en-US" dirty="0"/>
              <a:t> </a:t>
            </a:r>
            <a:r>
              <a:rPr lang="en-US" dirty="0" err="1"/>
              <a:t>gandirii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1981200"/>
          </a:xfrm>
        </p:spPr>
        <p:txBody>
          <a:bodyPr/>
          <a:lstStyle/>
          <a:p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frapeaza</a:t>
            </a:r>
            <a:r>
              <a:rPr lang="en-US" dirty="0"/>
              <a:t> din </a:t>
            </a:r>
            <a:r>
              <a:rPr lang="en-US" dirty="0" err="1"/>
              <a:t>capul</a:t>
            </a:r>
            <a:r>
              <a:rPr lang="en-US" dirty="0"/>
              <a:t> </a:t>
            </a:r>
            <a:r>
              <a:rPr lang="en-US" dirty="0" err="1"/>
              <a:t>locului</a:t>
            </a:r>
            <a:r>
              <a:rPr lang="en-US" dirty="0"/>
              <a:t> in </a:t>
            </a:r>
            <a:r>
              <a:rPr lang="en-US" dirty="0" err="1"/>
              <a:t>psihologia</a:t>
            </a:r>
            <a:r>
              <a:rPr lang="en-US" dirty="0"/>
              <a:t>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polarizarea</a:t>
            </a:r>
            <a:r>
              <a:rPr lang="en-US" dirty="0"/>
              <a:t> </a:t>
            </a:r>
            <a:r>
              <a:rPr lang="en-US" dirty="0" err="1"/>
              <a:t>conceptiilor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800600" y="-762000"/>
            <a:ext cx="38862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9067800" cy="5211763"/>
          </a:xfrm>
        </p:spPr>
        <p:txBody>
          <a:bodyPr>
            <a:normAutofit/>
          </a:bodyPr>
          <a:lstStyle/>
          <a:p>
            <a:r>
              <a:rPr lang="en-US" i="1" dirty="0" err="1"/>
              <a:t>Perspectiva</a:t>
            </a:r>
            <a:r>
              <a:rPr lang="en-US" i="1" dirty="0"/>
              <a:t> </a:t>
            </a:r>
            <a:r>
              <a:rPr lang="en-US" i="1" dirty="0" err="1"/>
              <a:t>logicii</a:t>
            </a:r>
            <a:r>
              <a:rPr lang="en-US" i="1" dirty="0"/>
              <a:t> </a:t>
            </a:r>
            <a:r>
              <a:rPr lang="en-US" i="1" dirty="0" err="1"/>
              <a:t>clasice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are </a:t>
            </a:r>
            <a:r>
              <a:rPr lang="en-US" dirty="0" err="1"/>
              <a:t>originile</a:t>
            </a:r>
            <a:r>
              <a:rPr lang="en-US" dirty="0"/>
              <a:t> in </a:t>
            </a:r>
            <a:r>
              <a:rPr lang="en-US" dirty="0" err="1"/>
              <a:t>logica</a:t>
            </a:r>
            <a:r>
              <a:rPr lang="en-US" dirty="0"/>
              <a:t> </a:t>
            </a:r>
            <a:r>
              <a:rPr lang="en-US" dirty="0" err="1"/>
              <a:t>aristoteliana</a:t>
            </a:r>
            <a:r>
              <a:rPr lang="en-US" dirty="0"/>
              <a:t>. </a:t>
            </a:r>
            <a:r>
              <a:rPr lang="en-US" dirty="0" err="1"/>
              <a:t>Logicienii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primii</a:t>
            </a:r>
            <a:r>
              <a:rPr lang="en-US" dirty="0"/>
              <a:t> care au </a:t>
            </a:r>
            <a:r>
              <a:rPr lang="en-US" dirty="0" err="1"/>
              <a:t>abordat</a:t>
            </a:r>
            <a:r>
              <a:rPr lang="en-US" dirty="0"/>
              <a:t> </a:t>
            </a:r>
            <a:r>
              <a:rPr lang="en-US" dirty="0" err="1"/>
              <a:t>operatiile</a:t>
            </a:r>
            <a:r>
              <a:rPr lang="en-US" dirty="0"/>
              <a:t>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le-au </a:t>
            </a:r>
            <a:r>
              <a:rPr lang="en-US" dirty="0" err="1"/>
              <a:t>definit</a:t>
            </a:r>
            <a:r>
              <a:rPr lang="en-US" dirty="0"/>
              <a:t>.-&gt;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vorba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operatiile</a:t>
            </a:r>
            <a:r>
              <a:rPr lang="en-US" dirty="0"/>
              <a:t> de </a:t>
            </a:r>
            <a:r>
              <a:rPr lang="en-US" dirty="0" err="1"/>
              <a:t>analiza</a:t>
            </a:r>
            <a:r>
              <a:rPr lang="en-US" dirty="0"/>
              <a:t>, </a:t>
            </a:r>
            <a:r>
              <a:rPr lang="en-US" dirty="0" err="1"/>
              <a:t>sinteza</a:t>
            </a:r>
            <a:r>
              <a:rPr lang="en-US" dirty="0"/>
              <a:t>, </a:t>
            </a:r>
            <a:r>
              <a:rPr lang="en-US" dirty="0" err="1"/>
              <a:t>abstractizare</a:t>
            </a:r>
            <a:r>
              <a:rPr lang="en-US" dirty="0"/>
              <a:t>, </a:t>
            </a:r>
            <a:r>
              <a:rPr lang="en-US" dirty="0" err="1"/>
              <a:t>generalizare</a:t>
            </a:r>
            <a:r>
              <a:rPr lang="en-US" dirty="0"/>
              <a:t>, </a:t>
            </a:r>
            <a:r>
              <a:rPr lang="en-US" dirty="0" err="1"/>
              <a:t>comparatie,inductie,deductie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judecati</a:t>
            </a:r>
            <a:r>
              <a:rPr lang="en-US" dirty="0"/>
              <a:t>, </a:t>
            </a:r>
            <a:r>
              <a:rPr lang="en-US" dirty="0" err="1"/>
              <a:t>rationamente</a:t>
            </a:r>
            <a:r>
              <a:rPr lang="en-US" dirty="0"/>
              <a:t>, </a:t>
            </a:r>
            <a:r>
              <a:rPr lang="en-US" dirty="0" err="1"/>
              <a:t>silogisme</a:t>
            </a:r>
            <a:r>
              <a:rPr lang="en-US" dirty="0"/>
              <a:t> etc. -&gt;</a:t>
            </a:r>
            <a:r>
              <a:rPr lang="en-US" dirty="0" err="1"/>
              <a:t>pana</a:t>
            </a:r>
            <a:r>
              <a:rPr lang="en-US" dirty="0"/>
              <a:t> la </a:t>
            </a:r>
            <a:r>
              <a:rPr lang="en-US" dirty="0" err="1"/>
              <a:t>inceputul</a:t>
            </a:r>
            <a:r>
              <a:rPr lang="en-US" dirty="0"/>
              <a:t> sec </a:t>
            </a:r>
            <a:r>
              <a:rPr lang="en-US" dirty="0" err="1"/>
              <a:t>XX,gandirea</a:t>
            </a:r>
            <a:r>
              <a:rPr lang="en-US" dirty="0"/>
              <a:t> era </a:t>
            </a:r>
            <a:r>
              <a:rPr lang="en-US" dirty="0" err="1"/>
              <a:t>integrata</a:t>
            </a:r>
            <a:r>
              <a:rPr lang="en-US" dirty="0"/>
              <a:t> in </a:t>
            </a:r>
            <a:r>
              <a:rPr lang="en-US" dirty="0" err="1"/>
              <a:t>studiul</a:t>
            </a:r>
            <a:r>
              <a:rPr lang="en-US" dirty="0"/>
              <a:t> </a:t>
            </a:r>
            <a:r>
              <a:rPr lang="en-US" dirty="0" err="1"/>
              <a:t>filozofiei</a:t>
            </a:r>
            <a:r>
              <a:rPr lang="en-US" dirty="0"/>
              <a:t>, al </a:t>
            </a:r>
            <a:r>
              <a:rPr lang="en-US" dirty="0" err="1"/>
              <a:t>epistemologiei.Pe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cale</a:t>
            </a:r>
            <a:r>
              <a:rPr lang="en-US" dirty="0"/>
              <a:t> se </a:t>
            </a:r>
            <a:r>
              <a:rPr lang="en-US" dirty="0" err="1"/>
              <a:t>impunea</a:t>
            </a:r>
            <a:r>
              <a:rPr lang="en-US" dirty="0"/>
              <a:t> </a:t>
            </a:r>
            <a:r>
              <a:rPr lang="en-US" dirty="0" err="1"/>
              <a:t>aspectul</a:t>
            </a:r>
            <a:r>
              <a:rPr lang="en-US" dirty="0"/>
              <a:t> </a:t>
            </a:r>
            <a:r>
              <a:rPr lang="en-US" dirty="0" err="1"/>
              <a:t>normativ</a:t>
            </a:r>
            <a:r>
              <a:rPr lang="en-US" dirty="0"/>
              <a:t> al </a:t>
            </a:r>
            <a:r>
              <a:rPr lang="en-US" dirty="0" err="1"/>
              <a:t>gandirii</a:t>
            </a:r>
            <a:r>
              <a:rPr lang="en-US" dirty="0"/>
              <a:t>.</a:t>
            </a:r>
            <a:endParaRPr lang="en-US" i="1" dirty="0"/>
          </a:p>
        </p:txBody>
      </p:sp>
      <p:sp>
        <p:nvSpPr>
          <p:cNvPr id="4" name="Acoladă stânga 3">
            <a:extLst>
              <a:ext uri="{FF2B5EF4-FFF2-40B4-BE49-F238E27FC236}">
                <a16:creationId xmlns:a16="http://schemas.microsoft.com/office/drawing/2014/main" id="{0B55F013-ED10-4A36-8CE4-DCDA3882ABBA}"/>
              </a:ext>
            </a:extLst>
          </p:cNvPr>
          <p:cNvSpPr/>
          <p:nvPr/>
        </p:nvSpPr>
        <p:spPr>
          <a:xfrm>
            <a:off x="5486400" y="-457200"/>
            <a:ext cx="152400" cy="762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>
            <a:off x="4876800" y="-1447800"/>
            <a:ext cx="3810000" cy="5334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610600" cy="5973763"/>
          </a:xfrm>
        </p:spPr>
        <p:txBody>
          <a:bodyPr>
            <a:normAutofit/>
          </a:bodyPr>
          <a:lstStyle/>
          <a:p>
            <a:r>
              <a:rPr lang="en-US" i="1" dirty="0" err="1"/>
              <a:t>Asociationismul</a:t>
            </a:r>
            <a:r>
              <a:rPr lang="en-US" i="1" dirty="0"/>
              <a:t> </a:t>
            </a:r>
            <a:r>
              <a:rPr lang="en-US" i="1" dirty="0" err="1"/>
              <a:t>senzualist</a:t>
            </a:r>
            <a:r>
              <a:rPr lang="en-US" i="1" dirty="0"/>
              <a:t> </a:t>
            </a:r>
            <a:r>
              <a:rPr lang="en-US" dirty="0"/>
              <a:t>reduce </a:t>
            </a:r>
            <a:r>
              <a:rPr lang="en-US" dirty="0" err="1"/>
              <a:t>gandirea</a:t>
            </a:r>
            <a:r>
              <a:rPr lang="en-US" dirty="0"/>
              <a:t> la o </a:t>
            </a:r>
            <a:r>
              <a:rPr lang="en-US" dirty="0" err="1"/>
              <a:t>asmotivational.La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gandirii</a:t>
            </a:r>
            <a:r>
              <a:rPr lang="en-US" dirty="0"/>
              <a:t> sunt </a:t>
            </a:r>
            <a:r>
              <a:rPr lang="en-US" dirty="0" err="1"/>
              <a:t>puse</a:t>
            </a:r>
            <a:r>
              <a:rPr lang="en-US" dirty="0"/>
              <a:t> </a:t>
            </a:r>
            <a:r>
              <a:rPr lang="en-US" dirty="0" err="1"/>
              <a:t>legile</a:t>
            </a:r>
            <a:r>
              <a:rPr lang="en-US" dirty="0"/>
              <a:t> </a:t>
            </a:r>
            <a:r>
              <a:rPr lang="en-US" dirty="0" err="1"/>
              <a:t>asocierii</a:t>
            </a:r>
            <a:r>
              <a:rPr lang="en-US" dirty="0"/>
              <a:t>: </a:t>
            </a:r>
            <a:r>
              <a:rPr lang="en-US" dirty="0" err="1"/>
              <a:t>asocierea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contrast,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asemanare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contiguitate</a:t>
            </a:r>
            <a:r>
              <a:rPr lang="en-US" dirty="0"/>
              <a:t> </a:t>
            </a:r>
            <a:r>
              <a:rPr lang="en-US" dirty="0" err="1"/>
              <a:t>spatio</a:t>
            </a:r>
            <a:r>
              <a:rPr lang="en-US" dirty="0"/>
              <a:t>- </a:t>
            </a:r>
            <a:r>
              <a:rPr lang="en-US" dirty="0" err="1"/>
              <a:t>temporala</a:t>
            </a:r>
            <a:r>
              <a:rPr lang="en-US" dirty="0"/>
              <a:t>.-&gt;</a:t>
            </a:r>
            <a:r>
              <a:rPr lang="en-US" dirty="0" err="1"/>
              <a:t>asociationismul</a:t>
            </a:r>
            <a:r>
              <a:rPr lang="en-US" dirty="0"/>
              <a:t> are </a:t>
            </a:r>
            <a:r>
              <a:rPr lang="en-US" dirty="0" err="1"/>
              <a:t>meritul</a:t>
            </a:r>
            <a:r>
              <a:rPr lang="en-US" dirty="0"/>
              <a:t> de a fi </a:t>
            </a:r>
            <a:r>
              <a:rPr lang="en-US" dirty="0" err="1"/>
              <a:t>propus</a:t>
            </a:r>
            <a:r>
              <a:rPr lang="en-US" dirty="0"/>
              <a:t> </a:t>
            </a:r>
            <a:r>
              <a:rPr lang="en-US" dirty="0" err="1"/>
              <a:t>totusi</a:t>
            </a:r>
            <a:r>
              <a:rPr lang="en-US" dirty="0"/>
              <a:t> un </a:t>
            </a:r>
            <a:r>
              <a:rPr lang="en-US" dirty="0" err="1"/>
              <a:t>mecanism</a:t>
            </a:r>
            <a:r>
              <a:rPr lang="en-US" dirty="0"/>
              <a:t> </a:t>
            </a:r>
            <a:r>
              <a:rPr lang="en-US" dirty="0" err="1"/>
              <a:t>explicativ</a:t>
            </a:r>
            <a:r>
              <a:rPr lang="en-US" dirty="0"/>
              <a:t> al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asociatie</a:t>
            </a:r>
            <a:r>
              <a:rPr lang="en-US" dirty="0"/>
              <a:t>.-&gt;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incontestabil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ca </a:t>
            </a:r>
            <a:r>
              <a:rPr lang="en-US" dirty="0" err="1"/>
              <a:t>asociatiile</a:t>
            </a:r>
            <a:r>
              <a:rPr lang="en-US" dirty="0"/>
              <a:t> </a:t>
            </a:r>
            <a:r>
              <a:rPr lang="en-US" dirty="0" err="1"/>
              <a:t>constituie</a:t>
            </a:r>
            <a:r>
              <a:rPr lang="en-US" dirty="0"/>
              <a:t> </a:t>
            </a:r>
            <a:r>
              <a:rPr lang="en-US" dirty="0" err="1"/>
              <a:t>modalitati</a:t>
            </a:r>
            <a:r>
              <a:rPr lang="en-US" dirty="0"/>
              <a:t> de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</a:t>
            </a:r>
            <a:r>
              <a:rPr lang="en-US" dirty="0" err="1"/>
              <a:t>operare</a:t>
            </a:r>
            <a:r>
              <a:rPr lang="en-US" dirty="0"/>
              <a:t> ale </a:t>
            </a:r>
            <a:r>
              <a:rPr lang="en-US" dirty="0" err="1"/>
              <a:t>gandirii</a:t>
            </a:r>
            <a:r>
              <a:rPr lang="en-US" dirty="0"/>
              <a:t>-&gt;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curentele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scolile</a:t>
            </a:r>
            <a:r>
              <a:rPr lang="en-US" dirty="0"/>
              <a:t> </a:t>
            </a:r>
            <a:r>
              <a:rPr lang="en-US" dirty="0" err="1"/>
              <a:t>psihologice</a:t>
            </a:r>
            <a:r>
              <a:rPr lang="en-US" dirty="0"/>
              <a:t> care au </a:t>
            </a:r>
            <a:r>
              <a:rPr lang="en-US" dirty="0" err="1"/>
              <a:t>urmat</a:t>
            </a:r>
            <a:r>
              <a:rPr lang="en-US" dirty="0"/>
              <a:t> s-au </a:t>
            </a:r>
            <a:r>
              <a:rPr lang="en-US" dirty="0" err="1"/>
              <a:t>raportat</a:t>
            </a:r>
            <a:r>
              <a:rPr lang="en-US" dirty="0"/>
              <a:t> la </a:t>
            </a:r>
            <a:r>
              <a:rPr lang="en-US" dirty="0" err="1"/>
              <a:t>asociationism</a:t>
            </a:r>
            <a:r>
              <a:rPr lang="en-US" dirty="0"/>
              <a:t> ca </a:t>
            </a:r>
            <a:r>
              <a:rPr lang="en-US" dirty="0" err="1"/>
              <a:t>reper</a:t>
            </a:r>
            <a:r>
              <a:rPr lang="en-US" dirty="0"/>
              <a:t>, ca </a:t>
            </a:r>
            <a:r>
              <a:rPr lang="en-US" dirty="0" err="1"/>
              <a:t>piatra</a:t>
            </a:r>
            <a:r>
              <a:rPr lang="en-US" dirty="0"/>
              <a:t> de </a:t>
            </a:r>
            <a:r>
              <a:rPr lang="en-US" dirty="0" err="1"/>
              <a:t>hotar</a:t>
            </a:r>
            <a:r>
              <a:rPr lang="en-US" dirty="0"/>
              <a:t> in </a:t>
            </a:r>
            <a:r>
              <a:rPr lang="en-US" dirty="0" err="1"/>
              <a:t>psihologie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1006556" flipH="1">
            <a:off x="5931476" y="-2701721"/>
            <a:ext cx="1392420" cy="36201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763000" cy="6781800"/>
          </a:xfrm>
        </p:spPr>
        <p:txBody>
          <a:bodyPr>
            <a:normAutofit/>
          </a:bodyPr>
          <a:lstStyle/>
          <a:p>
            <a:r>
              <a:rPr lang="en-US" i="1" dirty="0" err="1"/>
              <a:t>Introspectionismul</a:t>
            </a:r>
            <a:r>
              <a:rPr lang="en-US" i="1" dirty="0"/>
              <a:t> experimental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i="1" dirty="0" err="1"/>
              <a:t>Scoala</a:t>
            </a:r>
            <a:r>
              <a:rPr lang="en-US" i="1" dirty="0"/>
              <a:t> de la </a:t>
            </a:r>
            <a:r>
              <a:rPr lang="en-US" i="1" dirty="0" err="1"/>
              <a:t>Wurtzburg</a:t>
            </a:r>
            <a:r>
              <a:rPr lang="en-US" i="1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reprezentantii</a:t>
            </a:r>
            <a:r>
              <a:rPr lang="en-US" dirty="0"/>
              <a:t> </a:t>
            </a:r>
            <a:r>
              <a:rPr lang="en-US" dirty="0" err="1"/>
              <a:t>O.Kulpe</a:t>
            </a:r>
            <a:r>
              <a:rPr lang="en-US" dirty="0"/>
              <a:t>, </a:t>
            </a:r>
            <a:r>
              <a:rPr lang="en-US" dirty="0" err="1"/>
              <a:t>K.Marbe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Ach </a:t>
            </a:r>
            <a:r>
              <a:rPr lang="en-US" dirty="0" err="1"/>
              <a:t>incerca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depaseasca</a:t>
            </a:r>
            <a:r>
              <a:rPr lang="en-US" dirty="0"/>
              <a:t> </a:t>
            </a:r>
            <a:r>
              <a:rPr lang="en-US" dirty="0" err="1"/>
              <a:t>limitele</a:t>
            </a:r>
            <a:r>
              <a:rPr lang="en-US" dirty="0"/>
              <a:t> </a:t>
            </a:r>
            <a:r>
              <a:rPr lang="en-US" dirty="0" err="1"/>
              <a:t>asociationismului</a:t>
            </a:r>
            <a:r>
              <a:rPr lang="en-US" dirty="0"/>
              <a:t> </a:t>
            </a:r>
            <a:r>
              <a:rPr lang="en-US" dirty="0" err="1"/>
              <a:t>sezualist</a:t>
            </a:r>
            <a:r>
              <a:rPr lang="en-US" dirty="0"/>
              <a:t>.-&gt;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prima data </a:t>
            </a:r>
            <a:r>
              <a:rPr lang="en-US" dirty="0" err="1"/>
              <a:t>cand</a:t>
            </a:r>
            <a:r>
              <a:rPr lang="en-US" dirty="0"/>
              <a:t> se </a:t>
            </a:r>
            <a:r>
              <a:rPr lang="en-US" dirty="0" err="1"/>
              <a:t>desfasoara</a:t>
            </a:r>
            <a:r>
              <a:rPr lang="en-US" dirty="0"/>
              <a:t> un </a:t>
            </a:r>
            <a:r>
              <a:rPr lang="en-US" dirty="0" err="1"/>
              <a:t>demers</a:t>
            </a:r>
            <a:r>
              <a:rPr lang="en-US" dirty="0"/>
              <a:t> </a:t>
            </a:r>
            <a:r>
              <a:rPr lang="en-US" dirty="0" err="1"/>
              <a:t>sistematic</a:t>
            </a:r>
            <a:r>
              <a:rPr lang="en-US" dirty="0"/>
              <a:t> de </a:t>
            </a:r>
            <a:r>
              <a:rPr lang="en-US" dirty="0" err="1"/>
              <a:t>explorare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interpretare</a:t>
            </a:r>
            <a:r>
              <a:rPr lang="en-US" dirty="0"/>
              <a:t> </a:t>
            </a:r>
            <a:r>
              <a:rPr lang="en-US" dirty="0" err="1"/>
              <a:t>psihologica</a:t>
            </a:r>
            <a:r>
              <a:rPr lang="en-US" dirty="0"/>
              <a:t> a </a:t>
            </a:r>
            <a:r>
              <a:rPr lang="en-US" dirty="0" err="1"/>
              <a:t>gandirii</a:t>
            </a:r>
            <a:r>
              <a:rPr lang="en-US" dirty="0"/>
              <a:t> ca </a:t>
            </a:r>
            <a:r>
              <a:rPr lang="en-US" dirty="0" err="1"/>
              <a:t>proces</a:t>
            </a:r>
            <a:r>
              <a:rPr lang="en-US" dirty="0"/>
              <a:t> de </a:t>
            </a:r>
            <a:r>
              <a:rPr lang="en-US" dirty="0" err="1"/>
              <a:t>rezolvare</a:t>
            </a:r>
            <a:r>
              <a:rPr lang="en-US" dirty="0"/>
              <a:t> de </a:t>
            </a:r>
            <a:r>
              <a:rPr lang="en-US" dirty="0" err="1"/>
              <a:t>probleme</a:t>
            </a:r>
            <a:r>
              <a:rPr lang="en-US" dirty="0"/>
              <a:t>.-&gt;</a:t>
            </a:r>
            <a:r>
              <a:rPr lang="en-US" dirty="0" err="1"/>
              <a:t>reprezentantii</a:t>
            </a:r>
            <a:r>
              <a:rPr lang="en-US" dirty="0"/>
              <a:t> </a:t>
            </a:r>
            <a:r>
              <a:rPr lang="en-US" dirty="0" err="1"/>
              <a:t>acestui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propuneau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demonstreze</a:t>
            </a:r>
            <a:r>
              <a:rPr lang="en-US" dirty="0"/>
              <a:t> </a:t>
            </a:r>
            <a:r>
              <a:rPr lang="en-US" dirty="0" err="1"/>
              <a:t>natura</a:t>
            </a:r>
            <a:r>
              <a:rPr lang="en-US" dirty="0"/>
              <a:t> </a:t>
            </a:r>
            <a:r>
              <a:rPr lang="en-US" dirty="0" err="1"/>
              <a:t>abstracta</a:t>
            </a:r>
            <a:r>
              <a:rPr lang="en-US" dirty="0"/>
              <a:t> a </a:t>
            </a:r>
            <a:r>
              <a:rPr lang="en-US" dirty="0" err="1"/>
              <a:t>gandirii</a:t>
            </a:r>
            <a:r>
              <a:rPr lang="en-US" dirty="0"/>
              <a:t>-&gt;o </a:t>
            </a:r>
            <a:r>
              <a:rPr lang="en-US" dirty="0" err="1"/>
              <a:t>contributie</a:t>
            </a:r>
            <a:r>
              <a:rPr lang="en-US" dirty="0"/>
              <a:t> </a:t>
            </a:r>
            <a:r>
              <a:rPr lang="en-US" dirty="0" err="1"/>
              <a:t>remarcabila</a:t>
            </a:r>
            <a:r>
              <a:rPr lang="en-US" dirty="0"/>
              <a:t> a </a:t>
            </a:r>
            <a:r>
              <a:rPr lang="en-US" dirty="0" err="1"/>
              <a:t>acestei</a:t>
            </a:r>
            <a:r>
              <a:rPr lang="en-US" dirty="0"/>
              <a:t> </a:t>
            </a:r>
            <a:r>
              <a:rPr lang="en-US" dirty="0" err="1"/>
              <a:t>scoli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abordarea</a:t>
            </a:r>
            <a:r>
              <a:rPr lang="en-US" dirty="0"/>
              <a:t> </a:t>
            </a:r>
            <a:r>
              <a:rPr lang="en-US" dirty="0" err="1"/>
              <a:t>gandirii</a:t>
            </a:r>
            <a:r>
              <a:rPr lang="en-US" dirty="0"/>
              <a:t> ca </a:t>
            </a:r>
            <a:r>
              <a:rPr lang="en-US" dirty="0" err="1"/>
              <a:t>sistem</a:t>
            </a:r>
            <a:r>
              <a:rPr lang="en-US" dirty="0"/>
              <a:t> de </a:t>
            </a:r>
            <a:r>
              <a:rPr lang="en-US" dirty="0" err="1"/>
              <a:t>operatii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3886200" y="-609600"/>
            <a:ext cx="4800600" cy="76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2"/>
            <a:ext cx="9144000" cy="6781798"/>
          </a:xfrm>
        </p:spPr>
        <p:txBody>
          <a:bodyPr/>
          <a:lstStyle/>
          <a:p>
            <a:r>
              <a:rPr lang="en-US" i="1" dirty="0" err="1"/>
              <a:t>Psihologia</a:t>
            </a:r>
            <a:r>
              <a:rPr lang="en-US" i="1" dirty="0"/>
              <a:t> </a:t>
            </a:r>
            <a:r>
              <a:rPr lang="en-US" i="1" dirty="0" err="1"/>
              <a:t>formei</a:t>
            </a:r>
            <a:r>
              <a:rPr lang="en-US" i="1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i="1" dirty="0" err="1"/>
              <a:t>gestaltismul</a:t>
            </a:r>
            <a:r>
              <a:rPr lang="en-US" i="1" dirty="0"/>
              <a:t> </a:t>
            </a:r>
            <a:r>
              <a:rPr lang="en-US" dirty="0" err="1"/>
              <a:t>abordeaza</a:t>
            </a:r>
            <a:r>
              <a:rPr lang="en-US" dirty="0"/>
              <a:t> </a:t>
            </a:r>
            <a:r>
              <a:rPr lang="en-US" dirty="0" err="1"/>
              <a:t>gandirea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raportarea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de o parte la </a:t>
            </a:r>
            <a:r>
              <a:rPr lang="en-US" dirty="0" err="1"/>
              <a:t>asociationismul</a:t>
            </a:r>
            <a:r>
              <a:rPr lang="en-US" dirty="0"/>
              <a:t> </a:t>
            </a:r>
            <a:r>
              <a:rPr lang="en-US" dirty="0" err="1"/>
              <a:t>senzualist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de </a:t>
            </a:r>
            <a:r>
              <a:rPr lang="en-US" dirty="0" err="1"/>
              <a:t>alta</a:t>
            </a:r>
            <a:r>
              <a:rPr lang="en-US" dirty="0"/>
              <a:t> parte la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incercare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eroare</a:t>
            </a:r>
            <a:r>
              <a:rPr lang="en-US" dirty="0"/>
              <a:t> </a:t>
            </a:r>
            <a:r>
              <a:rPr lang="en-US" dirty="0" err="1"/>
              <a:t>propus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Thorndike.-&gt;</a:t>
            </a:r>
            <a:r>
              <a:rPr lang="en-US" dirty="0" err="1"/>
              <a:t>gandirea</a:t>
            </a:r>
            <a:r>
              <a:rPr lang="en-US" dirty="0"/>
              <a:t> era </a:t>
            </a:r>
            <a:r>
              <a:rPr lang="en-US" dirty="0" err="1"/>
              <a:t>explicata</a:t>
            </a:r>
            <a:r>
              <a:rPr lang="en-US" dirty="0"/>
              <a:t> ca un </a:t>
            </a:r>
            <a:r>
              <a:rPr lang="en-US" dirty="0" err="1"/>
              <a:t>demers</a:t>
            </a:r>
            <a:r>
              <a:rPr lang="en-US" dirty="0"/>
              <a:t> de </a:t>
            </a:r>
            <a:r>
              <a:rPr lang="en-US" dirty="0" err="1"/>
              <a:t>reorganizare</a:t>
            </a:r>
            <a:r>
              <a:rPr lang="en-US" dirty="0"/>
              <a:t> a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campului</a:t>
            </a:r>
            <a:r>
              <a:rPr lang="en-US" dirty="0"/>
              <a:t> </a:t>
            </a:r>
            <a:r>
              <a:rPr lang="en-US" dirty="0" err="1"/>
              <a:t>perceptiv</a:t>
            </a:r>
            <a:r>
              <a:rPr lang="en-US" dirty="0"/>
              <a:t>.-&gt;o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contributie</a:t>
            </a:r>
            <a:r>
              <a:rPr lang="en-US" dirty="0"/>
              <a:t> </a:t>
            </a:r>
            <a:r>
              <a:rPr lang="en-US" dirty="0" err="1"/>
              <a:t>importanta</a:t>
            </a:r>
            <a:r>
              <a:rPr lang="en-US" dirty="0"/>
              <a:t> a </a:t>
            </a:r>
            <a:r>
              <a:rPr lang="en-US" dirty="0" err="1"/>
              <a:t>scolii</a:t>
            </a:r>
            <a:r>
              <a:rPr lang="en-US" dirty="0"/>
              <a:t> </a:t>
            </a:r>
            <a:r>
              <a:rPr lang="en-US" dirty="0" err="1"/>
              <a:t>gestaltiste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legata</a:t>
            </a:r>
            <a:r>
              <a:rPr lang="en-US" dirty="0"/>
              <a:t> de </a:t>
            </a:r>
            <a:r>
              <a:rPr lang="en-US" dirty="0" err="1"/>
              <a:t>rezolvarea</a:t>
            </a:r>
            <a:r>
              <a:rPr lang="en-US" dirty="0"/>
              <a:t> de </a:t>
            </a:r>
            <a:r>
              <a:rPr lang="en-US" dirty="0" err="1"/>
              <a:t>probleme</a:t>
            </a:r>
            <a:r>
              <a:rPr lang="en-US" dirty="0"/>
              <a:t>.-&gt;</a:t>
            </a:r>
            <a:r>
              <a:rPr lang="en-US" dirty="0" err="1"/>
              <a:t>orice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declanseaza</a:t>
            </a:r>
            <a:r>
              <a:rPr lang="en-US" dirty="0"/>
              <a:t> in </a:t>
            </a:r>
            <a:r>
              <a:rPr lang="en-US" dirty="0" err="1"/>
              <a:t>interiorul</a:t>
            </a:r>
            <a:r>
              <a:rPr lang="en-US" dirty="0"/>
              <a:t> </a:t>
            </a:r>
            <a:r>
              <a:rPr lang="en-US" dirty="0" err="1"/>
              <a:t>subiectului</a:t>
            </a:r>
            <a:r>
              <a:rPr lang="en-US" dirty="0"/>
              <a:t> o stare </a:t>
            </a:r>
            <a:r>
              <a:rPr lang="en-US" dirty="0" err="1"/>
              <a:t>conflictuala</a:t>
            </a:r>
            <a:r>
              <a:rPr lang="en-US" dirty="0"/>
              <a:t>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manifesta</a:t>
            </a:r>
            <a:r>
              <a:rPr lang="en-US" dirty="0"/>
              <a:t> </a:t>
            </a:r>
            <a:r>
              <a:rPr lang="en-US" dirty="0" err="1"/>
              <a:t>tendinta</a:t>
            </a:r>
            <a:r>
              <a:rPr lang="en-US" dirty="0"/>
              <a:t> de a </a:t>
            </a:r>
            <a:r>
              <a:rPr lang="en-US" dirty="0" err="1"/>
              <a:t>inlatura</a:t>
            </a:r>
            <a:r>
              <a:rPr lang="en-US" dirty="0"/>
              <a:t> </a:t>
            </a:r>
            <a:r>
              <a:rPr lang="en-US" dirty="0" err="1"/>
              <a:t>conflictul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reorganizarea</a:t>
            </a:r>
            <a:r>
              <a:rPr lang="en-US" dirty="0"/>
              <a:t> </a:t>
            </a:r>
            <a:r>
              <a:rPr lang="en-US" dirty="0" err="1"/>
              <a:t>structurala</a:t>
            </a:r>
            <a:r>
              <a:rPr lang="en-US" dirty="0"/>
              <a:t> a </a:t>
            </a:r>
            <a:r>
              <a:rPr lang="en-US" dirty="0" err="1"/>
              <a:t>datelor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7800" y="-533400"/>
            <a:ext cx="34290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6629400"/>
          </a:xfrm>
        </p:spPr>
        <p:txBody>
          <a:bodyPr>
            <a:normAutofit lnSpcReduction="10000"/>
          </a:bodyPr>
          <a:lstStyle/>
          <a:p>
            <a:r>
              <a:rPr lang="en-US" i="1" dirty="0" err="1"/>
              <a:t>Structuralismul</a:t>
            </a:r>
            <a:r>
              <a:rPr lang="en-US" i="1" dirty="0"/>
              <a:t> genetic </a:t>
            </a:r>
            <a:r>
              <a:rPr lang="en-US" dirty="0"/>
              <a:t>–</a:t>
            </a:r>
            <a:r>
              <a:rPr lang="en-US" dirty="0" err="1"/>
              <a:t>J.Piaget-preia</a:t>
            </a:r>
            <a:r>
              <a:rPr lang="en-US" dirty="0"/>
              <a:t> de la </a:t>
            </a:r>
            <a:r>
              <a:rPr lang="en-US" dirty="0" err="1"/>
              <a:t>gestaltisti</a:t>
            </a:r>
            <a:r>
              <a:rPr lang="en-US" dirty="0"/>
              <a:t> </a:t>
            </a:r>
            <a:r>
              <a:rPr lang="en-US" dirty="0" err="1"/>
              <a:t>conceptul</a:t>
            </a:r>
            <a:r>
              <a:rPr lang="en-US" dirty="0"/>
              <a:t> de “schema” ca indicator al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structuri</a:t>
            </a:r>
            <a:r>
              <a:rPr lang="en-US" dirty="0"/>
              <a:t> </a:t>
            </a:r>
            <a:r>
              <a:rPr lang="en-US" dirty="0" err="1"/>
              <a:t>mintale</a:t>
            </a:r>
            <a:r>
              <a:rPr lang="en-US" dirty="0"/>
              <a:t> de tip operator,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considera</a:t>
            </a:r>
            <a:r>
              <a:rPr lang="en-US" dirty="0"/>
              <a:t> ca </a:t>
            </a:r>
            <a:r>
              <a:rPr lang="en-US" dirty="0" err="1"/>
              <a:t>structurile</a:t>
            </a:r>
            <a:r>
              <a:rPr lang="en-US" dirty="0"/>
              <a:t> </a:t>
            </a:r>
            <a:r>
              <a:rPr lang="en-US" dirty="0" err="1"/>
              <a:t>operatorii</a:t>
            </a:r>
            <a:r>
              <a:rPr lang="en-US" dirty="0"/>
              <a:t> nu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innascute</a:t>
            </a:r>
            <a:r>
              <a:rPr lang="en-US" dirty="0"/>
              <a:t> </a:t>
            </a:r>
            <a:r>
              <a:rPr lang="en-US" dirty="0" err="1"/>
              <a:t>ci</a:t>
            </a:r>
            <a:r>
              <a:rPr lang="en-US" dirty="0"/>
              <a:t> </a:t>
            </a:r>
            <a:r>
              <a:rPr lang="en-US" dirty="0" err="1"/>
              <a:t>achizitionate.Adaptarea</a:t>
            </a:r>
            <a:r>
              <a:rPr lang="en-US" dirty="0"/>
              <a:t> se </a:t>
            </a:r>
            <a:r>
              <a:rPr lang="en-US" dirty="0" err="1"/>
              <a:t>realizeaza</a:t>
            </a:r>
            <a:r>
              <a:rPr lang="en-US" dirty="0"/>
              <a:t> in </a:t>
            </a:r>
            <a:r>
              <a:rPr lang="en-US" dirty="0" err="1"/>
              <a:t>baza</a:t>
            </a:r>
            <a:r>
              <a:rPr lang="en-US" dirty="0"/>
              <a:t>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majore</a:t>
            </a:r>
            <a:r>
              <a:rPr lang="en-US" dirty="0"/>
              <a:t>: </a:t>
            </a:r>
            <a:r>
              <a:rPr lang="en-US" dirty="0" err="1"/>
              <a:t>asimilarea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acomodarea</a:t>
            </a:r>
            <a:r>
              <a:rPr lang="en-US" dirty="0"/>
              <a:t>. </a:t>
            </a:r>
            <a:r>
              <a:rPr lang="en-US" dirty="0" err="1"/>
              <a:t>J.Piaget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Scoala</a:t>
            </a:r>
            <a:r>
              <a:rPr lang="en-US" dirty="0"/>
              <a:t> de la Geneva au </a:t>
            </a:r>
            <a:r>
              <a:rPr lang="en-US" dirty="0" err="1"/>
              <a:t>demonstrat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-o </a:t>
            </a:r>
            <a:r>
              <a:rPr lang="en-US" dirty="0" err="1"/>
              <a:t>maniera</a:t>
            </a:r>
            <a:r>
              <a:rPr lang="en-US" dirty="0"/>
              <a:t> </a:t>
            </a:r>
            <a:r>
              <a:rPr lang="en-US" dirty="0" err="1"/>
              <a:t>experimentala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observatii</a:t>
            </a:r>
            <a:r>
              <a:rPr lang="en-US" dirty="0"/>
              <a:t> </a:t>
            </a:r>
            <a:r>
              <a:rPr lang="en-US" dirty="0" err="1"/>
              <a:t>laborioase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evolutiei</a:t>
            </a:r>
            <a:r>
              <a:rPr lang="en-US" dirty="0"/>
              <a:t> </a:t>
            </a:r>
            <a:r>
              <a:rPr lang="en-US" dirty="0" err="1"/>
              <a:t>structurilor</a:t>
            </a:r>
            <a:r>
              <a:rPr lang="en-US" dirty="0"/>
              <a:t> </a:t>
            </a:r>
            <a:r>
              <a:rPr lang="en-US" dirty="0" err="1"/>
              <a:t>operatorii</a:t>
            </a:r>
            <a:r>
              <a:rPr lang="en-US" dirty="0"/>
              <a:t> ale </a:t>
            </a:r>
            <a:r>
              <a:rPr lang="en-US" dirty="0" err="1"/>
              <a:t>inteligentei</a:t>
            </a:r>
            <a:r>
              <a:rPr lang="en-US" dirty="0"/>
              <a:t> in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4 </a:t>
            </a:r>
            <a:r>
              <a:rPr lang="en-US" dirty="0" err="1"/>
              <a:t>stadii</a:t>
            </a:r>
            <a:r>
              <a:rPr lang="en-US" dirty="0"/>
              <a:t>:</a:t>
            </a:r>
          </a:p>
          <a:p>
            <a:pPr lvl="1"/>
            <a:r>
              <a:rPr lang="en-US" i="1" dirty="0" err="1"/>
              <a:t>Stadiul</a:t>
            </a:r>
            <a:r>
              <a:rPr lang="en-US" i="1" dirty="0"/>
              <a:t> </a:t>
            </a:r>
            <a:r>
              <a:rPr lang="en-US" i="1" dirty="0" err="1"/>
              <a:t>inteligentei</a:t>
            </a:r>
            <a:r>
              <a:rPr lang="en-US" i="1" dirty="0"/>
              <a:t> </a:t>
            </a:r>
            <a:r>
              <a:rPr lang="en-US" i="1" dirty="0" err="1"/>
              <a:t>senzorio-motorii</a:t>
            </a:r>
            <a:r>
              <a:rPr lang="en-US" i="1" dirty="0"/>
              <a:t>(0-2 </a:t>
            </a:r>
            <a:r>
              <a:rPr lang="en-US" i="1" dirty="0" err="1"/>
              <a:t>ani</a:t>
            </a:r>
            <a:r>
              <a:rPr lang="en-US" i="1" dirty="0"/>
              <a:t>)</a:t>
            </a:r>
          </a:p>
          <a:p>
            <a:pPr lvl="1"/>
            <a:r>
              <a:rPr lang="en-US" i="1" dirty="0" err="1"/>
              <a:t>Stadiul</a:t>
            </a:r>
            <a:r>
              <a:rPr lang="en-US" i="1" dirty="0"/>
              <a:t> </a:t>
            </a:r>
            <a:r>
              <a:rPr lang="en-US" i="1" dirty="0" err="1"/>
              <a:t>inteligentei</a:t>
            </a:r>
            <a:r>
              <a:rPr lang="en-US" i="1" dirty="0"/>
              <a:t> </a:t>
            </a:r>
            <a:r>
              <a:rPr lang="en-US" i="1" dirty="0" err="1"/>
              <a:t>preoperationale</a:t>
            </a:r>
            <a:r>
              <a:rPr lang="en-US" i="1" dirty="0"/>
              <a:t>(2-6 </a:t>
            </a:r>
            <a:r>
              <a:rPr lang="en-US" i="1" dirty="0" err="1"/>
              <a:t>ani</a:t>
            </a:r>
            <a:r>
              <a:rPr lang="en-US" i="1" dirty="0"/>
              <a:t>)</a:t>
            </a:r>
          </a:p>
          <a:p>
            <a:pPr lvl="1"/>
            <a:r>
              <a:rPr lang="en-US" i="1" dirty="0" err="1"/>
              <a:t>Stadiul</a:t>
            </a:r>
            <a:r>
              <a:rPr lang="en-US" i="1" dirty="0"/>
              <a:t> </a:t>
            </a:r>
            <a:r>
              <a:rPr lang="en-US" i="1" dirty="0" err="1"/>
              <a:t>operatiilor</a:t>
            </a:r>
            <a:r>
              <a:rPr lang="en-US" i="1" dirty="0"/>
              <a:t> concrete(6-11 </a:t>
            </a:r>
            <a:r>
              <a:rPr lang="en-US" i="1" dirty="0" err="1"/>
              <a:t>ani</a:t>
            </a:r>
            <a:r>
              <a:rPr lang="en-US" i="1" dirty="0"/>
              <a:t>)</a:t>
            </a:r>
          </a:p>
          <a:p>
            <a:pPr lvl="1"/>
            <a:r>
              <a:rPr lang="en-US" i="1" dirty="0" err="1"/>
              <a:t>Stadiul</a:t>
            </a:r>
            <a:r>
              <a:rPr lang="en-US" i="1" dirty="0"/>
              <a:t> </a:t>
            </a:r>
            <a:r>
              <a:rPr lang="en-US" i="1" dirty="0" err="1"/>
              <a:t>operatiilor</a:t>
            </a:r>
            <a:r>
              <a:rPr lang="en-US" i="1" dirty="0"/>
              <a:t> </a:t>
            </a:r>
            <a:r>
              <a:rPr lang="en-US" i="1" dirty="0" err="1"/>
              <a:t>formale</a:t>
            </a:r>
            <a:r>
              <a:rPr lang="en-US" i="1" dirty="0"/>
              <a:t>(11-17 </a:t>
            </a:r>
            <a:r>
              <a:rPr lang="en-US" i="1" dirty="0" err="1"/>
              <a:t>ani</a:t>
            </a:r>
            <a:r>
              <a:rPr lang="en-US" i="1"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990015">
            <a:off x="6043737" y="-1323178"/>
            <a:ext cx="5054624" cy="42873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126163"/>
          </a:xfrm>
        </p:spPr>
        <p:txBody>
          <a:bodyPr>
            <a:normAutofit/>
          </a:bodyPr>
          <a:lstStyle/>
          <a:p>
            <a:r>
              <a:rPr lang="en-US" i="1" dirty="0" err="1"/>
              <a:t>Modelul</a:t>
            </a:r>
            <a:r>
              <a:rPr lang="en-US" i="1" dirty="0"/>
              <a:t> tridimensional al </a:t>
            </a:r>
            <a:r>
              <a:rPr lang="en-US" i="1" dirty="0" err="1"/>
              <a:t>intelectului</a:t>
            </a:r>
            <a:r>
              <a:rPr lang="en-US" i="1" dirty="0"/>
              <a:t> </a:t>
            </a:r>
            <a:r>
              <a:rPr lang="en-US" dirty="0"/>
              <a:t> </a:t>
            </a:r>
            <a:r>
              <a:rPr lang="en-US" dirty="0" err="1"/>
              <a:t>propus</a:t>
            </a:r>
            <a:r>
              <a:rPr lang="en-US" dirty="0"/>
              <a:t> de </a:t>
            </a:r>
            <a:r>
              <a:rPr lang="en-US" dirty="0" err="1"/>
              <a:t>J.P.Guillford</a:t>
            </a:r>
            <a:r>
              <a:rPr lang="en-US" dirty="0"/>
              <a:t> : </a:t>
            </a:r>
            <a:r>
              <a:rPr lang="en-US" b="1" dirty="0" err="1"/>
              <a:t>operatii</a:t>
            </a:r>
            <a:r>
              <a:rPr lang="en-US" b="1" dirty="0"/>
              <a:t>, </a:t>
            </a:r>
            <a:r>
              <a:rPr lang="en-US" b="1" dirty="0" err="1"/>
              <a:t>produse</a:t>
            </a:r>
            <a:r>
              <a:rPr lang="en-US" b="1" dirty="0"/>
              <a:t>, </a:t>
            </a:r>
            <a:r>
              <a:rPr lang="en-US" b="1" dirty="0" err="1"/>
              <a:t>continuturi.</a:t>
            </a:r>
            <a:r>
              <a:rPr lang="en-US" dirty="0" err="1"/>
              <a:t>Dimensiunea</a:t>
            </a:r>
            <a:r>
              <a:rPr lang="en-US" dirty="0"/>
              <a:t> </a:t>
            </a:r>
            <a:r>
              <a:rPr lang="en-US" dirty="0" err="1"/>
              <a:t>sintetica</a:t>
            </a:r>
            <a:r>
              <a:rPr lang="en-US" dirty="0"/>
              <a:t> a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rezulta</a:t>
            </a:r>
            <a:r>
              <a:rPr lang="en-US" dirty="0"/>
              <a:t> din </a:t>
            </a:r>
            <a:r>
              <a:rPr lang="en-US" dirty="0" err="1"/>
              <a:t>interactiunea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laturi</a:t>
            </a:r>
            <a:r>
              <a:rPr lang="en-US" dirty="0"/>
              <a:t>.-&gt;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intelectul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capata</a:t>
            </a:r>
            <a:r>
              <a:rPr lang="en-US" dirty="0"/>
              <a:t> o </a:t>
            </a:r>
            <a:r>
              <a:rPr lang="en-US" dirty="0" err="1"/>
              <a:t>orientare</a:t>
            </a:r>
            <a:r>
              <a:rPr lang="en-US" dirty="0"/>
              <a:t> </a:t>
            </a:r>
            <a:r>
              <a:rPr lang="en-US" dirty="0" err="1"/>
              <a:t>preponderent</a:t>
            </a:r>
            <a:r>
              <a:rPr lang="en-US" dirty="0"/>
              <a:t> </a:t>
            </a:r>
            <a:r>
              <a:rPr lang="en-US" dirty="0" err="1"/>
              <a:t>intuitiv-figurativa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abstract-</a:t>
            </a:r>
            <a:r>
              <a:rPr lang="en-US" dirty="0" err="1"/>
              <a:t>logica</a:t>
            </a:r>
            <a:r>
              <a:rPr lang="en-US" dirty="0"/>
              <a:t>.</a:t>
            </a:r>
          </a:p>
          <a:p>
            <a:pPr lvl="1"/>
            <a:r>
              <a:rPr lang="en-US" i="1" dirty="0" err="1"/>
              <a:t>Operatiile</a:t>
            </a:r>
            <a:r>
              <a:rPr lang="en-US" i="1" dirty="0"/>
              <a:t> </a:t>
            </a:r>
            <a:r>
              <a:rPr lang="en-US" dirty="0" err="1"/>
              <a:t>sunt</a:t>
            </a:r>
            <a:r>
              <a:rPr lang="en-US" dirty="0"/>
              <a:t>: </a:t>
            </a:r>
            <a:r>
              <a:rPr lang="en-US" dirty="0" err="1"/>
              <a:t>evaluare</a:t>
            </a:r>
            <a:r>
              <a:rPr lang="en-US" dirty="0"/>
              <a:t>, </a:t>
            </a:r>
            <a:r>
              <a:rPr lang="en-US" dirty="0" err="1"/>
              <a:t>gandire</a:t>
            </a:r>
            <a:r>
              <a:rPr lang="en-US" dirty="0"/>
              <a:t> </a:t>
            </a:r>
            <a:r>
              <a:rPr lang="en-US" dirty="0" err="1"/>
              <a:t>convergenta</a:t>
            </a:r>
            <a:r>
              <a:rPr lang="en-US" dirty="0"/>
              <a:t>, </a:t>
            </a:r>
            <a:r>
              <a:rPr lang="en-US" dirty="0" err="1"/>
              <a:t>gandire</a:t>
            </a:r>
            <a:r>
              <a:rPr lang="en-US" dirty="0"/>
              <a:t> </a:t>
            </a:r>
            <a:r>
              <a:rPr lang="en-US" dirty="0" err="1"/>
              <a:t>divergenta</a:t>
            </a:r>
            <a:r>
              <a:rPr lang="en-US" dirty="0"/>
              <a:t>, </a:t>
            </a:r>
            <a:r>
              <a:rPr lang="en-US" dirty="0" err="1"/>
              <a:t>memorie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cognitie</a:t>
            </a:r>
            <a:endParaRPr lang="en-US" dirty="0"/>
          </a:p>
          <a:p>
            <a:pPr lvl="1"/>
            <a:r>
              <a:rPr lang="en-US" i="1" dirty="0" err="1"/>
              <a:t>Continuturile</a:t>
            </a:r>
            <a:r>
              <a:rPr lang="en-US" i="1" dirty="0"/>
              <a:t> </a:t>
            </a:r>
            <a:r>
              <a:rPr lang="en-US" dirty="0" err="1"/>
              <a:t>sunt</a:t>
            </a:r>
            <a:r>
              <a:rPr lang="en-US" dirty="0"/>
              <a:t>: </a:t>
            </a:r>
            <a:r>
              <a:rPr lang="en-US" dirty="0" err="1"/>
              <a:t>figurativ</a:t>
            </a:r>
            <a:r>
              <a:rPr lang="en-US" dirty="0"/>
              <a:t>, </a:t>
            </a:r>
            <a:r>
              <a:rPr lang="en-US" dirty="0" err="1"/>
              <a:t>simbolic</a:t>
            </a:r>
            <a:r>
              <a:rPr lang="en-US" dirty="0"/>
              <a:t>, semantic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comportamental</a:t>
            </a:r>
            <a:endParaRPr lang="en-US" dirty="0"/>
          </a:p>
          <a:p>
            <a:pPr lvl="1"/>
            <a:r>
              <a:rPr lang="en-US" i="1" dirty="0" err="1"/>
              <a:t>Produsele</a:t>
            </a:r>
            <a:r>
              <a:rPr lang="en-US" i="1" dirty="0"/>
              <a:t> </a:t>
            </a:r>
            <a:r>
              <a:rPr lang="en-US" dirty="0" err="1"/>
              <a:t>sunt</a:t>
            </a:r>
            <a:r>
              <a:rPr lang="en-US" dirty="0"/>
              <a:t>: </a:t>
            </a:r>
            <a:r>
              <a:rPr lang="en-US" dirty="0" err="1"/>
              <a:t>unitati,clase</a:t>
            </a:r>
            <a:r>
              <a:rPr lang="en-US" dirty="0"/>
              <a:t>, </a:t>
            </a:r>
            <a:r>
              <a:rPr lang="en-US" dirty="0" err="1"/>
              <a:t>relatii</a:t>
            </a:r>
            <a:r>
              <a:rPr lang="en-US" dirty="0"/>
              <a:t>, </a:t>
            </a:r>
            <a:r>
              <a:rPr lang="en-US" dirty="0" err="1"/>
              <a:t>sisteme</a:t>
            </a:r>
            <a:r>
              <a:rPr lang="en-US" dirty="0"/>
              <a:t>, </a:t>
            </a:r>
            <a:r>
              <a:rPr lang="en-US" dirty="0" err="1"/>
              <a:t>transformari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implicatii</a:t>
            </a:r>
            <a:endParaRPr lang="en-US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1937086" flipH="1" flipV="1">
            <a:off x="339" y="-1983230"/>
            <a:ext cx="1922803" cy="32301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"/>
            <a:ext cx="9144000" cy="6781800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 err="1"/>
              <a:t>Abordarea</a:t>
            </a:r>
            <a:r>
              <a:rPr lang="en-US" i="1" dirty="0"/>
              <a:t> </a:t>
            </a:r>
            <a:r>
              <a:rPr lang="en-US" i="1" dirty="0" err="1"/>
              <a:t>cognitivista</a:t>
            </a:r>
            <a:r>
              <a:rPr lang="en-US" i="1" dirty="0"/>
              <a:t> a </a:t>
            </a:r>
            <a:r>
              <a:rPr lang="en-US" i="1" dirty="0" err="1"/>
              <a:t>gandirii</a:t>
            </a:r>
            <a:r>
              <a:rPr lang="en-US" i="1" dirty="0"/>
              <a:t> </a:t>
            </a:r>
            <a:r>
              <a:rPr lang="en-US" dirty="0" err="1"/>
              <a:t>isi</a:t>
            </a:r>
            <a:r>
              <a:rPr lang="en-US" dirty="0"/>
              <a:t> are </a:t>
            </a:r>
            <a:r>
              <a:rPr lang="en-US" dirty="0" err="1"/>
              <a:t>originile</a:t>
            </a:r>
            <a:r>
              <a:rPr lang="en-US" dirty="0"/>
              <a:t> in </a:t>
            </a:r>
            <a:r>
              <a:rPr lang="en-US" dirty="0" err="1"/>
              <a:t>cercetarile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Newell,Shaw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Simon care au </a:t>
            </a:r>
            <a:r>
              <a:rPr lang="en-US" dirty="0" err="1"/>
              <a:t>lansat</a:t>
            </a:r>
            <a:r>
              <a:rPr lang="en-US" dirty="0"/>
              <a:t> </a:t>
            </a:r>
            <a:r>
              <a:rPr lang="en-US" dirty="0" err="1"/>
              <a:t>modelarea</a:t>
            </a:r>
            <a:r>
              <a:rPr lang="en-US" dirty="0"/>
              <a:t> </a:t>
            </a:r>
            <a:r>
              <a:rPr lang="en-US" dirty="0" err="1"/>
              <a:t>cibernetica</a:t>
            </a:r>
            <a:r>
              <a:rPr lang="en-US" dirty="0"/>
              <a:t> a </a:t>
            </a:r>
            <a:r>
              <a:rPr lang="en-US" dirty="0" err="1"/>
              <a:t>intelectului</a:t>
            </a:r>
            <a:r>
              <a:rPr lang="en-US" dirty="0"/>
              <a:t> ca </a:t>
            </a:r>
            <a:r>
              <a:rPr lang="en-US" dirty="0" err="1"/>
              <a:t>sistem</a:t>
            </a:r>
            <a:r>
              <a:rPr lang="en-US" dirty="0"/>
              <a:t> de </a:t>
            </a:r>
            <a:r>
              <a:rPr lang="en-US" dirty="0" err="1"/>
              <a:t>prelucrare</a:t>
            </a:r>
            <a:r>
              <a:rPr lang="en-US" dirty="0"/>
              <a:t> a </a:t>
            </a:r>
            <a:r>
              <a:rPr lang="en-US" dirty="0" err="1"/>
              <a:t>informatiei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rezolvarea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</a:t>
            </a:r>
            <a:r>
              <a:rPr lang="en-US" dirty="0" err="1"/>
              <a:t>specifice</a:t>
            </a:r>
            <a:r>
              <a:rPr lang="en-US" dirty="0"/>
              <a:t>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umane.Mai</a:t>
            </a:r>
            <a:r>
              <a:rPr lang="en-US" dirty="0"/>
              <a:t>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W.Reitman</a:t>
            </a:r>
            <a:r>
              <a:rPr lang="en-US" dirty="0"/>
              <a:t> a </a:t>
            </a:r>
            <a:r>
              <a:rPr lang="en-US" dirty="0" err="1"/>
              <a:t>valorificat</a:t>
            </a:r>
            <a:r>
              <a:rPr lang="en-US" dirty="0"/>
              <a:t> </a:t>
            </a:r>
            <a:r>
              <a:rPr lang="en-US" dirty="0" err="1"/>
              <a:t>dpdv</a:t>
            </a:r>
            <a:r>
              <a:rPr lang="en-US" dirty="0"/>
              <a:t> </a:t>
            </a:r>
            <a:r>
              <a:rPr lang="en-US" dirty="0" err="1"/>
              <a:t>psihologic</a:t>
            </a:r>
            <a:r>
              <a:rPr lang="en-US" dirty="0"/>
              <a:t> </a:t>
            </a:r>
            <a:r>
              <a:rPr lang="en-US" dirty="0" err="1"/>
              <a:t>cercetarile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, </a:t>
            </a:r>
            <a:r>
              <a:rPr lang="en-US" dirty="0" err="1"/>
              <a:t>aratand</a:t>
            </a:r>
            <a:r>
              <a:rPr lang="en-US" dirty="0"/>
              <a:t> ca </a:t>
            </a:r>
            <a:r>
              <a:rPr lang="en-US" dirty="0" err="1"/>
              <a:t>atat</a:t>
            </a:r>
            <a:r>
              <a:rPr lang="en-US" dirty="0"/>
              <a:t> in </a:t>
            </a:r>
            <a:r>
              <a:rPr lang="en-US" dirty="0" err="1"/>
              <a:t>gandirea</a:t>
            </a:r>
            <a:r>
              <a:rPr lang="en-US" dirty="0"/>
              <a:t> </a:t>
            </a:r>
            <a:r>
              <a:rPr lang="en-US" dirty="0" err="1"/>
              <a:t>umana</a:t>
            </a:r>
            <a:r>
              <a:rPr lang="en-US" dirty="0"/>
              <a:t> cat </a:t>
            </a:r>
            <a:r>
              <a:rPr lang="en-US" dirty="0" err="1"/>
              <a:t>si</a:t>
            </a:r>
            <a:r>
              <a:rPr lang="en-US" dirty="0"/>
              <a:t> in </a:t>
            </a:r>
            <a:r>
              <a:rPr lang="en-US" dirty="0" err="1"/>
              <a:t>inteligenta</a:t>
            </a:r>
            <a:r>
              <a:rPr lang="en-US" dirty="0"/>
              <a:t> </a:t>
            </a:r>
            <a:r>
              <a:rPr lang="en-US" dirty="0" err="1"/>
              <a:t>artificiala</a:t>
            </a:r>
            <a:r>
              <a:rPr lang="en-US" dirty="0"/>
              <a:t>, </a:t>
            </a:r>
            <a:r>
              <a:rPr lang="en-US" dirty="0" err="1"/>
              <a:t>elementul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important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constituie</a:t>
            </a:r>
            <a:r>
              <a:rPr lang="en-US" dirty="0"/>
              <a:t> </a:t>
            </a:r>
            <a:r>
              <a:rPr lang="en-US" dirty="0" err="1"/>
              <a:t>procesele</a:t>
            </a:r>
            <a:r>
              <a:rPr lang="en-US" dirty="0"/>
              <a:t> </a:t>
            </a:r>
            <a:r>
              <a:rPr lang="en-US" dirty="0" err="1"/>
              <a:t>informationale.Gandirea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definita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prisma</a:t>
            </a:r>
            <a:r>
              <a:rPr lang="en-US" dirty="0"/>
              <a:t> </a:t>
            </a:r>
            <a:r>
              <a:rPr lang="en-US" dirty="0" err="1"/>
              <a:t>prelucrarii</a:t>
            </a:r>
            <a:r>
              <a:rPr lang="en-US" dirty="0"/>
              <a:t> de </a:t>
            </a:r>
            <a:r>
              <a:rPr lang="en-US" dirty="0" err="1"/>
              <a:t>informatii</a:t>
            </a:r>
            <a:r>
              <a:rPr lang="en-US" dirty="0"/>
              <a:t>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operatori</a:t>
            </a:r>
            <a:r>
              <a:rPr lang="en-US" dirty="0"/>
              <a:t>.-&gt;</a:t>
            </a:r>
            <a:r>
              <a:rPr lang="en-US" dirty="0" err="1"/>
              <a:t>Neisser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intemeietorul</a:t>
            </a:r>
            <a:r>
              <a:rPr lang="en-US" dirty="0"/>
              <a:t> formal al </a:t>
            </a:r>
            <a:r>
              <a:rPr lang="en-US" dirty="0" err="1"/>
              <a:t>psihologiei</a:t>
            </a:r>
            <a:r>
              <a:rPr lang="en-US" dirty="0"/>
              <a:t> </a:t>
            </a:r>
            <a:r>
              <a:rPr lang="en-US" dirty="0" err="1"/>
              <a:t>cognitive.Din</a:t>
            </a:r>
            <a:r>
              <a:rPr lang="en-US" dirty="0"/>
              <a:t> pct </a:t>
            </a:r>
            <a:r>
              <a:rPr lang="en-US" dirty="0" err="1"/>
              <a:t>lui</a:t>
            </a:r>
            <a:r>
              <a:rPr lang="en-US" dirty="0"/>
              <a:t> de </a:t>
            </a:r>
            <a:r>
              <a:rPr lang="en-US" dirty="0" err="1"/>
              <a:t>vedere</a:t>
            </a:r>
            <a:r>
              <a:rPr lang="en-US" dirty="0"/>
              <a:t>, </a:t>
            </a:r>
            <a:r>
              <a:rPr lang="en-US" dirty="0" err="1"/>
              <a:t>gandirea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care se </a:t>
            </a:r>
            <a:r>
              <a:rPr lang="en-US" dirty="0" err="1"/>
              <a:t>executa</a:t>
            </a:r>
            <a:r>
              <a:rPr lang="en-US" dirty="0"/>
              <a:t> o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operatii</a:t>
            </a:r>
            <a:r>
              <a:rPr lang="en-US" dirty="0"/>
              <a:t> </a:t>
            </a:r>
            <a:r>
              <a:rPr lang="en-US" dirty="0" err="1"/>
              <a:t>centrale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reprezentarilor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contin</a:t>
            </a:r>
            <a:r>
              <a:rPr lang="en-US" dirty="0"/>
              <a:t> </a:t>
            </a:r>
            <a:r>
              <a:rPr lang="en-US" dirty="0" err="1"/>
              <a:t>informatii</a:t>
            </a:r>
            <a:r>
              <a:rPr lang="en-US" dirty="0"/>
              <a:t> din </a:t>
            </a:r>
            <a:r>
              <a:rPr lang="en-US" dirty="0" err="1"/>
              <a:t>mediul</a:t>
            </a:r>
            <a:r>
              <a:rPr lang="en-US" dirty="0"/>
              <a:t> extern.</a:t>
            </a:r>
            <a:endParaRPr lang="en-US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Gandirea</a:t>
            </a:r>
            <a:r>
              <a:rPr lang="en-US" dirty="0"/>
              <a:t> ca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cognitiv</a:t>
            </a:r>
            <a:r>
              <a:rPr lang="en-US" dirty="0"/>
              <a:t> superior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 err="1"/>
              <a:t>Gandirea</a:t>
            </a:r>
            <a:r>
              <a:rPr lang="en-US" i="1" dirty="0"/>
              <a:t> </a:t>
            </a:r>
            <a:r>
              <a:rPr lang="en-US" i="1" dirty="0" err="1"/>
              <a:t>este</a:t>
            </a:r>
            <a:r>
              <a:rPr lang="en-US" i="1" dirty="0"/>
              <a:t> un </a:t>
            </a:r>
            <a:r>
              <a:rPr lang="en-US" i="1" dirty="0" err="1"/>
              <a:t>proces</a:t>
            </a:r>
            <a:r>
              <a:rPr lang="en-US" i="1" dirty="0"/>
              <a:t> </a:t>
            </a:r>
            <a:r>
              <a:rPr lang="en-US" i="1" dirty="0" err="1"/>
              <a:t>cognitiv</a:t>
            </a:r>
            <a:r>
              <a:rPr lang="en-US" i="1" dirty="0"/>
              <a:t> superior </a:t>
            </a:r>
            <a:r>
              <a:rPr lang="en-US" dirty="0"/>
              <a:t>-&gt;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acces</a:t>
            </a:r>
            <a:r>
              <a:rPr lang="en-US" dirty="0"/>
              <a:t> la </a:t>
            </a:r>
            <a:r>
              <a:rPr lang="en-US" dirty="0" err="1"/>
              <a:t>insusirile</a:t>
            </a:r>
            <a:r>
              <a:rPr lang="en-US" dirty="0"/>
              <a:t> </a:t>
            </a:r>
            <a:r>
              <a:rPr lang="en-US" dirty="0" err="1"/>
              <a:t>esentiale</a:t>
            </a:r>
            <a:r>
              <a:rPr lang="en-US" dirty="0"/>
              <a:t> ale </a:t>
            </a:r>
            <a:r>
              <a:rPr lang="en-US" dirty="0" err="1"/>
              <a:t>realitatii.;insusirile</a:t>
            </a:r>
            <a:r>
              <a:rPr lang="en-US" dirty="0"/>
              <a:t> </a:t>
            </a:r>
            <a:r>
              <a:rPr lang="en-US" dirty="0" err="1"/>
              <a:t>esentiale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invarianti</a:t>
            </a:r>
            <a:r>
              <a:rPr lang="en-US" dirty="0"/>
              <a:t> </a:t>
            </a:r>
            <a:r>
              <a:rPr lang="en-US" dirty="0" err="1"/>
              <a:t>cognitivi,ele</a:t>
            </a:r>
            <a:r>
              <a:rPr lang="en-US" dirty="0"/>
              <a:t> </a:t>
            </a:r>
            <a:r>
              <a:rPr lang="en-US" dirty="0" err="1"/>
              <a:t>condenseaza</a:t>
            </a:r>
            <a:r>
              <a:rPr lang="en-US" dirty="0"/>
              <a:t>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constant,invariabil</a:t>
            </a:r>
            <a:r>
              <a:rPr lang="en-US" dirty="0"/>
              <a:t> in </a:t>
            </a:r>
            <a:r>
              <a:rPr lang="en-US" dirty="0" err="1"/>
              <a:t>manifestarile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fenomen</a:t>
            </a:r>
            <a:r>
              <a:rPr lang="en-US" dirty="0"/>
              <a:t>.-&gt;</a:t>
            </a:r>
            <a:r>
              <a:rPr lang="en-US" dirty="0" err="1"/>
              <a:t>gandirea</a:t>
            </a:r>
            <a:r>
              <a:rPr lang="en-US" dirty="0"/>
              <a:t> </a:t>
            </a:r>
            <a:r>
              <a:rPr lang="en-US" dirty="0" err="1"/>
              <a:t>valorifica,reuneste</a:t>
            </a:r>
            <a:r>
              <a:rPr lang="en-US" dirty="0"/>
              <a:t>, </a:t>
            </a:r>
            <a:r>
              <a:rPr lang="en-US" dirty="0" err="1"/>
              <a:t>integreaza</a:t>
            </a:r>
            <a:r>
              <a:rPr lang="en-US" dirty="0"/>
              <a:t> </a:t>
            </a:r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proceselor</a:t>
            </a:r>
            <a:r>
              <a:rPr lang="en-US" dirty="0"/>
              <a:t> </a:t>
            </a:r>
            <a:r>
              <a:rPr lang="en-US" dirty="0" err="1"/>
              <a:t>senzoriale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reductibila</a:t>
            </a:r>
            <a:r>
              <a:rPr lang="en-US" dirty="0"/>
              <a:t> la </a:t>
            </a:r>
            <a:r>
              <a:rPr lang="en-US" dirty="0" err="1"/>
              <a:t>acestea</a:t>
            </a:r>
            <a:r>
              <a:rPr lang="en-US" dirty="0"/>
              <a:t>.-&gt;</a:t>
            </a:r>
            <a:r>
              <a:rPr lang="en-US" dirty="0" err="1"/>
              <a:t>gandirea</a:t>
            </a:r>
            <a:r>
              <a:rPr lang="en-US" dirty="0"/>
              <a:t> are un grad </a:t>
            </a:r>
            <a:r>
              <a:rPr lang="en-US" dirty="0" err="1"/>
              <a:t>ridicat</a:t>
            </a:r>
            <a:r>
              <a:rPr lang="en-US" dirty="0"/>
              <a:t> de </a:t>
            </a:r>
            <a:r>
              <a:rPr lang="en-US" dirty="0" err="1"/>
              <a:t>autonomie</a:t>
            </a:r>
            <a:r>
              <a:rPr lang="en-US" dirty="0"/>
              <a:t> </a:t>
            </a:r>
            <a:r>
              <a:rPr lang="en-US" dirty="0" err="1"/>
              <a:t>mintala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spirituala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 flipV="1">
            <a:off x="10515600" y="-152400"/>
            <a:ext cx="1752600" cy="76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Gandirea</a:t>
            </a:r>
            <a:r>
              <a:rPr lang="en-US" i="1" dirty="0"/>
              <a:t> se </a:t>
            </a:r>
            <a:r>
              <a:rPr lang="en-US" i="1" dirty="0" err="1"/>
              <a:t>desfasoara</a:t>
            </a:r>
            <a:r>
              <a:rPr lang="en-US" i="1" dirty="0"/>
              <a:t> </a:t>
            </a:r>
            <a:r>
              <a:rPr lang="en-US" i="1" dirty="0" err="1"/>
              <a:t>intr</a:t>
            </a:r>
            <a:r>
              <a:rPr lang="en-US" i="1" dirty="0"/>
              <a:t>-un plan </a:t>
            </a:r>
            <a:r>
              <a:rPr lang="en-US" i="1" dirty="0" err="1"/>
              <a:t>mintal</a:t>
            </a:r>
            <a:r>
              <a:rPr lang="en-US" i="1" dirty="0"/>
              <a:t>, intern, </a:t>
            </a:r>
            <a:r>
              <a:rPr lang="en-US" i="1" dirty="0" err="1"/>
              <a:t>subiectiv</a:t>
            </a:r>
            <a:r>
              <a:rPr lang="en-US" i="1" dirty="0"/>
              <a:t> </a:t>
            </a:r>
            <a:r>
              <a:rPr lang="en-US" dirty="0"/>
              <a:t>-&gt;cu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judecatilor</a:t>
            </a:r>
            <a:r>
              <a:rPr lang="en-US" dirty="0"/>
              <a:t>, </a:t>
            </a:r>
            <a:r>
              <a:rPr lang="en-US" dirty="0" err="1"/>
              <a:t>rationamentelor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vast </a:t>
            </a:r>
            <a:r>
              <a:rPr lang="en-US" dirty="0" err="1"/>
              <a:t>sistem</a:t>
            </a:r>
            <a:r>
              <a:rPr lang="en-US" dirty="0"/>
              <a:t> de </a:t>
            </a:r>
            <a:r>
              <a:rPr lang="en-US" dirty="0" err="1"/>
              <a:t>operatii</a:t>
            </a:r>
            <a:r>
              <a:rPr lang="en-US" dirty="0"/>
              <a:t>,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prelucrarea</a:t>
            </a:r>
            <a:r>
              <a:rPr lang="en-US" dirty="0"/>
              <a:t> </a:t>
            </a:r>
            <a:r>
              <a:rPr lang="en-US" dirty="0" err="1"/>
              <a:t>insusirilor</a:t>
            </a:r>
            <a:r>
              <a:rPr lang="en-US" dirty="0"/>
              <a:t> </a:t>
            </a:r>
            <a:r>
              <a:rPr lang="en-US" dirty="0" err="1"/>
              <a:t>esentiale</a:t>
            </a:r>
            <a:r>
              <a:rPr lang="en-US" dirty="0"/>
              <a:t>, 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legice.;insusiri</a:t>
            </a:r>
            <a:r>
              <a:rPr lang="en-US" dirty="0"/>
              <a:t> </a:t>
            </a:r>
            <a:r>
              <a:rPr lang="en-US" dirty="0" err="1"/>
              <a:t>necesare</a:t>
            </a:r>
            <a:r>
              <a:rPr lang="en-US" dirty="0"/>
              <a:t>-&gt;</a:t>
            </a:r>
            <a:r>
              <a:rPr lang="en-US" dirty="0" err="1"/>
              <a:t>sunt</a:t>
            </a:r>
            <a:r>
              <a:rPr lang="en-US" dirty="0"/>
              <a:t> imperative, se </a:t>
            </a:r>
            <a:r>
              <a:rPr lang="en-US" dirty="0" err="1"/>
              <a:t>impun</a:t>
            </a:r>
            <a:r>
              <a:rPr lang="en-US" dirty="0"/>
              <a:t>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noastre</a:t>
            </a:r>
            <a:r>
              <a:rPr lang="en-US" dirty="0"/>
              <a:t>; </a:t>
            </a:r>
            <a:r>
              <a:rPr lang="en-US" dirty="0" err="1"/>
              <a:t>insusiri</a:t>
            </a:r>
            <a:r>
              <a:rPr lang="en-US" dirty="0"/>
              <a:t> </a:t>
            </a:r>
            <a:r>
              <a:rPr lang="en-US" dirty="0" err="1"/>
              <a:t>legice</a:t>
            </a:r>
            <a:r>
              <a:rPr lang="en-US" dirty="0"/>
              <a:t>-&gt;</a:t>
            </a:r>
            <a:r>
              <a:rPr lang="en-US" dirty="0" err="1"/>
              <a:t>stau</a:t>
            </a:r>
            <a:r>
              <a:rPr lang="en-US" dirty="0"/>
              <a:t> la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formularii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relatii</a:t>
            </a:r>
            <a:r>
              <a:rPr lang="en-US" dirty="0"/>
              <a:t> </a:t>
            </a:r>
            <a:r>
              <a:rPr lang="en-US" dirty="0" err="1"/>
              <a:t>riguroase,precise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verificabile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4419600" y="-762000"/>
            <a:ext cx="4267200" cy="76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6200" y="152400"/>
            <a:ext cx="9296399" cy="7924800"/>
          </a:xfrm>
        </p:spPr>
        <p:txBody>
          <a:bodyPr>
            <a:normAutofit fontScale="77500" lnSpcReduction="20000"/>
          </a:bodyPr>
          <a:lstStyle/>
          <a:p>
            <a:r>
              <a:rPr lang="en-US" i="1" dirty="0" err="1"/>
              <a:t>Gandirea</a:t>
            </a:r>
            <a:r>
              <a:rPr lang="en-US" i="1" dirty="0"/>
              <a:t> are o </a:t>
            </a:r>
            <a:r>
              <a:rPr lang="en-US" i="1" dirty="0" err="1"/>
              <a:t>desfasurare</a:t>
            </a:r>
            <a:r>
              <a:rPr lang="en-US" i="1" dirty="0"/>
              <a:t> </a:t>
            </a:r>
            <a:r>
              <a:rPr lang="en-US" i="1" dirty="0" err="1"/>
              <a:t>procesuala</a:t>
            </a:r>
            <a:r>
              <a:rPr lang="en-US" i="1" dirty="0"/>
              <a:t> </a:t>
            </a:r>
            <a:r>
              <a:rPr lang="en-US" dirty="0"/>
              <a:t>cu grade </a:t>
            </a:r>
            <a:r>
              <a:rPr lang="en-US" dirty="0" err="1"/>
              <a:t>mari</a:t>
            </a:r>
            <a:r>
              <a:rPr lang="en-US" dirty="0"/>
              <a:t> de </a:t>
            </a:r>
            <a:r>
              <a:rPr lang="en-US" dirty="0" err="1"/>
              <a:t>libertate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verticala</a:t>
            </a:r>
            <a:r>
              <a:rPr lang="en-US" dirty="0"/>
              <a:t> </a:t>
            </a:r>
            <a:r>
              <a:rPr lang="en-US" dirty="0" err="1"/>
              <a:t>cunoasterii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axa</a:t>
            </a:r>
            <a:r>
              <a:rPr lang="en-US" dirty="0"/>
              <a:t> </a:t>
            </a:r>
            <a:r>
              <a:rPr lang="en-US" dirty="0" err="1"/>
              <a:t>timpului</a:t>
            </a:r>
            <a:r>
              <a:rPr lang="en-US" dirty="0"/>
              <a:t>.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verticala</a:t>
            </a:r>
            <a:r>
              <a:rPr lang="en-US" dirty="0"/>
              <a:t> </a:t>
            </a:r>
            <a:r>
              <a:rPr lang="en-US" dirty="0" err="1"/>
              <a:t>cunoasterii,gandirea</a:t>
            </a:r>
            <a:r>
              <a:rPr lang="en-US" dirty="0"/>
              <a:t> </a:t>
            </a:r>
            <a:r>
              <a:rPr lang="en-US" dirty="0" err="1"/>
              <a:t>evolueaza</a:t>
            </a:r>
            <a:r>
              <a:rPr lang="en-US" dirty="0"/>
              <a:t> in </a:t>
            </a:r>
            <a:r>
              <a:rPr lang="en-US" dirty="0" err="1"/>
              <a:t>sens</a:t>
            </a:r>
            <a:r>
              <a:rPr lang="en-US" dirty="0"/>
              <a:t> </a:t>
            </a:r>
            <a:r>
              <a:rPr lang="en-US" dirty="0" err="1"/>
              <a:t>ascendent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in </a:t>
            </a:r>
            <a:r>
              <a:rPr lang="en-US" dirty="0" err="1"/>
              <a:t>sens</a:t>
            </a:r>
            <a:r>
              <a:rPr lang="en-US" dirty="0"/>
              <a:t> descendent.-&gt;</a:t>
            </a:r>
            <a:r>
              <a:rPr lang="en-US" b="1" dirty="0" err="1"/>
              <a:t>procesarea</a:t>
            </a:r>
            <a:r>
              <a:rPr lang="en-US" b="1" dirty="0"/>
              <a:t> </a:t>
            </a:r>
            <a:r>
              <a:rPr lang="en-US" b="1" dirty="0" err="1"/>
              <a:t>ascendenta</a:t>
            </a:r>
            <a:r>
              <a:rPr lang="en-US" b="1" dirty="0"/>
              <a:t> </a:t>
            </a:r>
            <a:r>
              <a:rPr lang="en-US" dirty="0" err="1"/>
              <a:t>prezinta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caracteristici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 </a:t>
            </a:r>
            <a:r>
              <a:rPr lang="en-US" dirty="0" err="1"/>
              <a:t>orienteaza</a:t>
            </a:r>
            <a:r>
              <a:rPr lang="en-US" dirty="0"/>
              <a:t> de </a:t>
            </a:r>
            <a:r>
              <a:rPr lang="en-US" dirty="0" err="1"/>
              <a:t>jos</a:t>
            </a:r>
            <a:r>
              <a:rPr lang="en-US" dirty="0"/>
              <a:t> in </a:t>
            </a:r>
            <a:r>
              <a:rPr lang="en-US" dirty="0" err="1"/>
              <a:t>sus</a:t>
            </a:r>
            <a:r>
              <a:rPr lang="en-US" dirty="0"/>
              <a:t>, bottom-up, de la </a:t>
            </a:r>
            <a:r>
              <a:rPr lang="en-US" dirty="0" err="1"/>
              <a:t>baza</a:t>
            </a:r>
            <a:r>
              <a:rPr lang="en-US" dirty="0"/>
              <a:t> de date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reprezentari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concepte</a:t>
            </a:r>
            <a:r>
              <a:rPr lang="en-US" dirty="0"/>
              <a:t> cu grad tot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larg</a:t>
            </a:r>
            <a:r>
              <a:rPr lang="en-US" dirty="0"/>
              <a:t> de </a:t>
            </a:r>
            <a:r>
              <a:rPr lang="en-US" dirty="0" err="1"/>
              <a:t>cuprindere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generalizare</a:t>
            </a:r>
            <a:endParaRPr lang="en-US" dirty="0"/>
          </a:p>
          <a:p>
            <a:pPr lvl="1"/>
            <a:r>
              <a:rPr lang="en-US" dirty="0"/>
              <a:t>Este </a:t>
            </a:r>
            <a:r>
              <a:rPr lang="en-US" dirty="0" err="1"/>
              <a:t>dirijata</a:t>
            </a:r>
            <a:r>
              <a:rPr lang="en-US" dirty="0"/>
              <a:t> de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observatiei,de</a:t>
            </a:r>
            <a:r>
              <a:rPr lang="en-US" dirty="0"/>
              <a:t> </a:t>
            </a:r>
            <a:r>
              <a:rPr lang="en-US" dirty="0" err="1"/>
              <a:t>experientele</a:t>
            </a:r>
            <a:r>
              <a:rPr lang="en-US" dirty="0"/>
              <a:t> </a:t>
            </a:r>
            <a:r>
              <a:rPr lang="en-US" dirty="0" err="1"/>
              <a:t>individului,inclusiv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per </a:t>
            </a:r>
            <a:r>
              <a:rPr lang="en-US" dirty="0" err="1"/>
              <a:t>ceptive,de</a:t>
            </a:r>
            <a:r>
              <a:rPr lang="en-US" dirty="0"/>
              <a:t> </a:t>
            </a:r>
            <a:r>
              <a:rPr lang="en-US" dirty="0" err="1"/>
              <a:t>reprezentarile</a:t>
            </a:r>
            <a:r>
              <a:rPr lang="en-US" dirty="0"/>
              <a:t> </a:t>
            </a:r>
            <a:r>
              <a:rPr lang="en-US" dirty="0" err="1"/>
              <a:t>acumulate</a:t>
            </a:r>
            <a:r>
              <a:rPr lang="en-US" dirty="0"/>
              <a:t> in </a:t>
            </a:r>
            <a:r>
              <a:rPr lang="en-US" dirty="0" err="1"/>
              <a:t>timp</a:t>
            </a:r>
            <a:endParaRPr lang="en-US" dirty="0"/>
          </a:p>
          <a:p>
            <a:pPr lvl="1"/>
            <a:r>
              <a:rPr lang="en-US" dirty="0"/>
              <a:t>Este un </a:t>
            </a:r>
            <a:r>
              <a:rPr lang="en-US" dirty="0" err="1"/>
              <a:t>demers</a:t>
            </a:r>
            <a:r>
              <a:rPr lang="en-US" dirty="0"/>
              <a:t> de tip </a:t>
            </a:r>
            <a:r>
              <a:rPr lang="en-US" dirty="0" err="1"/>
              <a:t>inductiv,care</a:t>
            </a:r>
            <a:r>
              <a:rPr lang="en-US" dirty="0"/>
              <a:t> se </a:t>
            </a:r>
            <a:r>
              <a:rPr lang="en-US" dirty="0" err="1"/>
              <a:t>orienteaza</a:t>
            </a:r>
            <a:r>
              <a:rPr lang="en-US" dirty="0"/>
              <a:t> de la particular la </a:t>
            </a:r>
            <a:r>
              <a:rPr lang="en-US" dirty="0" err="1"/>
              <a:t>general,de</a:t>
            </a:r>
            <a:r>
              <a:rPr lang="en-US" dirty="0"/>
              <a:t> la </a:t>
            </a:r>
            <a:r>
              <a:rPr lang="en-US" dirty="0" err="1"/>
              <a:t>fapte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date concrete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generalizari</a:t>
            </a:r>
            <a:r>
              <a:rPr lang="en-US" dirty="0"/>
              <a:t> tot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cuprinzatoare</a:t>
            </a:r>
            <a:endParaRPr lang="en-US" dirty="0"/>
          </a:p>
          <a:p>
            <a:pPr lvl="1"/>
            <a:r>
              <a:rPr lang="en-US" dirty="0"/>
              <a:t>Este </a:t>
            </a:r>
            <a:r>
              <a:rPr lang="en-US" dirty="0" err="1"/>
              <a:t>modul</a:t>
            </a:r>
            <a:r>
              <a:rPr lang="en-US" dirty="0"/>
              <a:t> natural de </a:t>
            </a:r>
            <a:r>
              <a:rPr lang="en-US" dirty="0" err="1"/>
              <a:t>evolutie</a:t>
            </a:r>
            <a:r>
              <a:rPr lang="en-US" dirty="0"/>
              <a:t> a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; </a:t>
            </a:r>
          </a:p>
          <a:p>
            <a:pPr>
              <a:buNone/>
            </a:pPr>
            <a:r>
              <a:rPr lang="en-US" b="1" dirty="0" err="1"/>
              <a:t>procesarea</a:t>
            </a:r>
            <a:r>
              <a:rPr lang="en-US" b="1" dirty="0"/>
              <a:t> </a:t>
            </a:r>
            <a:r>
              <a:rPr lang="en-US" b="1" dirty="0" err="1"/>
              <a:t>descendenta</a:t>
            </a:r>
            <a:r>
              <a:rPr lang="en-US" b="1" dirty="0"/>
              <a:t> </a:t>
            </a:r>
            <a:r>
              <a:rPr lang="en-US" dirty="0" err="1"/>
              <a:t>prezinta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caracteristici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 </a:t>
            </a:r>
            <a:r>
              <a:rPr lang="en-US" dirty="0" err="1"/>
              <a:t>orienteaza</a:t>
            </a:r>
            <a:r>
              <a:rPr lang="en-US" dirty="0"/>
              <a:t> de </a:t>
            </a:r>
            <a:r>
              <a:rPr lang="en-US" dirty="0" err="1"/>
              <a:t>sus</a:t>
            </a:r>
            <a:r>
              <a:rPr lang="en-US" dirty="0"/>
              <a:t> in </a:t>
            </a:r>
            <a:r>
              <a:rPr lang="en-US" dirty="0" err="1"/>
              <a:t>jos,top</a:t>
            </a:r>
            <a:r>
              <a:rPr lang="en-US" dirty="0"/>
              <a:t>-down, de la </a:t>
            </a:r>
            <a:r>
              <a:rPr lang="en-US" dirty="0" err="1"/>
              <a:t>reguli,legi,norme</a:t>
            </a:r>
            <a:r>
              <a:rPr lang="en-US" dirty="0"/>
              <a:t>, </a:t>
            </a:r>
            <a:r>
              <a:rPr lang="en-US" dirty="0" err="1"/>
              <a:t>definitii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particulare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Este </a:t>
            </a:r>
            <a:r>
              <a:rPr lang="en-US" dirty="0" err="1"/>
              <a:t>dirijata</a:t>
            </a:r>
            <a:r>
              <a:rPr lang="en-US" dirty="0"/>
              <a:t> de </a:t>
            </a:r>
            <a:r>
              <a:rPr lang="en-US" dirty="0" err="1"/>
              <a:t>legi,reguli,norme,principii</a:t>
            </a:r>
            <a:endParaRPr lang="en-US" dirty="0"/>
          </a:p>
          <a:p>
            <a:pPr lvl="1"/>
            <a:r>
              <a:rPr lang="en-US" dirty="0"/>
              <a:t>Este un </a:t>
            </a:r>
            <a:r>
              <a:rPr lang="en-US" dirty="0" err="1"/>
              <a:t>demers</a:t>
            </a:r>
            <a:r>
              <a:rPr lang="en-US" dirty="0"/>
              <a:t> de tip </a:t>
            </a:r>
            <a:r>
              <a:rPr lang="en-US" dirty="0" err="1"/>
              <a:t>deductiv:din</a:t>
            </a:r>
            <a:r>
              <a:rPr lang="en-US" dirty="0"/>
              <a:t>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legi</a:t>
            </a:r>
            <a:r>
              <a:rPr lang="en-US" dirty="0"/>
              <a:t> se </a:t>
            </a:r>
            <a:r>
              <a:rPr lang="en-US" dirty="0" err="1"/>
              <a:t>deduc</a:t>
            </a:r>
            <a:r>
              <a:rPr lang="en-US" dirty="0"/>
              <a:t> </a:t>
            </a:r>
            <a:r>
              <a:rPr lang="en-US" dirty="0" err="1"/>
              <a:t>atribute</a:t>
            </a:r>
            <a:r>
              <a:rPr lang="en-US" dirty="0"/>
              <a:t> ale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fenomene</a:t>
            </a:r>
            <a:r>
              <a:rPr lang="en-US" dirty="0"/>
              <a:t>, </a:t>
            </a:r>
            <a:r>
              <a:rPr lang="en-US" dirty="0" err="1"/>
              <a:t>categorii</a:t>
            </a:r>
            <a:r>
              <a:rPr lang="en-US" dirty="0"/>
              <a:t> de </a:t>
            </a:r>
            <a:r>
              <a:rPr lang="en-US" dirty="0" err="1"/>
              <a:t>obiecte</a:t>
            </a:r>
            <a:endParaRPr lang="en-US" dirty="0"/>
          </a:p>
          <a:p>
            <a:pPr lvl="1"/>
            <a:r>
              <a:rPr lang="en-US" dirty="0"/>
              <a:t>Are un </a:t>
            </a:r>
            <a:r>
              <a:rPr lang="en-US" dirty="0" err="1"/>
              <a:t>caracter</a:t>
            </a:r>
            <a:r>
              <a:rPr lang="en-US" dirty="0"/>
              <a:t> </a:t>
            </a:r>
            <a:r>
              <a:rPr lang="en-US" dirty="0" err="1"/>
              <a:t>imperativ,se</a:t>
            </a:r>
            <a:r>
              <a:rPr lang="en-US" dirty="0"/>
              <a:t> </a:t>
            </a:r>
            <a:r>
              <a:rPr lang="en-US" dirty="0" err="1"/>
              <a:t>impune</a:t>
            </a:r>
            <a:r>
              <a:rPr lang="en-US" dirty="0"/>
              <a:t>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noastre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deriva</a:t>
            </a:r>
            <a:r>
              <a:rPr lang="en-US" dirty="0"/>
              <a:t> din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cunoasterii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 la un moment </a:t>
            </a:r>
            <a:r>
              <a:rPr lang="en-US" dirty="0" err="1"/>
              <a:t>dat</a:t>
            </a:r>
            <a:endParaRPr lang="en-US" dirty="0"/>
          </a:p>
          <a:p>
            <a:pPr lvl="1"/>
            <a:r>
              <a:rPr lang="en-US" dirty="0"/>
              <a:t>Este o </a:t>
            </a:r>
            <a:r>
              <a:rPr lang="en-US" dirty="0" err="1"/>
              <a:t>evolutie</a:t>
            </a:r>
            <a:r>
              <a:rPr lang="en-US" dirty="0"/>
              <a:t> a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bazata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invatare,instructie</a:t>
            </a:r>
            <a:r>
              <a:rPr lang="en-US" dirty="0"/>
              <a:t> </a:t>
            </a:r>
            <a:r>
              <a:rPr lang="en-US" dirty="0" err="1"/>
              <a:t>scolara,educatie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027955" y="-2362200"/>
            <a:ext cx="1153645" cy="48768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en-US" i="1" dirty="0" err="1"/>
              <a:t>Desfasurarea</a:t>
            </a:r>
            <a:r>
              <a:rPr lang="en-US" i="1" dirty="0"/>
              <a:t> </a:t>
            </a:r>
            <a:r>
              <a:rPr lang="en-US" i="1" dirty="0" err="1"/>
              <a:t>gandirii</a:t>
            </a:r>
            <a:r>
              <a:rPr lang="en-US" i="1" dirty="0"/>
              <a:t> </a:t>
            </a:r>
            <a:r>
              <a:rPr lang="en-US" i="1" dirty="0" err="1"/>
              <a:t>pe</a:t>
            </a:r>
            <a:r>
              <a:rPr lang="en-US" i="1" dirty="0"/>
              <a:t> </a:t>
            </a:r>
            <a:r>
              <a:rPr lang="en-US" i="1" dirty="0" err="1"/>
              <a:t>axa</a:t>
            </a:r>
            <a:r>
              <a:rPr lang="en-US" i="1" dirty="0"/>
              <a:t> </a:t>
            </a:r>
            <a:r>
              <a:rPr lang="en-US" i="1" dirty="0" err="1"/>
              <a:t>temporala</a:t>
            </a:r>
            <a:r>
              <a:rPr lang="en-US" i="1" dirty="0"/>
              <a:t> </a:t>
            </a:r>
            <a:r>
              <a:rPr lang="en-US" dirty="0"/>
              <a:t>se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trecut,prezent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viitor</a:t>
            </a:r>
            <a:r>
              <a:rPr lang="en-US" dirty="0"/>
              <a:t>.-&gt; </a:t>
            </a:r>
            <a:r>
              <a:rPr lang="en-US" dirty="0" err="1"/>
              <a:t>gandirea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extrage</a:t>
            </a:r>
            <a:r>
              <a:rPr lang="en-US" dirty="0"/>
              <a:t> </a:t>
            </a:r>
            <a:r>
              <a:rPr lang="en-US" dirty="0" err="1"/>
              <a:t>continuturile</a:t>
            </a:r>
            <a:r>
              <a:rPr lang="en-US" dirty="0"/>
              <a:t>, in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 </a:t>
            </a:r>
            <a:r>
              <a:rPr lang="en-US" dirty="0" err="1"/>
              <a:t>masura</a:t>
            </a:r>
            <a:r>
              <a:rPr lang="en-US" dirty="0"/>
              <a:t>, din </a:t>
            </a:r>
            <a:r>
              <a:rPr lang="en-US" dirty="0" err="1"/>
              <a:t>memorie</a:t>
            </a:r>
            <a:r>
              <a:rPr lang="en-US" dirty="0"/>
              <a:t>, din </a:t>
            </a:r>
            <a:r>
              <a:rPr lang="en-US" dirty="0" err="1"/>
              <a:t>trecut</a:t>
            </a:r>
            <a:r>
              <a:rPr lang="en-US" dirty="0"/>
              <a:t>; </a:t>
            </a:r>
            <a:r>
              <a:rPr lang="en-US" dirty="0" err="1"/>
              <a:t>reactualizeaza</a:t>
            </a:r>
            <a:r>
              <a:rPr lang="en-US" dirty="0"/>
              <a:t> in </a:t>
            </a:r>
            <a:r>
              <a:rPr lang="en-US" dirty="0" err="1"/>
              <a:t>raport</a:t>
            </a:r>
            <a:r>
              <a:rPr lang="en-US" dirty="0"/>
              <a:t> cu </a:t>
            </a:r>
            <a:r>
              <a:rPr lang="en-US" dirty="0" err="1"/>
              <a:t>cerintele</a:t>
            </a:r>
            <a:r>
              <a:rPr lang="en-US" dirty="0"/>
              <a:t> </a:t>
            </a:r>
            <a:r>
              <a:rPr lang="en-US" dirty="0" err="1"/>
              <a:t>prezentului</a:t>
            </a:r>
            <a:r>
              <a:rPr lang="en-US" dirty="0"/>
              <a:t>, </a:t>
            </a:r>
            <a:r>
              <a:rPr lang="en-US" dirty="0" err="1"/>
              <a:t>informatii</a:t>
            </a:r>
            <a:r>
              <a:rPr lang="en-US" dirty="0"/>
              <a:t>, </a:t>
            </a:r>
            <a:r>
              <a:rPr lang="en-US" dirty="0" err="1"/>
              <a:t>cunostinte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experiente,elaborand</a:t>
            </a:r>
            <a:r>
              <a:rPr lang="en-US" dirty="0"/>
              <a:t> </a:t>
            </a:r>
            <a:r>
              <a:rPr lang="en-US" dirty="0" err="1"/>
              <a:t>anticipari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predictii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viitorului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-1371600"/>
            <a:ext cx="3505200" cy="5334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Perspectiva</a:t>
            </a:r>
            <a:r>
              <a:rPr lang="en-US" dirty="0"/>
              <a:t> </a:t>
            </a:r>
            <a:r>
              <a:rPr lang="en-US" dirty="0" err="1"/>
              <a:t>cognitivista</a:t>
            </a:r>
            <a:r>
              <a:rPr lang="en-US" dirty="0"/>
              <a:t> a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insista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acesteia</a:t>
            </a:r>
            <a:r>
              <a:rPr lang="en-US" dirty="0"/>
              <a:t> ca </a:t>
            </a:r>
            <a:r>
              <a:rPr lang="en-US" i="1" dirty="0" err="1"/>
              <a:t>organizare</a:t>
            </a:r>
            <a:r>
              <a:rPr lang="en-US" i="1" dirty="0"/>
              <a:t> </a:t>
            </a:r>
            <a:r>
              <a:rPr lang="en-US" i="1" dirty="0" err="1"/>
              <a:t>si</a:t>
            </a:r>
            <a:r>
              <a:rPr lang="en-US" i="1" dirty="0"/>
              <a:t> </a:t>
            </a:r>
            <a:r>
              <a:rPr lang="en-US" i="1" dirty="0" err="1"/>
              <a:t>manipulare</a:t>
            </a:r>
            <a:r>
              <a:rPr lang="en-US" i="1" dirty="0"/>
              <a:t> a </a:t>
            </a:r>
            <a:r>
              <a:rPr lang="en-US" i="1" dirty="0" err="1"/>
              <a:t>reprezentarilor</a:t>
            </a:r>
            <a:r>
              <a:rPr lang="en-US" i="1" dirty="0"/>
              <a:t> interne </a:t>
            </a:r>
            <a:r>
              <a:rPr lang="en-US" i="1" dirty="0" err="1"/>
              <a:t>sau</a:t>
            </a:r>
            <a:r>
              <a:rPr lang="en-US" i="1" dirty="0"/>
              <a:t> </a:t>
            </a:r>
            <a:r>
              <a:rPr lang="en-US" i="1" dirty="0" err="1"/>
              <a:t>informatiilor</a:t>
            </a:r>
            <a:r>
              <a:rPr lang="en-US" i="1" dirty="0"/>
              <a:t> </a:t>
            </a:r>
            <a:r>
              <a:rPr lang="en-US" i="1" dirty="0" err="1"/>
              <a:t>si</a:t>
            </a:r>
            <a:r>
              <a:rPr lang="en-US" i="1" dirty="0"/>
              <a:t> </a:t>
            </a:r>
            <a:r>
              <a:rPr lang="en-US" i="1" dirty="0" err="1"/>
              <a:t>cunostintelor</a:t>
            </a:r>
            <a:r>
              <a:rPr lang="en-US" i="1" dirty="0"/>
              <a:t> </a:t>
            </a:r>
            <a:r>
              <a:rPr lang="en-US" i="1" dirty="0" err="1"/>
              <a:t>stocate</a:t>
            </a:r>
            <a:r>
              <a:rPr lang="en-US" i="1" dirty="0"/>
              <a:t> in </a:t>
            </a:r>
            <a:r>
              <a:rPr lang="en-US" i="1" dirty="0" err="1"/>
              <a:t>memorie,</a:t>
            </a:r>
            <a:r>
              <a:rPr lang="en-US" dirty="0" err="1"/>
              <a:t>in</a:t>
            </a:r>
            <a:r>
              <a:rPr lang="en-US" dirty="0"/>
              <a:t> </a:t>
            </a:r>
            <a:r>
              <a:rPr lang="en-US" dirty="0" err="1"/>
              <a:t>vederea</a:t>
            </a:r>
            <a:r>
              <a:rPr lang="en-US" dirty="0"/>
              <a:t> </a:t>
            </a:r>
            <a:r>
              <a:rPr lang="en-US" dirty="0" err="1"/>
              <a:t>elaborarii</a:t>
            </a:r>
            <a:r>
              <a:rPr lang="en-US" dirty="0"/>
              <a:t> de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informatii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8686800" y="-2133600"/>
            <a:ext cx="1524000" cy="2286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5562600"/>
          </a:xfrm>
        </p:spPr>
        <p:txBody>
          <a:bodyPr>
            <a:normAutofit lnSpcReduction="10000"/>
          </a:bodyPr>
          <a:lstStyle/>
          <a:p>
            <a:r>
              <a:rPr lang="en-US" i="1" dirty="0" err="1"/>
              <a:t>Caracterul</a:t>
            </a:r>
            <a:r>
              <a:rPr lang="en-US" i="1" dirty="0"/>
              <a:t> </a:t>
            </a:r>
            <a:r>
              <a:rPr lang="en-US" i="1" dirty="0" err="1"/>
              <a:t>mijlocit</a:t>
            </a:r>
            <a:r>
              <a:rPr lang="en-US" i="1" dirty="0"/>
              <a:t> </a:t>
            </a:r>
            <a:r>
              <a:rPr lang="en-US" dirty="0"/>
              <a:t>al </a:t>
            </a:r>
            <a:r>
              <a:rPr lang="en-US" dirty="0" err="1"/>
              <a:t>gandirii</a:t>
            </a:r>
            <a:r>
              <a:rPr lang="en-US" dirty="0"/>
              <a:t>-&gt;</a:t>
            </a:r>
            <a:r>
              <a:rPr lang="en-US" dirty="0" err="1"/>
              <a:t>indiferent</a:t>
            </a:r>
            <a:r>
              <a:rPr lang="en-US" dirty="0"/>
              <a:t> de </a:t>
            </a:r>
            <a:r>
              <a:rPr lang="en-US" dirty="0" err="1"/>
              <a:t>modul</a:t>
            </a:r>
            <a:r>
              <a:rPr lang="en-US" dirty="0"/>
              <a:t> de </a:t>
            </a:r>
            <a:r>
              <a:rPr lang="en-US" dirty="0" err="1"/>
              <a:t>procesare</a:t>
            </a:r>
            <a:r>
              <a:rPr lang="en-US" dirty="0"/>
              <a:t>, </a:t>
            </a:r>
            <a:r>
              <a:rPr lang="en-US" dirty="0" err="1"/>
              <a:t>gandirea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mijlocita</a:t>
            </a:r>
            <a:r>
              <a:rPr lang="en-US" dirty="0"/>
              <a:t>: in </a:t>
            </a:r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directa,gandirea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mijlocita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experienta</a:t>
            </a:r>
            <a:r>
              <a:rPr lang="en-US" dirty="0"/>
              <a:t> </a:t>
            </a:r>
            <a:r>
              <a:rPr lang="en-US" dirty="0" err="1"/>
              <a:t>perceptiva,prin</a:t>
            </a:r>
            <a:r>
              <a:rPr lang="en-US" dirty="0"/>
              <a:t> </a:t>
            </a:r>
            <a:r>
              <a:rPr lang="en-US" dirty="0" err="1"/>
              <a:t>imaginile</a:t>
            </a:r>
            <a:r>
              <a:rPr lang="en-US" dirty="0"/>
              <a:t> din </a:t>
            </a:r>
            <a:r>
              <a:rPr lang="en-US" dirty="0" err="1"/>
              <a:t>reprezentare,iar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date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stocate</a:t>
            </a:r>
            <a:r>
              <a:rPr lang="en-US" dirty="0"/>
              <a:t> in </a:t>
            </a:r>
            <a:r>
              <a:rPr lang="en-US" dirty="0" err="1"/>
              <a:t>memorie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vehiculate</a:t>
            </a:r>
            <a:r>
              <a:rPr lang="en-US" dirty="0"/>
              <a:t>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limbajului</a:t>
            </a:r>
            <a:r>
              <a:rPr lang="en-US" dirty="0"/>
              <a:t>; in </a:t>
            </a:r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descendenta,caracterul</a:t>
            </a:r>
            <a:r>
              <a:rPr lang="en-US" dirty="0"/>
              <a:t> </a:t>
            </a:r>
            <a:r>
              <a:rPr lang="en-US" dirty="0" err="1"/>
              <a:t>mijlocit</a:t>
            </a:r>
            <a:r>
              <a:rPr lang="en-US" dirty="0"/>
              <a:t> al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asigurat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cunostintele</a:t>
            </a:r>
            <a:r>
              <a:rPr lang="en-US" dirty="0"/>
              <a:t> </a:t>
            </a:r>
            <a:r>
              <a:rPr lang="en-US" dirty="0" err="1"/>
              <a:t>acumulate</a:t>
            </a:r>
            <a:r>
              <a:rPr lang="en-US" dirty="0"/>
              <a:t> la un moment </a:t>
            </a:r>
            <a:r>
              <a:rPr lang="en-US" dirty="0" err="1"/>
              <a:t>dat</a:t>
            </a:r>
            <a:r>
              <a:rPr lang="en-US" dirty="0"/>
              <a:t>,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informatiile</a:t>
            </a:r>
            <a:r>
              <a:rPr lang="en-US" dirty="0"/>
              <a:t> </a:t>
            </a:r>
            <a:r>
              <a:rPr lang="en-US" dirty="0" err="1"/>
              <a:t>sintetizate</a:t>
            </a:r>
            <a:r>
              <a:rPr lang="en-US" dirty="0"/>
              <a:t> in </a:t>
            </a:r>
            <a:r>
              <a:rPr lang="en-US" dirty="0" err="1"/>
              <a:t>lucrarile</a:t>
            </a:r>
            <a:r>
              <a:rPr lang="en-US" dirty="0"/>
              <a:t> </a:t>
            </a:r>
            <a:r>
              <a:rPr lang="en-US" dirty="0" err="1"/>
              <a:t>stiintifice</a:t>
            </a:r>
            <a:r>
              <a:rPr lang="en-US" dirty="0"/>
              <a:t>.-&gt;</a:t>
            </a:r>
            <a:r>
              <a:rPr lang="en-US" dirty="0" err="1"/>
              <a:t>limbajul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instrumentul</a:t>
            </a:r>
            <a:r>
              <a:rPr lang="en-US" dirty="0"/>
              <a:t> fundamental care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vehicularea</a:t>
            </a:r>
            <a:r>
              <a:rPr lang="en-US" dirty="0"/>
              <a:t>, </a:t>
            </a:r>
            <a:r>
              <a:rPr lang="en-US" dirty="0" err="1"/>
              <a:t>coordonarea</a:t>
            </a:r>
            <a:r>
              <a:rPr lang="en-US" dirty="0"/>
              <a:t> </a:t>
            </a:r>
            <a:r>
              <a:rPr lang="en-US" dirty="0" err="1"/>
              <a:t>acestor</a:t>
            </a:r>
            <a:r>
              <a:rPr lang="en-US" dirty="0"/>
              <a:t> </a:t>
            </a:r>
            <a:r>
              <a:rPr lang="en-US" dirty="0" err="1"/>
              <a:t>informatii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2057400" y="-533399"/>
            <a:ext cx="6705600" cy="22859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r>
              <a:rPr lang="en-US" i="1" dirty="0" err="1"/>
              <a:t>Caracterul</a:t>
            </a:r>
            <a:r>
              <a:rPr lang="en-US" i="1" dirty="0"/>
              <a:t> abstract-formal-&gt;</a:t>
            </a:r>
            <a:r>
              <a:rPr lang="en-US" dirty="0" err="1"/>
              <a:t>pune</a:t>
            </a:r>
            <a:r>
              <a:rPr lang="en-US" dirty="0"/>
              <a:t> in </a:t>
            </a:r>
            <a:r>
              <a:rPr lang="en-US" dirty="0" err="1"/>
              <a:t>evidenta</a:t>
            </a:r>
            <a:r>
              <a:rPr lang="en-US" dirty="0"/>
              <a:t>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ridicat</a:t>
            </a:r>
            <a:r>
              <a:rPr lang="en-US" dirty="0"/>
              <a:t> al </a:t>
            </a:r>
            <a:r>
              <a:rPr lang="en-US" dirty="0" err="1"/>
              <a:t>selectivitatii</a:t>
            </a:r>
            <a:r>
              <a:rPr lang="en-US" dirty="0"/>
              <a:t> in </a:t>
            </a:r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informatiilor</a:t>
            </a:r>
            <a:r>
              <a:rPr lang="en-US" dirty="0"/>
              <a:t>.-&gt;</a:t>
            </a:r>
            <a:r>
              <a:rPr lang="en-US" dirty="0" err="1"/>
              <a:t>selectivitatea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trasatura</a:t>
            </a:r>
            <a:r>
              <a:rPr lang="en-US" dirty="0"/>
              <a:t> </a:t>
            </a:r>
            <a:r>
              <a:rPr lang="en-US" dirty="0" err="1"/>
              <a:t>definitorie</a:t>
            </a:r>
            <a:r>
              <a:rPr lang="en-US" dirty="0"/>
              <a:t> a </a:t>
            </a:r>
            <a:r>
              <a:rPr lang="en-US" dirty="0" err="1"/>
              <a:t>sistemului</a:t>
            </a:r>
            <a:r>
              <a:rPr lang="en-US" dirty="0"/>
              <a:t> </a:t>
            </a:r>
            <a:r>
              <a:rPr lang="en-US" dirty="0" err="1"/>
              <a:t>psihic</a:t>
            </a:r>
            <a:r>
              <a:rPr lang="en-US" dirty="0"/>
              <a:t> </a:t>
            </a:r>
            <a:r>
              <a:rPr lang="en-US" dirty="0" err="1"/>
              <a:t>uman</a:t>
            </a:r>
            <a:r>
              <a:rPr lang="en-US" dirty="0"/>
              <a:t> in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priveste</a:t>
            </a:r>
            <a:r>
              <a:rPr lang="en-US" dirty="0"/>
              <a:t> </a:t>
            </a:r>
            <a:r>
              <a:rPr lang="en-US" dirty="0" err="1"/>
              <a:t>raportarea</a:t>
            </a:r>
            <a:r>
              <a:rPr lang="en-US" dirty="0"/>
              <a:t> la </a:t>
            </a:r>
            <a:r>
              <a:rPr lang="en-US" dirty="0" err="1"/>
              <a:t>insusirile</a:t>
            </a:r>
            <a:r>
              <a:rPr lang="en-US" dirty="0"/>
              <a:t> </a:t>
            </a:r>
            <a:r>
              <a:rPr lang="en-US" dirty="0" err="1"/>
              <a:t>reflectate</a:t>
            </a:r>
            <a:r>
              <a:rPr lang="en-US" dirty="0"/>
              <a:t>.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gandirii</a:t>
            </a:r>
            <a:r>
              <a:rPr lang="en-US" dirty="0"/>
              <a:t>, </a:t>
            </a:r>
            <a:r>
              <a:rPr lang="en-US" dirty="0" err="1"/>
              <a:t>selectivitatea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maximal </a:t>
            </a:r>
            <a:r>
              <a:rPr lang="en-US" dirty="0" err="1"/>
              <a:t>realizata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operatiile</a:t>
            </a:r>
            <a:r>
              <a:rPr lang="en-US" dirty="0"/>
              <a:t> sale </a:t>
            </a:r>
            <a:r>
              <a:rPr lang="en-US" dirty="0" err="1"/>
              <a:t>analitice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ales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abstractizarea</a:t>
            </a:r>
            <a:r>
              <a:rPr lang="en-US" dirty="0"/>
              <a:t> </a:t>
            </a:r>
            <a:r>
              <a:rPr lang="en-US" dirty="0" err="1"/>
              <a:t>formala</a:t>
            </a:r>
            <a:r>
              <a:rPr lang="en-US" dirty="0"/>
              <a:t>. </a:t>
            </a:r>
            <a:r>
              <a:rPr lang="en-US" dirty="0" err="1"/>
              <a:t>Aspectul</a:t>
            </a:r>
            <a:r>
              <a:rPr lang="en-US" dirty="0"/>
              <a:t> formal tine de </a:t>
            </a:r>
            <a:r>
              <a:rPr lang="en-US" dirty="0" err="1"/>
              <a:t>norme</a:t>
            </a:r>
            <a:r>
              <a:rPr lang="en-US" dirty="0"/>
              <a:t>, </a:t>
            </a:r>
            <a:r>
              <a:rPr lang="en-US" dirty="0" err="1"/>
              <a:t>reguli</a:t>
            </a:r>
            <a:r>
              <a:rPr lang="en-US" dirty="0"/>
              <a:t> de </a:t>
            </a:r>
            <a:r>
              <a:rPr lang="en-US" dirty="0" err="1"/>
              <a:t>desfasurare</a:t>
            </a:r>
            <a:r>
              <a:rPr lang="en-US" dirty="0"/>
              <a:t> a </a:t>
            </a:r>
            <a:r>
              <a:rPr lang="en-US" dirty="0" err="1"/>
              <a:t>gandirii</a:t>
            </a:r>
            <a:r>
              <a:rPr lang="en-US" dirty="0"/>
              <a:t>.-&gt;</a:t>
            </a:r>
            <a:r>
              <a:rPr lang="en-US" dirty="0" err="1"/>
              <a:t>gandirea</a:t>
            </a:r>
            <a:r>
              <a:rPr lang="en-US" dirty="0"/>
              <a:t> se </a:t>
            </a:r>
            <a:r>
              <a:rPr lang="en-US" dirty="0" err="1"/>
              <a:t>orienteaza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norme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reguli</a:t>
            </a:r>
            <a:r>
              <a:rPr lang="en-US" dirty="0"/>
              <a:t> ale </a:t>
            </a:r>
            <a:r>
              <a:rPr lang="en-US" dirty="0" err="1"/>
              <a:t>logicii</a:t>
            </a:r>
            <a:r>
              <a:rPr lang="en-US" dirty="0"/>
              <a:t>,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propozitionala</a:t>
            </a:r>
            <a:r>
              <a:rPr lang="en-US" dirty="0"/>
              <a:t>, </a:t>
            </a:r>
            <a:r>
              <a:rPr lang="en-US" dirty="0" err="1"/>
              <a:t>uzeaza</a:t>
            </a:r>
            <a:r>
              <a:rPr lang="en-US" dirty="0"/>
              <a:t> de </a:t>
            </a:r>
            <a:r>
              <a:rPr lang="en-US" dirty="0" err="1"/>
              <a:t>judecati</a:t>
            </a:r>
            <a:r>
              <a:rPr lang="en-US" dirty="0"/>
              <a:t> </a:t>
            </a:r>
            <a:r>
              <a:rPr lang="en-US" dirty="0" err="1"/>
              <a:t>ipotetico</a:t>
            </a:r>
            <a:r>
              <a:rPr lang="en-US" dirty="0"/>
              <a:t>-deductive, </a:t>
            </a:r>
            <a:r>
              <a:rPr lang="en-US" dirty="0" err="1"/>
              <a:t>avanseaza</a:t>
            </a:r>
            <a:r>
              <a:rPr lang="en-US" dirty="0"/>
              <a:t> </a:t>
            </a:r>
            <a:r>
              <a:rPr lang="en-US" dirty="0" err="1"/>
              <a:t>ipoteze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</a:t>
            </a:r>
            <a:r>
              <a:rPr lang="en-US" dirty="0" err="1"/>
              <a:t>incearca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le </a:t>
            </a:r>
            <a:r>
              <a:rPr lang="en-US" dirty="0" err="1"/>
              <a:t>verifice.Este</a:t>
            </a:r>
            <a:r>
              <a:rPr lang="en-US" dirty="0"/>
              <a:t> o </a:t>
            </a:r>
            <a:r>
              <a:rPr lang="en-US" dirty="0" err="1"/>
              <a:t>gandire</a:t>
            </a:r>
            <a:r>
              <a:rPr lang="en-US" dirty="0"/>
              <a:t> </a:t>
            </a:r>
            <a:r>
              <a:rPr lang="en-US" dirty="0" err="1"/>
              <a:t>probabilistica</a:t>
            </a:r>
            <a:r>
              <a:rPr lang="en-US" dirty="0"/>
              <a:t> care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decizii</a:t>
            </a:r>
            <a:r>
              <a:rPr lang="en-US" dirty="0"/>
              <a:t> in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evaluarii</a:t>
            </a:r>
            <a:r>
              <a:rPr lang="en-US" dirty="0"/>
              <a:t> </a:t>
            </a:r>
            <a:r>
              <a:rPr lang="en-US" dirty="0" err="1"/>
              <a:t>alternativelor</a:t>
            </a:r>
            <a:r>
              <a:rPr lang="en-US" dirty="0"/>
              <a:t> </a:t>
            </a:r>
            <a:r>
              <a:rPr lang="en-US" dirty="0" err="1"/>
              <a:t>echiprobabile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9677400" y="-1981200"/>
            <a:ext cx="304800" cy="2209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4000" dirty="0"/>
          </a:p>
          <a:p>
            <a:pPr>
              <a:buNone/>
            </a:pPr>
            <a:r>
              <a:rPr lang="en-US" sz="4000" dirty="0"/>
              <a:t>In </a:t>
            </a:r>
            <a:r>
              <a:rPr lang="en-US" sz="4000" dirty="0" err="1"/>
              <a:t>concluzie</a:t>
            </a:r>
            <a:r>
              <a:rPr lang="en-US" sz="4000" dirty="0"/>
              <a:t>, </a:t>
            </a:r>
            <a:r>
              <a:rPr lang="en-US" sz="4000" dirty="0" err="1"/>
              <a:t>vom</a:t>
            </a:r>
            <a:r>
              <a:rPr lang="en-US" sz="4000" dirty="0"/>
              <a:t> </a:t>
            </a:r>
            <a:r>
              <a:rPr lang="en-US" sz="4000" dirty="0" err="1"/>
              <a:t>defini</a:t>
            </a:r>
            <a:r>
              <a:rPr lang="en-US" sz="4000" dirty="0"/>
              <a:t> </a:t>
            </a:r>
            <a:r>
              <a:rPr lang="en-US" sz="4000" b="1" dirty="0" err="1"/>
              <a:t>gandirea</a:t>
            </a:r>
            <a:r>
              <a:rPr lang="en-US" sz="4000" b="1" dirty="0"/>
              <a:t> </a:t>
            </a:r>
            <a:r>
              <a:rPr lang="en-US" sz="4000" dirty="0"/>
              <a:t>ca </a:t>
            </a:r>
            <a:r>
              <a:rPr lang="en-US" sz="4000" i="1" dirty="0" err="1"/>
              <a:t>proces</a:t>
            </a:r>
            <a:r>
              <a:rPr lang="en-US" sz="4000" i="1" dirty="0"/>
              <a:t> </a:t>
            </a:r>
            <a:r>
              <a:rPr lang="en-US" sz="4000" i="1" dirty="0" err="1"/>
              <a:t>cognitiv</a:t>
            </a:r>
            <a:r>
              <a:rPr lang="en-US" sz="4000" i="1" dirty="0"/>
              <a:t> superior de </a:t>
            </a:r>
            <a:r>
              <a:rPr lang="en-US" sz="4000" i="1" dirty="0" err="1"/>
              <a:t>extragere</a:t>
            </a:r>
            <a:r>
              <a:rPr lang="en-US" sz="4000" i="1" dirty="0"/>
              <a:t> a </a:t>
            </a:r>
            <a:r>
              <a:rPr lang="en-US" sz="4000" i="1" dirty="0" err="1"/>
              <a:t>insusirilor</a:t>
            </a:r>
            <a:r>
              <a:rPr lang="en-US" sz="4000" i="1" dirty="0"/>
              <a:t> </a:t>
            </a:r>
            <a:r>
              <a:rPr lang="en-US" sz="4000" i="1" dirty="0" err="1"/>
              <a:t>esentiale,necesare</a:t>
            </a:r>
            <a:r>
              <a:rPr lang="en-US" sz="4000" i="1" dirty="0"/>
              <a:t> </a:t>
            </a:r>
            <a:r>
              <a:rPr lang="en-US" sz="4000" i="1" dirty="0" err="1"/>
              <a:t>si</a:t>
            </a:r>
            <a:r>
              <a:rPr lang="en-US" sz="4000" i="1" dirty="0"/>
              <a:t> </a:t>
            </a:r>
            <a:r>
              <a:rPr lang="en-US" sz="4000" i="1" dirty="0" err="1"/>
              <a:t>legice</a:t>
            </a:r>
            <a:r>
              <a:rPr lang="en-US" sz="4000" i="1" dirty="0"/>
              <a:t> cu </a:t>
            </a:r>
            <a:r>
              <a:rPr lang="en-US" sz="4000" i="1" dirty="0" err="1"/>
              <a:t>ajutorul</a:t>
            </a:r>
            <a:r>
              <a:rPr lang="en-US" sz="4000" i="1" dirty="0"/>
              <a:t> </a:t>
            </a:r>
            <a:r>
              <a:rPr lang="en-US" sz="4000" i="1" dirty="0" err="1"/>
              <a:t>unor</a:t>
            </a:r>
            <a:r>
              <a:rPr lang="en-US" sz="4000" i="1" dirty="0"/>
              <a:t> </a:t>
            </a:r>
            <a:r>
              <a:rPr lang="en-US" sz="4000" i="1" dirty="0" err="1"/>
              <a:t>operatii</a:t>
            </a:r>
            <a:r>
              <a:rPr lang="en-US" sz="4000" i="1" dirty="0"/>
              <a:t> abstract-</a:t>
            </a:r>
            <a:r>
              <a:rPr lang="en-US" sz="4000" i="1" dirty="0" err="1"/>
              <a:t>formale</a:t>
            </a:r>
            <a:r>
              <a:rPr lang="en-US" sz="4000" i="1" dirty="0"/>
              <a:t>, in </a:t>
            </a:r>
            <a:r>
              <a:rPr lang="en-US" sz="4000" i="1" dirty="0" err="1"/>
              <a:t>vederea</a:t>
            </a:r>
            <a:r>
              <a:rPr lang="en-US" sz="4000" i="1" dirty="0"/>
              <a:t> </a:t>
            </a:r>
            <a:r>
              <a:rPr lang="en-US" sz="4000" i="1" dirty="0" err="1"/>
              <a:t>intelegerii</a:t>
            </a:r>
            <a:r>
              <a:rPr lang="en-US" sz="4000" i="1" dirty="0"/>
              <a:t>, </a:t>
            </a:r>
            <a:r>
              <a:rPr lang="en-US" sz="4000" i="1" dirty="0" err="1"/>
              <a:t>explicarii</a:t>
            </a:r>
            <a:r>
              <a:rPr lang="en-US" sz="4000" i="1" dirty="0"/>
              <a:t> </a:t>
            </a:r>
            <a:r>
              <a:rPr lang="en-US" sz="4000" i="1" dirty="0" err="1"/>
              <a:t>si</a:t>
            </a:r>
            <a:r>
              <a:rPr lang="en-US" sz="4000" i="1" dirty="0"/>
              <a:t> </a:t>
            </a:r>
            <a:r>
              <a:rPr lang="en-US" sz="4000" i="1" dirty="0" err="1"/>
              <a:t>predictiei</a:t>
            </a:r>
            <a:r>
              <a:rPr lang="en-US" sz="4000" i="1" dirty="0"/>
              <a:t> </a:t>
            </a:r>
            <a:r>
              <a:rPr lang="en-US" sz="4000" i="1" dirty="0" err="1"/>
              <a:t>unor</a:t>
            </a:r>
            <a:r>
              <a:rPr lang="en-US" sz="4000" i="1" dirty="0"/>
              <a:t> </a:t>
            </a:r>
            <a:r>
              <a:rPr lang="en-US" sz="4000" i="1" dirty="0" err="1"/>
              <a:t>relatii</a:t>
            </a:r>
            <a:r>
              <a:rPr lang="en-US" sz="4000" i="1" dirty="0"/>
              <a:t> </a:t>
            </a:r>
            <a:r>
              <a:rPr lang="en-US" sz="4000" i="1" dirty="0" err="1"/>
              <a:t>cauzale</a:t>
            </a:r>
            <a:r>
              <a:rPr lang="en-US" sz="4000" i="1" dirty="0"/>
              <a:t> din </a:t>
            </a:r>
            <a:r>
              <a:rPr lang="en-US" sz="4000" i="1" dirty="0" err="1"/>
              <a:t>realitate</a:t>
            </a:r>
            <a:r>
              <a:rPr lang="en-US" sz="4000" i="1" dirty="0"/>
              <a:t> </a:t>
            </a:r>
            <a:r>
              <a:rPr lang="en-US" sz="4000" i="1" dirty="0" err="1"/>
              <a:t>si</a:t>
            </a:r>
            <a:r>
              <a:rPr lang="en-US" sz="4000" i="1" dirty="0"/>
              <a:t> a </a:t>
            </a:r>
            <a:r>
              <a:rPr lang="en-US" sz="4000" i="1" dirty="0" err="1"/>
              <a:t>elaborarii</a:t>
            </a:r>
            <a:r>
              <a:rPr lang="en-US" sz="4000" i="1" dirty="0"/>
              <a:t> </a:t>
            </a:r>
            <a:r>
              <a:rPr lang="en-US" sz="4000" i="1" dirty="0" err="1"/>
              <a:t>unor</a:t>
            </a:r>
            <a:r>
              <a:rPr lang="en-US" sz="4000" i="1" dirty="0"/>
              <a:t> </a:t>
            </a:r>
            <a:r>
              <a:rPr lang="en-US" sz="4000" i="1" dirty="0" err="1"/>
              <a:t>concepte</a:t>
            </a:r>
            <a:r>
              <a:rPr lang="en-US" sz="4000" i="1" dirty="0"/>
              <a:t>, </a:t>
            </a:r>
            <a:r>
              <a:rPr lang="en-US" sz="4000" i="1" dirty="0" err="1"/>
              <a:t>notiuni,teorii,sisteme</a:t>
            </a:r>
            <a:r>
              <a:rPr lang="en-US" sz="4000" i="1" dirty="0"/>
              <a:t> cognitive ca </a:t>
            </a:r>
            <a:r>
              <a:rPr lang="en-US" sz="4000" i="1" dirty="0" err="1"/>
              <a:t>modele</a:t>
            </a:r>
            <a:r>
              <a:rPr lang="en-US" sz="4000" i="1" dirty="0"/>
              <a:t> </a:t>
            </a:r>
            <a:r>
              <a:rPr lang="en-US" sz="4000" i="1" dirty="0" err="1"/>
              <a:t>mintale</a:t>
            </a:r>
            <a:r>
              <a:rPr lang="en-US" sz="4000" i="1" dirty="0"/>
              <a:t> ale </a:t>
            </a:r>
            <a:r>
              <a:rPr lang="en-US" sz="4000" i="1" dirty="0" err="1"/>
              <a:t>realitatii</a:t>
            </a:r>
            <a:r>
              <a:rPr lang="en-US" sz="4000" i="1" dirty="0"/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Operatiile</a:t>
            </a:r>
            <a:r>
              <a:rPr lang="en-US" dirty="0"/>
              <a:t> </a:t>
            </a:r>
            <a:r>
              <a:rPr lang="en-US" dirty="0" err="1"/>
              <a:t>gandirii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Psihologia</a:t>
            </a:r>
            <a:r>
              <a:rPr lang="en-US" dirty="0"/>
              <a:t> </a:t>
            </a:r>
            <a:r>
              <a:rPr lang="en-US" dirty="0" err="1"/>
              <a:t>studiaza</a:t>
            </a:r>
            <a:r>
              <a:rPr lang="en-US" dirty="0"/>
              <a:t> </a:t>
            </a:r>
            <a:r>
              <a:rPr lang="en-US" dirty="0" err="1"/>
              <a:t>operatiile</a:t>
            </a:r>
            <a:r>
              <a:rPr lang="en-US" dirty="0"/>
              <a:t> </a:t>
            </a:r>
            <a:r>
              <a:rPr lang="en-US" dirty="0" err="1"/>
              <a:t>gandirii</a:t>
            </a:r>
            <a:r>
              <a:rPr lang="en-US" dirty="0"/>
              <a:t> ca </a:t>
            </a:r>
            <a:r>
              <a:rPr lang="en-US" dirty="0" err="1"/>
              <a:t>instrumente</a:t>
            </a:r>
            <a:r>
              <a:rPr lang="en-US" dirty="0"/>
              <a:t> </a:t>
            </a:r>
            <a:r>
              <a:rPr lang="en-US" dirty="0" err="1"/>
              <a:t>psihice</a:t>
            </a:r>
            <a:r>
              <a:rPr lang="en-US" dirty="0"/>
              <a:t> </a:t>
            </a:r>
            <a:r>
              <a:rPr lang="en-US" dirty="0" err="1"/>
              <a:t>dobandite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perfectionate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intelectuala,prin</a:t>
            </a:r>
            <a:r>
              <a:rPr lang="en-US" dirty="0"/>
              <a:t> </a:t>
            </a:r>
            <a:r>
              <a:rPr lang="en-US" dirty="0" err="1"/>
              <a:t>invatare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exercitiu</a:t>
            </a:r>
            <a:r>
              <a:rPr lang="en-US" dirty="0"/>
              <a:t>. </a:t>
            </a:r>
            <a:r>
              <a:rPr lang="en-US" dirty="0" err="1"/>
              <a:t>Operatiile</a:t>
            </a:r>
            <a:r>
              <a:rPr lang="en-US" dirty="0"/>
              <a:t>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actioneaza</a:t>
            </a:r>
            <a:r>
              <a:rPr lang="en-US" dirty="0"/>
              <a:t> in </a:t>
            </a:r>
            <a:r>
              <a:rPr lang="en-US" dirty="0" err="1"/>
              <a:t>cupluri</a:t>
            </a:r>
            <a:r>
              <a:rPr lang="en-US" dirty="0"/>
              <a:t> </a:t>
            </a:r>
            <a:r>
              <a:rPr lang="en-US" dirty="0" err="1"/>
              <a:t>operatorii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se </a:t>
            </a:r>
            <a:r>
              <a:rPr lang="en-US" dirty="0" err="1"/>
              <a:t>completeaza</a:t>
            </a:r>
            <a:r>
              <a:rPr lang="en-US" dirty="0"/>
              <a:t> </a:t>
            </a:r>
            <a:r>
              <a:rPr lang="en-US" dirty="0" err="1"/>
              <a:t>reciproc</a:t>
            </a:r>
            <a:r>
              <a:rPr lang="en-US" dirty="0"/>
              <a:t>: </a:t>
            </a:r>
            <a:r>
              <a:rPr lang="en-US" dirty="0" err="1"/>
              <a:t>analiza</a:t>
            </a:r>
            <a:r>
              <a:rPr lang="en-US" dirty="0"/>
              <a:t>- </a:t>
            </a:r>
            <a:r>
              <a:rPr lang="en-US" dirty="0" err="1"/>
              <a:t>sinteza,abstractizarea-generalizarea</a:t>
            </a:r>
            <a:r>
              <a:rPr lang="en-US" dirty="0"/>
              <a:t>, </a:t>
            </a:r>
            <a:r>
              <a:rPr lang="en-US" dirty="0" err="1"/>
              <a:t>inductia-deductia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 err="1"/>
              <a:t>Analiza</a:t>
            </a:r>
            <a:r>
              <a:rPr lang="en-US" i="1" dirty="0"/>
              <a:t> </a:t>
            </a:r>
            <a:r>
              <a:rPr lang="en-US" i="1" dirty="0" err="1"/>
              <a:t>si</a:t>
            </a:r>
            <a:r>
              <a:rPr lang="en-US" i="1" dirty="0"/>
              <a:t> </a:t>
            </a:r>
            <a:r>
              <a:rPr lang="en-US" i="1" dirty="0" err="1"/>
              <a:t>sinteza</a:t>
            </a:r>
            <a:r>
              <a:rPr lang="en-US" i="1" dirty="0"/>
              <a:t> </a:t>
            </a:r>
            <a:r>
              <a:rPr lang="en-US" dirty="0" err="1"/>
              <a:t>isi</a:t>
            </a:r>
            <a:r>
              <a:rPr lang="en-US" dirty="0"/>
              <a:t> au </a:t>
            </a:r>
            <a:r>
              <a:rPr lang="en-US" dirty="0" err="1"/>
              <a:t>originile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precedate</a:t>
            </a:r>
            <a:r>
              <a:rPr lang="en-US" dirty="0"/>
              <a:t> de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sinteza</a:t>
            </a:r>
            <a:r>
              <a:rPr lang="en-US" dirty="0"/>
              <a:t> </a:t>
            </a:r>
            <a:r>
              <a:rPr lang="en-US" dirty="0" err="1"/>
              <a:t>perceptiva.Analiza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sinteza</a:t>
            </a:r>
            <a:r>
              <a:rPr lang="en-US" dirty="0"/>
              <a:t> de tip </a:t>
            </a:r>
            <a:r>
              <a:rPr lang="en-US" dirty="0" err="1"/>
              <a:t>cognitiv</a:t>
            </a:r>
            <a:r>
              <a:rPr lang="en-US" dirty="0"/>
              <a:t> se </a:t>
            </a:r>
            <a:r>
              <a:rPr lang="en-US" dirty="0" err="1"/>
              <a:t>desfasoara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plan </a:t>
            </a:r>
            <a:r>
              <a:rPr lang="en-US" dirty="0" err="1"/>
              <a:t>mintal,dupa</a:t>
            </a:r>
            <a:r>
              <a:rPr lang="en-US" dirty="0"/>
              <a:t> un model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mediate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cuvant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de </a:t>
            </a:r>
            <a:r>
              <a:rPr lang="en-US" dirty="0" err="1"/>
              <a:t>semne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simboluri</a:t>
            </a:r>
            <a:r>
              <a:rPr lang="en-US" dirty="0"/>
              <a:t>.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, </a:t>
            </a:r>
            <a:r>
              <a:rPr lang="en-US" dirty="0" err="1"/>
              <a:t>insusirile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ale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separate,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descompuse</a:t>
            </a:r>
            <a:r>
              <a:rPr lang="en-US" dirty="0"/>
              <a:t> mental cu </a:t>
            </a:r>
            <a:r>
              <a:rPr lang="en-US" dirty="0" err="1"/>
              <a:t>scopul</a:t>
            </a:r>
            <a:r>
              <a:rPr lang="en-US" dirty="0"/>
              <a:t> de a </a:t>
            </a:r>
            <a:r>
              <a:rPr lang="en-US" dirty="0" err="1"/>
              <a:t>extrage</a:t>
            </a:r>
            <a:r>
              <a:rPr lang="en-US" dirty="0"/>
              <a:t> </a:t>
            </a:r>
            <a:r>
              <a:rPr lang="en-US" dirty="0" err="1"/>
              <a:t>acele</a:t>
            </a:r>
            <a:r>
              <a:rPr lang="en-US" dirty="0"/>
              <a:t> </a:t>
            </a:r>
            <a:r>
              <a:rPr lang="en-US" dirty="0" err="1"/>
              <a:t>trasaturi</a:t>
            </a:r>
            <a:r>
              <a:rPr lang="en-US" dirty="0"/>
              <a:t> </a:t>
            </a:r>
            <a:r>
              <a:rPr lang="en-US" dirty="0" err="1"/>
              <a:t>esentiale</a:t>
            </a:r>
            <a:r>
              <a:rPr lang="en-US" dirty="0"/>
              <a:t>.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se </a:t>
            </a:r>
            <a:r>
              <a:rPr lang="en-US" dirty="0" err="1"/>
              <a:t>releva</a:t>
            </a:r>
            <a:r>
              <a:rPr lang="en-US" dirty="0"/>
              <a:t> </a:t>
            </a:r>
            <a:r>
              <a:rPr lang="en-US" dirty="0" err="1"/>
              <a:t>semnificatia</a:t>
            </a:r>
            <a:r>
              <a:rPr lang="en-US" dirty="0"/>
              <a:t> </a:t>
            </a:r>
            <a:r>
              <a:rPr lang="en-US" dirty="0" err="1"/>
              <a:t>fiecarui</a:t>
            </a:r>
            <a:r>
              <a:rPr lang="en-US" dirty="0"/>
              <a:t> element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intreg</a:t>
            </a:r>
            <a:r>
              <a:rPr lang="en-US" dirty="0"/>
              <a:t>. </a:t>
            </a:r>
            <a:r>
              <a:rPr lang="en-US" dirty="0" err="1"/>
              <a:t>Sinteza</a:t>
            </a:r>
            <a:r>
              <a:rPr lang="en-US" dirty="0"/>
              <a:t> vine in </a:t>
            </a:r>
            <a:r>
              <a:rPr lang="en-US" dirty="0" err="1"/>
              <a:t>continuarea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completarea</a:t>
            </a:r>
            <a:r>
              <a:rPr lang="en-US" dirty="0"/>
              <a:t> </a:t>
            </a:r>
            <a:r>
              <a:rPr lang="en-US" dirty="0" err="1"/>
              <a:t>analizei</a:t>
            </a:r>
            <a:r>
              <a:rPr lang="en-US" dirty="0"/>
              <a:t>, ea </a:t>
            </a:r>
            <a:r>
              <a:rPr lang="en-US" dirty="0" err="1"/>
              <a:t>recompune</a:t>
            </a:r>
            <a:r>
              <a:rPr lang="en-US" dirty="0"/>
              <a:t> </a:t>
            </a:r>
            <a:r>
              <a:rPr lang="en-US" dirty="0" err="1"/>
              <a:t>mintal</a:t>
            </a:r>
            <a:r>
              <a:rPr lang="en-US" dirty="0"/>
              <a:t> </a:t>
            </a:r>
            <a:r>
              <a:rPr lang="en-US" dirty="0" err="1"/>
              <a:t>obiectul</a:t>
            </a:r>
            <a:r>
              <a:rPr lang="en-US" dirty="0"/>
              <a:t> din </a:t>
            </a:r>
            <a:r>
              <a:rPr lang="en-US" dirty="0" err="1"/>
              <a:t>elementele</a:t>
            </a:r>
            <a:r>
              <a:rPr lang="en-US" dirty="0"/>
              <a:t> </a:t>
            </a:r>
            <a:r>
              <a:rPr lang="en-US" dirty="0" err="1"/>
              <a:t>esentiale</a:t>
            </a:r>
            <a:r>
              <a:rPr lang="en-US" dirty="0"/>
              <a:t> care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descoperite</a:t>
            </a:r>
            <a:r>
              <a:rPr lang="en-US" dirty="0"/>
              <a:t> in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procesului</a:t>
            </a:r>
            <a:r>
              <a:rPr lang="en-US" dirty="0"/>
              <a:t> </a:t>
            </a:r>
            <a:r>
              <a:rPr lang="en-US" dirty="0" err="1"/>
              <a:t>analitic</a:t>
            </a:r>
            <a:r>
              <a:rPr lang="en-US" dirty="0"/>
              <a:t>.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separa</a:t>
            </a:r>
            <a:r>
              <a:rPr lang="en-US" dirty="0"/>
              <a:t> </a:t>
            </a:r>
            <a:r>
              <a:rPr lang="en-US" dirty="0" err="1"/>
              <a:t>necesarul</a:t>
            </a:r>
            <a:r>
              <a:rPr lang="en-US" dirty="0"/>
              <a:t> de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intamplator</a:t>
            </a:r>
            <a:r>
              <a:rPr lang="en-US" dirty="0"/>
              <a:t>, </a:t>
            </a:r>
            <a:r>
              <a:rPr lang="en-US" dirty="0" err="1"/>
              <a:t>semnificativul</a:t>
            </a:r>
            <a:r>
              <a:rPr lang="en-US" dirty="0"/>
              <a:t> de </a:t>
            </a:r>
            <a:r>
              <a:rPr lang="en-US" dirty="0" err="1"/>
              <a:t>nesemnificativ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sinteza</a:t>
            </a:r>
            <a:r>
              <a:rPr lang="en-US" dirty="0"/>
              <a:t> </a:t>
            </a:r>
            <a:r>
              <a:rPr lang="en-US" dirty="0" err="1"/>
              <a:t>utilizeaza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construi</a:t>
            </a:r>
            <a:r>
              <a:rPr lang="en-US" dirty="0"/>
              <a:t> un </a:t>
            </a:r>
            <a:r>
              <a:rPr lang="en-US" dirty="0" err="1"/>
              <a:t>intreg</a:t>
            </a:r>
            <a:r>
              <a:rPr lang="en-US" dirty="0"/>
              <a:t> cu </a:t>
            </a:r>
            <a:r>
              <a:rPr lang="en-US" dirty="0" err="1"/>
              <a:t>sens,care</a:t>
            </a:r>
            <a:r>
              <a:rPr lang="en-US" dirty="0"/>
              <a:t> </a:t>
            </a:r>
            <a:r>
              <a:rPr lang="en-US" dirty="0" err="1"/>
              <a:t>beneficiaza</a:t>
            </a:r>
            <a:r>
              <a:rPr lang="en-US" dirty="0"/>
              <a:t> de </a:t>
            </a:r>
            <a:r>
              <a:rPr lang="en-US" dirty="0" err="1"/>
              <a:t>legi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de </a:t>
            </a:r>
            <a:r>
              <a:rPr lang="en-US" dirty="0" err="1"/>
              <a:t>structurare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</a:t>
            </a:r>
            <a:r>
              <a:rPr lang="en-US" dirty="0" err="1"/>
              <a:t>evolutie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>
            <a:off x="5029200" y="-1142999"/>
            <a:ext cx="3657600" cy="5334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81000"/>
            <a:ext cx="8763000" cy="5135563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 </a:t>
            </a:r>
            <a:r>
              <a:rPr lang="en-US" i="1" dirty="0" err="1"/>
              <a:t>Comparatia</a:t>
            </a:r>
            <a:r>
              <a:rPr lang="en-US" i="1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operatia</a:t>
            </a:r>
            <a:r>
              <a:rPr lang="en-US" dirty="0"/>
              <a:t> de </a:t>
            </a:r>
            <a:r>
              <a:rPr lang="en-US" dirty="0" err="1"/>
              <a:t>evaluare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raportare</a:t>
            </a:r>
            <a:r>
              <a:rPr lang="en-US" dirty="0"/>
              <a:t> la </a:t>
            </a:r>
            <a:r>
              <a:rPr lang="en-US" dirty="0" err="1"/>
              <a:t>unul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criterii</a:t>
            </a:r>
            <a:r>
              <a:rPr lang="en-US" dirty="0"/>
              <a:t>. </a:t>
            </a:r>
            <a:r>
              <a:rPr lang="en-US" dirty="0" err="1"/>
              <a:t>Comparatia</a:t>
            </a:r>
            <a:r>
              <a:rPr lang="en-US" dirty="0"/>
              <a:t> </a:t>
            </a:r>
            <a:r>
              <a:rPr lang="en-US" dirty="0" err="1"/>
              <a:t>implica</a:t>
            </a:r>
            <a:r>
              <a:rPr lang="en-US" dirty="0"/>
              <a:t> </a:t>
            </a:r>
            <a:r>
              <a:rPr lang="en-US" dirty="0" err="1"/>
              <a:t>evidentierea</a:t>
            </a:r>
            <a:r>
              <a:rPr lang="en-US" dirty="0"/>
              <a:t> </a:t>
            </a:r>
            <a:r>
              <a:rPr lang="en-US" dirty="0" err="1"/>
              <a:t>asemanarilor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deosebirilor</a:t>
            </a:r>
            <a:r>
              <a:rPr lang="en-US" dirty="0"/>
              <a:t> </a:t>
            </a:r>
            <a:r>
              <a:rPr lang="en-US" dirty="0" err="1"/>
              <a:t>esentiale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minimum 2 </a:t>
            </a:r>
            <a:r>
              <a:rPr lang="en-US" dirty="0" err="1"/>
              <a:t>obiecte</a:t>
            </a:r>
            <a:r>
              <a:rPr lang="en-US" dirty="0"/>
              <a:t>, </a:t>
            </a:r>
            <a:r>
              <a:rPr lang="en-US" dirty="0" err="1"/>
              <a:t>persoane</a:t>
            </a:r>
            <a:r>
              <a:rPr lang="en-US" dirty="0"/>
              <a:t>, </a:t>
            </a:r>
            <a:r>
              <a:rPr lang="en-US" dirty="0" err="1"/>
              <a:t>evenimente</a:t>
            </a:r>
            <a:r>
              <a:rPr lang="en-US" dirty="0"/>
              <a:t>, </a:t>
            </a:r>
            <a:r>
              <a:rPr lang="en-US" dirty="0" err="1"/>
              <a:t>situatii</a:t>
            </a:r>
            <a:r>
              <a:rPr lang="en-US" dirty="0"/>
              <a:t>, </a:t>
            </a:r>
            <a:r>
              <a:rPr lang="en-US" dirty="0" err="1"/>
              <a:t>fenomene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minimum un </a:t>
            </a:r>
            <a:r>
              <a:rPr lang="en-US" dirty="0" err="1"/>
              <a:t>criteriu</a:t>
            </a:r>
            <a:r>
              <a:rPr lang="en-US" dirty="0"/>
              <a:t> </a:t>
            </a:r>
            <a:r>
              <a:rPr lang="en-US" dirty="0" err="1"/>
              <a:t>comun</a:t>
            </a:r>
            <a:r>
              <a:rPr lang="en-US" dirty="0"/>
              <a:t>. In plan </a:t>
            </a:r>
            <a:r>
              <a:rPr lang="en-US" dirty="0" err="1"/>
              <a:t>cognitiv</a:t>
            </a:r>
            <a:r>
              <a:rPr lang="en-US" dirty="0"/>
              <a:t>, </a:t>
            </a:r>
            <a:r>
              <a:rPr lang="en-US" dirty="0" err="1"/>
              <a:t>comparatia</a:t>
            </a:r>
            <a:r>
              <a:rPr lang="en-US" dirty="0"/>
              <a:t> se </a:t>
            </a:r>
            <a:r>
              <a:rPr lang="en-US" dirty="0" err="1"/>
              <a:t>desfasoara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un plan </a:t>
            </a:r>
            <a:r>
              <a:rPr lang="en-US" dirty="0" err="1"/>
              <a:t>si</a:t>
            </a:r>
            <a:r>
              <a:rPr lang="en-US" dirty="0"/>
              <a:t> are o </a:t>
            </a:r>
            <a:r>
              <a:rPr lang="en-US" dirty="0" err="1"/>
              <a:t>anumita</a:t>
            </a:r>
            <a:r>
              <a:rPr lang="en-US" dirty="0"/>
              <a:t> </a:t>
            </a:r>
            <a:r>
              <a:rPr lang="en-US" dirty="0" err="1"/>
              <a:t>finalitate</a:t>
            </a:r>
            <a:r>
              <a:rPr lang="en-US" dirty="0"/>
              <a:t>.-&gt; </a:t>
            </a:r>
            <a:r>
              <a:rPr lang="en-US" dirty="0" err="1"/>
              <a:t>operatiile</a:t>
            </a:r>
            <a:r>
              <a:rPr lang="en-US" dirty="0"/>
              <a:t> de </a:t>
            </a:r>
            <a:r>
              <a:rPr lang="en-US" dirty="0" err="1"/>
              <a:t>analiza,sinteza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comparatie</a:t>
            </a:r>
            <a:r>
              <a:rPr lang="en-US" dirty="0"/>
              <a:t> </a:t>
            </a:r>
            <a:r>
              <a:rPr lang="en-US" dirty="0" err="1"/>
              <a:t>constituie</a:t>
            </a:r>
            <a:r>
              <a:rPr lang="en-US" dirty="0"/>
              <a:t> </a:t>
            </a:r>
            <a:r>
              <a:rPr lang="en-US" dirty="0" err="1"/>
              <a:t>instrumente</a:t>
            </a:r>
            <a:r>
              <a:rPr lang="en-US" dirty="0"/>
              <a:t> </a:t>
            </a:r>
            <a:r>
              <a:rPr lang="en-US" dirty="0" err="1"/>
              <a:t>mintale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ales in </a:t>
            </a:r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ascendenta</a:t>
            </a:r>
            <a:r>
              <a:rPr lang="en-US" dirty="0"/>
              <a:t>, </a:t>
            </a:r>
            <a:r>
              <a:rPr lang="en-US" dirty="0" err="1"/>
              <a:t>dirijata</a:t>
            </a:r>
            <a:r>
              <a:rPr lang="en-US" dirty="0"/>
              <a:t> de date.</a:t>
            </a:r>
            <a:endParaRPr lang="en-US" i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>
            <a:off x="7848600" y="-2286000"/>
            <a:ext cx="3276600" cy="6096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6629400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 err="1"/>
              <a:t>Abstractizarea</a:t>
            </a:r>
            <a:r>
              <a:rPr lang="en-US" i="1" dirty="0"/>
              <a:t> </a:t>
            </a:r>
            <a:r>
              <a:rPr lang="en-US" i="1" dirty="0" err="1"/>
              <a:t>si</a:t>
            </a:r>
            <a:r>
              <a:rPr lang="en-US" i="1" dirty="0"/>
              <a:t> </a:t>
            </a:r>
            <a:r>
              <a:rPr lang="en-US" i="1" dirty="0" err="1"/>
              <a:t>generalizarea</a:t>
            </a:r>
            <a:r>
              <a:rPr lang="en-US" i="1" dirty="0"/>
              <a:t> </a:t>
            </a:r>
            <a:r>
              <a:rPr lang="en-US" dirty="0" err="1"/>
              <a:t>constituie</a:t>
            </a:r>
            <a:r>
              <a:rPr lang="en-US" dirty="0"/>
              <a:t> </a:t>
            </a:r>
            <a:r>
              <a:rPr lang="en-US" dirty="0" err="1"/>
              <a:t>operatiile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complexe</a:t>
            </a:r>
            <a:r>
              <a:rPr lang="en-US" dirty="0"/>
              <a:t> ale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au un </a:t>
            </a:r>
            <a:r>
              <a:rPr lang="en-US" dirty="0" err="1"/>
              <a:t>carcter</a:t>
            </a:r>
            <a:r>
              <a:rPr lang="en-US" dirty="0"/>
              <a:t> formal, se </a:t>
            </a:r>
            <a:r>
              <a:rPr lang="en-US" dirty="0" err="1"/>
              <a:t>desfasoara</a:t>
            </a:r>
            <a:r>
              <a:rPr lang="en-US" dirty="0"/>
              <a:t> </a:t>
            </a:r>
            <a:r>
              <a:rPr lang="en-US" dirty="0" err="1"/>
              <a:t>exclusiv</a:t>
            </a:r>
            <a:r>
              <a:rPr lang="en-US" dirty="0"/>
              <a:t> in plan </a:t>
            </a:r>
            <a:r>
              <a:rPr lang="en-US" dirty="0" err="1"/>
              <a:t>mintal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tipice</a:t>
            </a:r>
            <a:r>
              <a:rPr lang="en-US" dirty="0"/>
              <a:t> pt </a:t>
            </a:r>
            <a:r>
              <a:rPr lang="en-US" dirty="0" err="1"/>
              <a:t>procesarea</a:t>
            </a:r>
            <a:r>
              <a:rPr lang="en-US" dirty="0"/>
              <a:t> de tip </a:t>
            </a:r>
            <a:r>
              <a:rPr lang="en-US" dirty="0" err="1"/>
              <a:t>descendent.In</a:t>
            </a:r>
            <a:r>
              <a:rPr lang="en-US" dirty="0"/>
              <a:t> </a:t>
            </a:r>
            <a:r>
              <a:rPr lang="en-US" dirty="0" err="1"/>
              <a:t>gandire</a:t>
            </a:r>
            <a:r>
              <a:rPr lang="en-US" dirty="0"/>
              <a:t>, </a:t>
            </a:r>
            <a:r>
              <a:rPr lang="en-US" dirty="0" err="1"/>
              <a:t>selectivitatea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maximala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abstractizare</a:t>
            </a:r>
            <a:r>
              <a:rPr lang="en-US" dirty="0"/>
              <a:t>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generalizarea</a:t>
            </a:r>
            <a:r>
              <a:rPr lang="en-US" dirty="0"/>
              <a:t> se </a:t>
            </a:r>
            <a:r>
              <a:rPr lang="en-US" dirty="0" err="1"/>
              <a:t>refera</a:t>
            </a:r>
            <a:r>
              <a:rPr lang="en-US" dirty="0"/>
              <a:t> la </a:t>
            </a:r>
            <a:r>
              <a:rPr lang="en-US" dirty="0" err="1"/>
              <a:t>clase,categorii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largi</a:t>
            </a:r>
            <a:r>
              <a:rPr lang="en-US" dirty="0"/>
              <a:t> de </a:t>
            </a:r>
            <a:r>
              <a:rPr lang="en-US" dirty="0" err="1"/>
              <a:t>obiecte,fenomene.Abstractizarea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operatia</a:t>
            </a:r>
            <a:r>
              <a:rPr lang="en-US" dirty="0"/>
              <a:t> de </a:t>
            </a:r>
            <a:r>
              <a:rPr lang="en-US" dirty="0" err="1"/>
              <a:t>extragere</a:t>
            </a:r>
            <a:r>
              <a:rPr lang="en-US" dirty="0"/>
              <a:t> a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insusiri</a:t>
            </a:r>
            <a:r>
              <a:rPr lang="en-US" dirty="0"/>
              <a:t> </a:t>
            </a:r>
            <a:r>
              <a:rPr lang="en-US" dirty="0" err="1"/>
              <a:t>esentiale</a:t>
            </a:r>
            <a:r>
              <a:rPr lang="en-US" dirty="0"/>
              <a:t>, a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invarianti</a:t>
            </a:r>
            <a:r>
              <a:rPr lang="en-US" dirty="0"/>
              <a:t> </a:t>
            </a:r>
            <a:r>
              <a:rPr lang="en-US" dirty="0" err="1"/>
              <a:t>cognitivi</a:t>
            </a:r>
            <a:r>
              <a:rPr lang="en-US" dirty="0"/>
              <a:t>, </a:t>
            </a:r>
            <a:r>
              <a:rPr lang="en-US" dirty="0" err="1"/>
              <a:t>insusiri</a:t>
            </a:r>
            <a:r>
              <a:rPr lang="en-US" dirty="0"/>
              <a:t> </a:t>
            </a:r>
            <a:r>
              <a:rPr lang="en-US" dirty="0" err="1"/>
              <a:t>comune</a:t>
            </a:r>
            <a:r>
              <a:rPr lang="en-US" dirty="0"/>
              <a:t> pt o </a:t>
            </a:r>
            <a:r>
              <a:rPr lang="en-US" dirty="0" err="1"/>
              <a:t>intreaga</a:t>
            </a:r>
            <a:r>
              <a:rPr lang="en-US" dirty="0"/>
              <a:t> </a:t>
            </a:r>
            <a:r>
              <a:rPr lang="en-US" dirty="0" err="1"/>
              <a:t>clasa,categorie.Operatia</a:t>
            </a:r>
            <a:r>
              <a:rPr lang="en-US" dirty="0"/>
              <a:t> de </a:t>
            </a:r>
            <a:r>
              <a:rPr lang="en-US" dirty="0" err="1"/>
              <a:t>abstractizare</a:t>
            </a:r>
            <a:r>
              <a:rPr lang="en-US" dirty="0"/>
              <a:t> </a:t>
            </a:r>
            <a:r>
              <a:rPr lang="en-US" dirty="0" err="1"/>
              <a:t>exprima</a:t>
            </a:r>
            <a:r>
              <a:rPr lang="en-US" dirty="0"/>
              <a:t> </a:t>
            </a:r>
            <a:r>
              <a:rPr lang="en-US" dirty="0" err="1"/>
              <a:t>simultan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sensuri:pe</a:t>
            </a:r>
            <a:r>
              <a:rPr lang="en-US" dirty="0"/>
              <a:t> de o parte se </a:t>
            </a:r>
            <a:r>
              <a:rPr lang="en-US" dirty="0" err="1"/>
              <a:t>extrage</a:t>
            </a:r>
            <a:r>
              <a:rPr lang="en-US" dirty="0"/>
              <a:t> </a:t>
            </a:r>
            <a:r>
              <a:rPr lang="en-US" dirty="0" err="1"/>
              <a:t>ceva</a:t>
            </a:r>
            <a:r>
              <a:rPr lang="en-US" dirty="0"/>
              <a:t> </a:t>
            </a:r>
            <a:r>
              <a:rPr lang="en-US" dirty="0" err="1"/>
              <a:t>esential</a:t>
            </a:r>
            <a:r>
              <a:rPr lang="en-US" dirty="0"/>
              <a:t>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de </a:t>
            </a:r>
            <a:r>
              <a:rPr lang="en-US" dirty="0" err="1"/>
              <a:t>alta</a:t>
            </a:r>
            <a:r>
              <a:rPr lang="en-US" dirty="0"/>
              <a:t> parte se </a:t>
            </a:r>
            <a:r>
              <a:rPr lang="en-US" dirty="0" err="1"/>
              <a:t>renunt</a:t>
            </a:r>
            <a:r>
              <a:rPr lang="en-US" dirty="0"/>
              <a:t> la tot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nerelevant,accidental,contextual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conjunctural</a:t>
            </a:r>
            <a:r>
              <a:rPr lang="en-US" dirty="0"/>
              <a:t>. </a:t>
            </a:r>
            <a:r>
              <a:rPr lang="en-US" dirty="0" err="1"/>
              <a:t>Generalizarea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operatia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care </a:t>
            </a:r>
            <a:r>
              <a:rPr lang="en-US" dirty="0" err="1"/>
              <a:t>insusirile</a:t>
            </a:r>
            <a:r>
              <a:rPr lang="en-US" dirty="0"/>
              <a:t> </a:t>
            </a:r>
            <a:r>
              <a:rPr lang="en-US" dirty="0" err="1"/>
              <a:t>extrase</a:t>
            </a:r>
            <a:r>
              <a:rPr lang="en-US" dirty="0"/>
              <a:t>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abstractizarii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extinse</a:t>
            </a:r>
            <a:r>
              <a:rPr lang="en-US" dirty="0"/>
              <a:t> la o </a:t>
            </a:r>
            <a:r>
              <a:rPr lang="en-US" dirty="0" err="1"/>
              <a:t>intreaga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de </a:t>
            </a:r>
            <a:r>
              <a:rPr lang="en-US" dirty="0" err="1"/>
              <a:t>obiecte,fenomene</a:t>
            </a:r>
            <a:r>
              <a:rPr lang="en-US" dirty="0"/>
              <a:t>. </a:t>
            </a:r>
            <a:endParaRPr lang="en-US" i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381000"/>
            <a:ext cx="7543800" cy="2286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r>
              <a:rPr lang="en-US" dirty="0" err="1"/>
              <a:t>Opuse</a:t>
            </a:r>
            <a:r>
              <a:rPr lang="en-US" dirty="0"/>
              <a:t> </a:t>
            </a:r>
            <a:r>
              <a:rPr lang="en-US" dirty="0" err="1"/>
              <a:t>abstractizarii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generalizarii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operatiile</a:t>
            </a:r>
            <a:r>
              <a:rPr lang="en-US" dirty="0"/>
              <a:t> de </a:t>
            </a:r>
            <a:r>
              <a:rPr lang="en-US" i="1" dirty="0" err="1"/>
              <a:t>concretizare</a:t>
            </a:r>
            <a:r>
              <a:rPr lang="en-US" i="1" dirty="0"/>
              <a:t> </a:t>
            </a:r>
            <a:r>
              <a:rPr lang="en-US" i="1" dirty="0" err="1"/>
              <a:t>si</a:t>
            </a:r>
            <a:r>
              <a:rPr lang="en-US" i="1" dirty="0"/>
              <a:t> </a:t>
            </a:r>
            <a:r>
              <a:rPr lang="en-US" i="1" dirty="0" err="1"/>
              <a:t>particularizare</a:t>
            </a:r>
            <a:r>
              <a:rPr lang="en-US" i="1" dirty="0"/>
              <a:t> </a:t>
            </a:r>
            <a:r>
              <a:rPr lang="en-US" dirty="0" err="1"/>
              <a:t>Concretizarea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urmeaza</a:t>
            </a:r>
            <a:r>
              <a:rPr lang="en-US" dirty="0"/>
              <a:t> </a:t>
            </a:r>
            <a:r>
              <a:rPr lang="en-US" dirty="0" err="1"/>
              <a:t>abstractizarii</a:t>
            </a:r>
            <a:r>
              <a:rPr lang="en-US" dirty="0"/>
              <a:t> </a:t>
            </a:r>
            <a:r>
              <a:rPr lang="en-US" dirty="0" err="1"/>
              <a:t>defineste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trasaturi</a:t>
            </a:r>
            <a:r>
              <a:rPr lang="en-US" dirty="0"/>
              <a:t> </a:t>
            </a:r>
            <a:r>
              <a:rPr lang="en-US" dirty="0" err="1"/>
              <a:t>esentiale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ideal, </a:t>
            </a:r>
            <a:r>
              <a:rPr lang="en-US" dirty="0" err="1"/>
              <a:t>abstract,ideal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intruneste</a:t>
            </a:r>
            <a:r>
              <a:rPr lang="en-US" dirty="0"/>
              <a:t> </a:t>
            </a:r>
            <a:r>
              <a:rPr lang="en-US" dirty="0" err="1"/>
              <a:t>insusirile</a:t>
            </a:r>
            <a:r>
              <a:rPr lang="en-US" dirty="0"/>
              <a:t> </a:t>
            </a:r>
            <a:r>
              <a:rPr lang="en-US" dirty="0" err="1"/>
              <a:t>esentiale.In</a:t>
            </a:r>
            <a:r>
              <a:rPr lang="en-US" dirty="0"/>
              <a:t> </a:t>
            </a:r>
            <a:r>
              <a:rPr lang="en-US" dirty="0" err="1"/>
              <a:t>acelasi</a:t>
            </a:r>
            <a:r>
              <a:rPr lang="en-US" dirty="0"/>
              <a:t> mod </a:t>
            </a:r>
            <a:r>
              <a:rPr lang="en-US" dirty="0" err="1"/>
              <a:t>opereaza</a:t>
            </a:r>
            <a:r>
              <a:rPr lang="en-US" dirty="0"/>
              <a:t> </a:t>
            </a:r>
            <a:r>
              <a:rPr lang="en-US" dirty="0" err="1"/>
              <a:t>particularizarea.Prototipul</a:t>
            </a:r>
            <a:r>
              <a:rPr lang="en-US" dirty="0"/>
              <a:t> care </a:t>
            </a:r>
            <a:r>
              <a:rPr lang="en-US" dirty="0" err="1"/>
              <a:t>reprezinta</a:t>
            </a:r>
            <a:r>
              <a:rPr lang="en-US" dirty="0"/>
              <a:t> exemplar ideal, un “</a:t>
            </a:r>
            <a:r>
              <a:rPr lang="en-US" dirty="0" err="1"/>
              <a:t>portret</a:t>
            </a:r>
            <a:r>
              <a:rPr lang="en-US" dirty="0"/>
              <a:t>-robot” al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rezultatul</a:t>
            </a:r>
            <a:r>
              <a:rPr lang="en-US" dirty="0"/>
              <a:t> </a:t>
            </a:r>
            <a:r>
              <a:rPr lang="en-US" dirty="0" err="1"/>
              <a:t>acestor</a:t>
            </a:r>
            <a:r>
              <a:rPr lang="en-US" dirty="0"/>
              <a:t> </a:t>
            </a:r>
            <a:r>
              <a:rPr lang="en-US" dirty="0" err="1"/>
              <a:t>operatii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10439400" y="-381000"/>
            <a:ext cx="762000" cy="9144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9067800" cy="6705600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 err="1"/>
              <a:t>Inductia</a:t>
            </a:r>
            <a:r>
              <a:rPr lang="en-US" i="1" dirty="0"/>
              <a:t> </a:t>
            </a:r>
            <a:r>
              <a:rPr lang="en-US" i="1" dirty="0" err="1"/>
              <a:t>si</a:t>
            </a:r>
            <a:r>
              <a:rPr lang="en-US" i="1" dirty="0"/>
              <a:t> </a:t>
            </a:r>
            <a:r>
              <a:rPr lang="en-US" i="1" dirty="0" err="1"/>
              <a:t>deductia</a:t>
            </a:r>
            <a:r>
              <a:rPr lang="en-US" i="1" dirty="0"/>
              <a:t> </a:t>
            </a:r>
            <a:r>
              <a:rPr lang="en-US" dirty="0"/>
              <a:t>-&gt;</a:t>
            </a:r>
            <a:r>
              <a:rPr lang="en-US" dirty="0" err="1"/>
              <a:t>operatiile</a:t>
            </a:r>
            <a:r>
              <a:rPr lang="en-US" dirty="0"/>
              <a:t> care </a:t>
            </a:r>
            <a:r>
              <a:rPr lang="en-US" dirty="0" err="1"/>
              <a:t>descriu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bine</a:t>
            </a:r>
            <a:r>
              <a:rPr lang="en-US" dirty="0"/>
              <a:t> </a:t>
            </a:r>
            <a:r>
              <a:rPr lang="en-US" dirty="0" err="1"/>
              <a:t>evolutia</a:t>
            </a:r>
            <a:r>
              <a:rPr lang="en-US" dirty="0"/>
              <a:t>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verticala</a:t>
            </a:r>
            <a:r>
              <a:rPr lang="en-US" dirty="0"/>
              <a:t> </a:t>
            </a:r>
            <a:r>
              <a:rPr lang="en-US" dirty="0" err="1"/>
              <a:t>cunoasterii.J.Piaget</a:t>
            </a:r>
            <a:r>
              <a:rPr lang="en-US" dirty="0"/>
              <a:t> </a:t>
            </a:r>
            <a:r>
              <a:rPr lang="en-US" dirty="0" err="1"/>
              <a:t>arata</a:t>
            </a:r>
            <a:r>
              <a:rPr lang="en-US" dirty="0"/>
              <a:t> ca </a:t>
            </a:r>
            <a:r>
              <a:rPr lang="en-US" dirty="0" err="1"/>
              <a:t>inductia</a:t>
            </a:r>
            <a:r>
              <a:rPr lang="en-US" dirty="0"/>
              <a:t> </a:t>
            </a:r>
            <a:r>
              <a:rPr lang="en-US" dirty="0" err="1"/>
              <a:t>organizeaza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observatiei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experientei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le </a:t>
            </a:r>
            <a:r>
              <a:rPr lang="en-US" dirty="0" err="1"/>
              <a:t>claseaza</a:t>
            </a:r>
            <a:r>
              <a:rPr lang="en-US" dirty="0"/>
              <a:t> sub forma de </a:t>
            </a:r>
            <a:r>
              <a:rPr lang="en-US" dirty="0" err="1"/>
              <a:t>concepte.Inductia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suportul</a:t>
            </a:r>
            <a:r>
              <a:rPr lang="en-US" dirty="0"/>
              <a:t> logic al </a:t>
            </a:r>
            <a:r>
              <a:rPr lang="en-US" dirty="0" err="1"/>
              <a:t>procesarii</a:t>
            </a:r>
            <a:r>
              <a:rPr lang="en-US" dirty="0"/>
              <a:t> </a:t>
            </a:r>
            <a:r>
              <a:rPr lang="en-US" dirty="0" err="1"/>
              <a:t>ascendente</a:t>
            </a:r>
            <a:r>
              <a:rPr lang="en-US" dirty="0"/>
              <a:t>. </a:t>
            </a:r>
            <a:r>
              <a:rPr lang="en-US" dirty="0" err="1"/>
              <a:t>Inductia</a:t>
            </a:r>
            <a:r>
              <a:rPr lang="en-US" dirty="0"/>
              <a:t> are un </a:t>
            </a:r>
            <a:r>
              <a:rPr lang="en-US" dirty="0" err="1"/>
              <a:t>caracter</a:t>
            </a:r>
            <a:r>
              <a:rPr lang="en-US" dirty="0"/>
              <a:t> </a:t>
            </a:r>
            <a:r>
              <a:rPr lang="en-US" dirty="0" err="1"/>
              <a:t>profund</a:t>
            </a:r>
            <a:r>
              <a:rPr lang="en-US" dirty="0"/>
              <a:t> </a:t>
            </a:r>
            <a:r>
              <a:rPr lang="en-US" dirty="0" err="1"/>
              <a:t>intuitiv</a:t>
            </a:r>
            <a:r>
              <a:rPr lang="en-US" dirty="0"/>
              <a:t>; are un </a:t>
            </a:r>
            <a:r>
              <a:rPr lang="en-US" dirty="0" err="1"/>
              <a:t>caracter</a:t>
            </a:r>
            <a:r>
              <a:rPr lang="en-US" dirty="0"/>
              <a:t> </a:t>
            </a:r>
            <a:r>
              <a:rPr lang="en-US" dirty="0" err="1"/>
              <a:t>probabilist</a:t>
            </a:r>
            <a:r>
              <a:rPr lang="en-US" dirty="0"/>
              <a:t>. </a:t>
            </a:r>
            <a:r>
              <a:rPr lang="en-US" dirty="0" err="1"/>
              <a:t>Deductia</a:t>
            </a:r>
            <a:r>
              <a:rPr lang="en-US" dirty="0"/>
              <a:t> </a:t>
            </a:r>
            <a:r>
              <a:rPr lang="en-US" dirty="0" err="1"/>
              <a:t>descrie</a:t>
            </a:r>
            <a:r>
              <a:rPr lang="en-US" dirty="0"/>
              <a:t> </a:t>
            </a:r>
            <a:r>
              <a:rPr lang="en-US" dirty="0" err="1"/>
              <a:t>demersul</a:t>
            </a:r>
            <a:r>
              <a:rPr lang="en-US" dirty="0"/>
              <a:t> descendent al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verticala</a:t>
            </a:r>
            <a:r>
              <a:rPr lang="en-US" dirty="0"/>
              <a:t> </a:t>
            </a:r>
            <a:r>
              <a:rPr lang="en-US" dirty="0" err="1"/>
              <a:t>cunoasterii.Rationamentul</a:t>
            </a:r>
            <a:r>
              <a:rPr lang="en-US" dirty="0"/>
              <a:t> </a:t>
            </a:r>
            <a:r>
              <a:rPr lang="en-US" dirty="0" err="1"/>
              <a:t>deductiv</a:t>
            </a:r>
            <a:r>
              <a:rPr lang="en-US" dirty="0"/>
              <a:t> </a:t>
            </a:r>
            <a:r>
              <a:rPr lang="en-US" dirty="0" err="1"/>
              <a:t>porneste</a:t>
            </a:r>
            <a:r>
              <a:rPr lang="en-US" dirty="0"/>
              <a:t> de la general,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inferente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implicatii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ajunge</a:t>
            </a:r>
            <a:r>
              <a:rPr lang="en-US" dirty="0"/>
              <a:t> la </a:t>
            </a:r>
            <a:r>
              <a:rPr lang="en-US" dirty="0" err="1"/>
              <a:t>cazuri</a:t>
            </a:r>
            <a:r>
              <a:rPr lang="en-US" dirty="0"/>
              <a:t> </a:t>
            </a:r>
            <a:r>
              <a:rPr lang="en-US" dirty="0" err="1"/>
              <a:t>particulare.Expresia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 a </a:t>
            </a:r>
            <a:r>
              <a:rPr lang="en-US" dirty="0" err="1"/>
              <a:t>rationamentului</a:t>
            </a:r>
            <a:r>
              <a:rPr lang="en-US" dirty="0"/>
              <a:t> </a:t>
            </a:r>
            <a:r>
              <a:rPr lang="en-US" dirty="0" err="1"/>
              <a:t>deductic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silogismul</a:t>
            </a:r>
            <a:r>
              <a:rPr lang="en-US" dirty="0"/>
              <a:t>: </a:t>
            </a:r>
            <a:r>
              <a:rPr lang="en-US" dirty="0" err="1"/>
              <a:t>pornind</a:t>
            </a:r>
            <a:r>
              <a:rPr lang="en-US" dirty="0"/>
              <a:t> de la </a:t>
            </a:r>
            <a:r>
              <a:rPr lang="en-US" dirty="0" err="1"/>
              <a:t>doua</a:t>
            </a:r>
            <a:r>
              <a:rPr lang="en-US" dirty="0"/>
              <a:t> premise se </a:t>
            </a:r>
            <a:r>
              <a:rPr lang="en-US" dirty="0" err="1"/>
              <a:t>ajunge</a:t>
            </a:r>
            <a:r>
              <a:rPr lang="en-US" dirty="0"/>
              <a:t> la o </a:t>
            </a:r>
            <a:r>
              <a:rPr lang="en-US" dirty="0" err="1"/>
              <a:t>concluzie.Dpdv</a:t>
            </a:r>
            <a:r>
              <a:rPr lang="en-US" dirty="0"/>
              <a:t> </a:t>
            </a:r>
            <a:r>
              <a:rPr lang="en-US" dirty="0" err="1"/>
              <a:t>psihologic,inductia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deductia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demersurile</a:t>
            </a:r>
            <a:r>
              <a:rPr lang="en-US" dirty="0"/>
              <a:t> </a:t>
            </a:r>
            <a:r>
              <a:rPr lang="en-US" dirty="0" err="1"/>
              <a:t>operationale</a:t>
            </a:r>
            <a:r>
              <a:rPr lang="en-US" dirty="0"/>
              <a:t> care </a:t>
            </a:r>
            <a:r>
              <a:rPr lang="en-US" dirty="0" err="1"/>
              <a:t>stau</a:t>
            </a:r>
            <a:r>
              <a:rPr lang="en-US" dirty="0"/>
              <a:t> la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formarii</a:t>
            </a:r>
            <a:r>
              <a:rPr lang="en-US" dirty="0"/>
              <a:t> </a:t>
            </a:r>
            <a:r>
              <a:rPr lang="en-US" dirty="0" err="1"/>
              <a:t>conceptelor</a:t>
            </a:r>
            <a:r>
              <a:rPr lang="en-US" dirty="0"/>
              <a:t> </a:t>
            </a:r>
            <a:r>
              <a:rPr lang="en-US" dirty="0" err="1"/>
              <a:t>empirice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stiintifice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Categorizarea</a:t>
            </a:r>
            <a:r>
              <a:rPr lang="en-US" dirty="0"/>
              <a:t>-concept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prototip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err="1"/>
              <a:t>Gandirea</a:t>
            </a:r>
            <a:r>
              <a:rPr lang="en-US" dirty="0"/>
              <a:t> </a:t>
            </a:r>
            <a:r>
              <a:rPr lang="en-US" dirty="0" err="1"/>
              <a:t>extrage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prelucreaza</a:t>
            </a:r>
            <a:r>
              <a:rPr lang="en-US" dirty="0"/>
              <a:t> </a:t>
            </a:r>
            <a:r>
              <a:rPr lang="en-US" dirty="0" err="1"/>
              <a:t>invarianti</a:t>
            </a:r>
            <a:r>
              <a:rPr lang="en-US" dirty="0"/>
              <a:t> </a:t>
            </a:r>
            <a:r>
              <a:rPr lang="en-US" dirty="0" err="1"/>
              <a:t>cognitivi</a:t>
            </a:r>
            <a:r>
              <a:rPr lang="en-US" dirty="0"/>
              <a:t>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complex de </a:t>
            </a:r>
            <a:r>
              <a:rPr lang="en-US" dirty="0" err="1"/>
              <a:t>operatii</a:t>
            </a:r>
            <a:r>
              <a:rPr lang="en-US" dirty="0"/>
              <a:t> cognitive-&gt;</a:t>
            </a:r>
            <a:r>
              <a:rPr lang="en-US" dirty="0" err="1"/>
              <a:t>acesti</a:t>
            </a:r>
            <a:r>
              <a:rPr lang="en-US" dirty="0"/>
              <a:t> </a:t>
            </a:r>
            <a:r>
              <a:rPr lang="en-US" dirty="0" err="1"/>
              <a:t>invarianti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sistematizati</a:t>
            </a:r>
            <a:r>
              <a:rPr lang="en-US" dirty="0"/>
              <a:t> in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clase,categorii</a:t>
            </a:r>
            <a:r>
              <a:rPr lang="en-US" dirty="0"/>
              <a:t> de </a:t>
            </a:r>
            <a:r>
              <a:rPr lang="en-US" dirty="0" err="1"/>
              <a:t>obiecte,fenomene,a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notiuni</a:t>
            </a:r>
            <a:r>
              <a:rPr lang="en-US" dirty="0"/>
              <a:t>, </a:t>
            </a:r>
            <a:r>
              <a:rPr lang="en-US" dirty="0" err="1"/>
              <a:t>concepte</a:t>
            </a:r>
            <a:r>
              <a:rPr lang="en-US" dirty="0"/>
              <a:t> </a:t>
            </a:r>
            <a:r>
              <a:rPr lang="en-US" dirty="0" err="1"/>
              <a:t>vehiculate</a:t>
            </a:r>
            <a:r>
              <a:rPr lang="en-US" dirty="0"/>
              <a:t>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judecatilor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rationamentelor</a:t>
            </a:r>
            <a:r>
              <a:rPr lang="en-US" dirty="0"/>
              <a:t>. </a:t>
            </a:r>
            <a:r>
              <a:rPr lang="en-US" dirty="0" err="1"/>
              <a:t>Categorizarea</a:t>
            </a:r>
            <a:r>
              <a:rPr lang="en-US" dirty="0"/>
              <a:t> </a:t>
            </a:r>
            <a:r>
              <a:rPr lang="en-US" dirty="0" err="1"/>
              <a:t>reprezinta</a:t>
            </a:r>
            <a:r>
              <a:rPr lang="en-US" dirty="0"/>
              <a:t> un </a:t>
            </a:r>
            <a:r>
              <a:rPr lang="en-US" dirty="0" err="1"/>
              <a:t>atribut</a:t>
            </a:r>
            <a:r>
              <a:rPr lang="en-US" dirty="0"/>
              <a:t> important al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propozitionale</a:t>
            </a:r>
            <a:r>
              <a:rPr lang="en-US" dirty="0"/>
              <a:t>, </a:t>
            </a:r>
            <a:r>
              <a:rPr lang="en-US" dirty="0" err="1"/>
              <a:t>deoarece</a:t>
            </a:r>
            <a:r>
              <a:rPr lang="en-US" dirty="0"/>
              <a:t>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obiectele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organizate</a:t>
            </a:r>
            <a:r>
              <a:rPr lang="en-US" dirty="0"/>
              <a:t> in </a:t>
            </a:r>
            <a:r>
              <a:rPr lang="en-US" dirty="0" err="1"/>
              <a:t>clase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0896600" y="274638"/>
            <a:ext cx="1447800" cy="5635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25963"/>
          </a:xfrm>
        </p:spPr>
        <p:txBody>
          <a:bodyPr/>
          <a:lstStyle/>
          <a:p>
            <a:r>
              <a:rPr lang="en-US" dirty="0" err="1"/>
              <a:t>M.Miclea</a:t>
            </a:r>
            <a:r>
              <a:rPr lang="en-US" dirty="0"/>
              <a:t> a </a:t>
            </a:r>
            <a:r>
              <a:rPr lang="en-US" dirty="0" err="1"/>
              <a:t>formulat</a:t>
            </a:r>
            <a:r>
              <a:rPr lang="en-US" dirty="0"/>
              <a:t> 3 </a:t>
            </a:r>
            <a:r>
              <a:rPr lang="en-US" dirty="0" err="1"/>
              <a:t>functii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ale </a:t>
            </a:r>
            <a:r>
              <a:rPr lang="en-US" dirty="0" err="1"/>
              <a:t>categorizarii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Similaritate</a:t>
            </a:r>
            <a:endParaRPr lang="en-US" dirty="0"/>
          </a:p>
          <a:p>
            <a:pPr lvl="1"/>
            <a:r>
              <a:rPr lang="en-US" dirty="0" err="1"/>
              <a:t>Codarea</a:t>
            </a:r>
            <a:r>
              <a:rPr lang="en-US" dirty="0"/>
              <a:t> </a:t>
            </a:r>
            <a:r>
              <a:rPr lang="en-US" dirty="0" err="1"/>
              <a:t>experientei</a:t>
            </a:r>
            <a:endParaRPr lang="en-US" dirty="0"/>
          </a:p>
          <a:p>
            <a:pPr lvl="1"/>
            <a:r>
              <a:rPr lang="en-US" dirty="0" err="1"/>
              <a:t>Generarea</a:t>
            </a:r>
            <a:r>
              <a:rPr lang="en-US" dirty="0"/>
              <a:t> de </a:t>
            </a:r>
            <a:r>
              <a:rPr lang="en-US" dirty="0" err="1"/>
              <a:t>inferente</a:t>
            </a:r>
            <a:endParaRPr lang="en-US" dirty="0"/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3962400" y="-1143000"/>
            <a:ext cx="4419600" cy="6858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211763"/>
          </a:xfrm>
        </p:spPr>
        <p:txBody>
          <a:bodyPr/>
          <a:lstStyle/>
          <a:p>
            <a:r>
              <a:rPr lang="en-US" i="1" dirty="0" err="1"/>
              <a:t>Similaritatea</a:t>
            </a:r>
            <a:r>
              <a:rPr lang="en-US" i="1" dirty="0"/>
              <a:t> </a:t>
            </a:r>
            <a:r>
              <a:rPr lang="en-US" dirty="0"/>
              <a:t>se </a:t>
            </a:r>
            <a:r>
              <a:rPr lang="en-US" dirty="0" err="1"/>
              <a:t>refera</a:t>
            </a:r>
            <a:r>
              <a:rPr lang="en-US" dirty="0"/>
              <a:t> la </a:t>
            </a:r>
            <a:r>
              <a:rPr lang="en-US" dirty="0" err="1"/>
              <a:t>grupare</a:t>
            </a:r>
            <a:r>
              <a:rPr lang="en-US" dirty="0"/>
              <a:t> </a:t>
            </a:r>
            <a:r>
              <a:rPr lang="en-US" dirty="0" err="1"/>
              <a:t>obiectelor</a:t>
            </a:r>
            <a:r>
              <a:rPr lang="en-US" dirty="0"/>
              <a:t> </a:t>
            </a:r>
            <a:r>
              <a:rPr lang="en-US" dirty="0" err="1"/>
              <a:t>asemanatoare</a:t>
            </a:r>
            <a:r>
              <a:rPr lang="en-US" dirty="0"/>
              <a:t> in </a:t>
            </a:r>
            <a:r>
              <a:rPr lang="en-US" dirty="0" err="1"/>
              <a:t>aceeasi</a:t>
            </a:r>
            <a:r>
              <a:rPr lang="en-US" dirty="0"/>
              <a:t> </a:t>
            </a:r>
            <a:r>
              <a:rPr lang="en-US" dirty="0" err="1"/>
              <a:t>categorie</a:t>
            </a:r>
            <a:r>
              <a:rPr lang="en-US" dirty="0"/>
              <a:t>. </a:t>
            </a:r>
            <a:r>
              <a:rPr lang="en-US" dirty="0" err="1"/>
              <a:t>Similaritatea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fi</a:t>
            </a:r>
            <a:r>
              <a:rPr lang="en-US" dirty="0"/>
              <a:t> de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feluri:fizica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functionala.Cf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Miclea</a:t>
            </a:r>
            <a:r>
              <a:rPr lang="en-US" dirty="0"/>
              <a:t>, </a:t>
            </a:r>
            <a:r>
              <a:rPr lang="en-US" dirty="0" err="1"/>
              <a:t>caracteristicile</a:t>
            </a:r>
            <a:r>
              <a:rPr lang="en-US" dirty="0"/>
              <a:t> </a:t>
            </a:r>
            <a:r>
              <a:rPr lang="en-US" dirty="0" err="1"/>
              <a:t>functionale</a:t>
            </a:r>
            <a:r>
              <a:rPr lang="en-US" dirty="0"/>
              <a:t> pot genera </a:t>
            </a:r>
            <a:r>
              <a:rPr lang="en-US" dirty="0" err="1"/>
              <a:t>categorii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in </a:t>
            </a:r>
            <a:r>
              <a:rPr lang="en-US" dirty="0" err="1"/>
              <a:t>interiorul</a:t>
            </a:r>
            <a:r>
              <a:rPr lang="en-US" dirty="0"/>
              <a:t> </a:t>
            </a:r>
            <a:r>
              <a:rPr lang="en-US" dirty="0" err="1"/>
              <a:t>aceleiasi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similaritate</a:t>
            </a:r>
            <a:r>
              <a:rPr lang="en-US" dirty="0"/>
              <a:t> </a:t>
            </a:r>
            <a:r>
              <a:rPr lang="en-US" dirty="0" err="1"/>
              <a:t>fizica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 flipV="1">
            <a:off x="11125200" y="-609600"/>
            <a:ext cx="152400" cy="9144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i="1" dirty="0" err="1"/>
              <a:t>Codarea</a:t>
            </a:r>
            <a:r>
              <a:rPr lang="en-US" i="1" dirty="0"/>
              <a:t> </a:t>
            </a:r>
            <a:r>
              <a:rPr lang="en-US" i="1" dirty="0" err="1"/>
              <a:t>experientei</a:t>
            </a:r>
            <a:r>
              <a:rPr lang="en-US" i="1" dirty="0"/>
              <a:t> </a:t>
            </a:r>
            <a:r>
              <a:rPr lang="en-US" dirty="0"/>
              <a:t>: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oamenii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acces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usor</a:t>
            </a:r>
            <a:r>
              <a:rPr lang="en-US" dirty="0"/>
              <a:t> la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caracteristicile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le </a:t>
            </a:r>
            <a:r>
              <a:rPr lang="en-US" dirty="0" err="1"/>
              <a:t>reprezinta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format </a:t>
            </a:r>
            <a:r>
              <a:rPr lang="en-US" dirty="0" err="1"/>
              <a:t>comprimat,simplificat.E.Rosch</a:t>
            </a:r>
            <a:r>
              <a:rPr lang="en-US" dirty="0"/>
              <a:t> </a:t>
            </a:r>
            <a:r>
              <a:rPr lang="en-US" dirty="0" err="1"/>
              <a:t>numeste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forma de </a:t>
            </a:r>
            <a:r>
              <a:rPr lang="en-US" dirty="0" err="1"/>
              <a:t>codare</a:t>
            </a:r>
            <a:r>
              <a:rPr lang="en-US" dirty="0"/>
              <a:t> a </a:t>
            </a:r>
            <a:r>
              <a:rPr lang="en-US" dirty="0" err="1"/>
              <a:t>experientei</a:t>
            </a:r>
            <a:r>
              <a:rPr lang="en-US" dirty="0"/>
              <a:t> “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categoriilor</a:t>
            </a:r>
            <a:r>
              <a:rPr lang="en-US" dirty="0"/>
              <a:t> de </a:t>
            </a:r>
            <a:r>
              <a:rPr lang="en-US" dirty="0" err="1"/>
              <a:t>baza</a:t>
            </a:r>
            <a:r>
              <a:rPr lang="en-US" dirty="0"/>
              <a:t>”.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 </a:t>
            </a:r>
            <a:r>
              <a:rPr lang="en-US" dirty="0" err="1"/>
              <a:t>contin</a:t>
            </a:r>
            <a:r>
              <a:rPr lang="en-US" dirty="0"/>
              <a:t> “maximum de </a:t>
            </a:r>
            <a:r>
              <a:rPr lang="en-US" dirty="0" err="1"/>
              <a:t>informatie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minim de format”.</a:t>
            </a:r>
            <a:endParaRPr lang="en-US" i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 flipH="1" flipV="1">
            <a:off x="8686800" y="-1447800"/>
            <a:ext cx="381000" cy="838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/>
              <a:t>Generarea</a:t>
            </a:r>
            <a:r>
              <a:rPr lang="en-US" i="1" dirty="0"/>
              <a:t> de </a:t>
            </a:r>
            <a:r>
              <a:rPr lang="en-US" i="1" dirty="0" err="1"/>
              <a:t>inferente</a:t>
            </a:r>
            <a:r>
              <a:rPr lang="en-US" i="1" dirty="0"/>
              <a:t> </a:t>
            </a:r>
            <a:r>
              <a:rPr lang="en-US" dirty="0"/>
              <a:t>: </a:t>
            </a:r>
            <a:r>
              <a:rPr lang="en-US" dirty="0" err="1"/>
              <a:t>categorizarea</a:t>
            </a:r>
            <a:r>
              <a:rPr lang="en-US" dirty="0"/>
              <a:t> face </a:t>
            </a:r>
            <a:r>
              <a:rPr lang="en-US" dirty="0" err="1"/>
              <a:t>posibila</a:t>
            </a:r>
            <a:r>
              <a:rPr lang="en-US" dirty="0"/>
              <a:t> </a:t>
            </a:r>
            <a:r>
              <a:rPr lang="en-US" dirty="0" err="1"/>
              <a:t>realizarea</a:t>
            </a:r>
            <a:r>
              <a:rPr lang="en-US" dirty="0"/>
              <a:t> </a:t>
            </a:r>
            <a:r>
              <a:rPr lang="en-US" dirty="0" err="1"/>
              <a:t>rationamentului</a:t>
            </a:r>
            <a:r>
              <a:rPr lang="en-US" dirty="0"/>
              <a:t> </a:t>
            </a:r>
            <a:r>
              <a:rPr lang="en-US" dirty="0" err="1"/>
              <a:t>inductiv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deductiv.Daca</a:t>
            </a:r>
            <a:r>
              <a:rPr lang="en-US" dirty="0"/>
              <a:t> </a:t>
            </a:r>
            <a:r>
              <a:rPr lang="en-US" dirty="0" err="1"/>
              <a:t>toti</a:t>
            </a:r>
            <a:r>
              <a:rPr lang="en-US" dirty="0"/>
              <a:t> </a:t>
            </a:r>
            <a:r>
              <a:rPr lang="en-US" dirty="0" err="1"/>
              <a:t>membrii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 au un </a:t>
            </a:r>
            <a:r>
              <a:rPr lang="en-US" dirty="0" err="1"/>
              <a:t>anumit</a:t>
            </a:r>
            <a:r>
              <a:rPr lang="en-US" dirty="0"/>
              <a:t> </a:t>
            </a:r>
            <a:r>
              <a:rPr lang="en-US" dirty="0" err="1"/>
              <a:t>atribut,atunci</a:t>
            </a:r>
            <a:r>
              <a:rPr lang="en-US" dirty="0"/>
              <a:t> un </a:t>
            </a:r>
            <a:r>
              <a:rPr lang="en-US" dirty="0" err="1"/>
              <a:t>anumit</a:t>
            </a:r>
            <a:r>
              <a:rPr lang="en-US" dirty="0"/>
              <a:t> </a:t>
            </a:r>
            <a:r>
              <a:rPr lang="en-US" dirty="0" err="1"/>
              <a:t>membru</a:t>
            </a:r>
            <a:r>
              <a:rPr lang="en-US" dirty="0"/>
              <a:t> al </a:t>
            </a:r>
            <a:r>
              <a:rPr lang="en-US" dirty="0" err="1"/>
              <a:t>acelei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prezenta</a:t>
            </a:r>
            <a:r>
              <a:rPr lang="en-US" dirty="0"/>
              <a:t> </a:t>
            </a:r>
            <a:r>
              <a:rPr lang="en-US" dirty="0" err="1"/>
              <a:t>atributul</a:t>
            </a:r>
            <a:r>
              <a:rPr lang="en-US" dirty="0"/>
              <a:t> </a:t>
            </a:r>
            <a:r>
              <a:rPr lang="en-US" dirty="0" err="1"/>
              <a:t>respectiv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2209800" y="-304800"/>
            <a:ext cx="6477000" cy="5794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 fontScale="92500"/>
          </a:bodyPr>
          <a:lstStyle/>
          <a:p>
            <a:r>
              <a:rPr lang="en-US" i="1" dirty="0" err="1"/>
              <a:t>Conceptele</a:t>
            </a:r>
            <a:r>
              <a:rPr lang="en-US" i="1" dirty="0"/>
              <a:t>: </a:t>
            </a:r>
            <a:r>
              <a:rPr lang="en-US" dirty="0" err="1"/>
              <a:t>conceptul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unitatea</a:t>
            </a:r>
            <a:r>
              <a:rPr lang="en-US" dirty="0"/>
              <a:t> de </a:t>
            </a:r>
            <a:r>
              <a:rPr lang="en-US" dirty="0" err="1"/>
              <a:t>baza</a:t>
            </a:r>
            <a:r>
              <a:rPr lang="en-US" dirty="0"/>
              <a:t> cu care </a:t>
            </a:r>
            <a:r>
              <a:rPr lang="en-US" dirty="0" err="1"/>
              <a:t>opereaza</a:t>
            </a:r>
            <a:r>
              <a:rPr lang="en-US" dirty="0"/>
              <a:t> </a:t>
            </a:r>
            <a:r>
              <a:rPr lang="en-US" dirty="0" err="1"/>
              <a:t>gandirea</a:t>
            </a:r>
            <a:r>
              <a:rPr lang="en-US" dirty="0"/>
              <a:t> </a:t>
            </a:r>
            <a:r>
              <a:rPr lang="en-US" dirty="0" err="1"/>
              <a:t>umana</a:t>
            </a:r>
            <a:r>
              <a:rPr lang="en-US" dirty="0"/>
              <a:t>. Un concept </a:t>
            </a:r>
            <a:r>
              <a:rPr lang="en-US" dirty="0" err="1"/>
              <a:t>reprezinta</a:t>
            </a:r>
            <a:r>
              <a:rPr lang="en-US" dirty="0"/>
              <a:t> o </a:t>
            </a:r>
            <a:r>
              <a:rPr lang="en-US" dirty="0" err="1"/>
              <a:t>clasa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, el </a:t>
            </a:r>
            <a:r>
              <a:rPr lang="en-US" dirty="0" err="1"/>
              <a:t>insumeaza</a:t>
            </a:r>
            <a:r>
              <a:rPr lang="en-US" dirty="0"/>
              <a:t> un set de </a:t>
            </a:r>
            <a:r>
              <a:rPr lang="en-US" dirty="0" err="1"/>
              <a:t>proprietati</a:t>
            </a:r>
            <a:r>
              <a:rPr lang="en-US" dirty="0"/>
              <a:t> care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atribuite</a:t>
            </a:r>
            <a:r>
              <a:rPr lang="en-US" dirty="0"/>
              <a:t> </a:t>
            </a:r>
            <a:r>
              <a:rPr lang="en-US" dirty="0" err="1"/>
              <a:t>respectivei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.-&gt;</a:t>
            </a:r>
            <a:r>
              <a:rPr lang="en-US" dirty="0" err="1"/>
              <a:t>datorita</a:t>
            </a:r>
            <a:r>
              <a:rPr lang="en-US" dirty="0"/>
              <a:t> </a:t>
            </a:r>
            <a:r>
              <a:rPr lang="en-US" dirty="0" err="1"/>
              <a:t>conceptelor</a:t>
            </a:r>
            <a:r>
              <a:rPr lang="en-US" dirty="0"/>
              <a:t>, </a:t>
            </a:r>
            <a:r>
              <a:rPr lang="en-US" dirty="0" err="1"/>
              <a:t>omul</a:t>
            </a:r>
            <a:r>
              <a:rPr lang="en-US" dirty="0"/>
              <a:t> are </a:t>
            </a:r>
            <a:r>
              <a:rPr lang="en-US" dirty="0" err="1"/>
              <a:t>capacitatea</a:t>
            </a:r>
            <a:r>
              <a:rPr lang="en-US" dirty="0"/>
              <a:t> de a </a:t>
            </a:r>
            <a:r>
              <a:rPr lang="en-US" dirty="0" err="1"/>
              <a:t>generaliza</a:t>
            </a:r>
            <a:r>
              <a:rPr lang="en-US" dirty="0"/>
              <a:t>, de a face </a:t>
            </a:r>
            <a:r>
              <a:rPr lang="en-US" dirty="0" err="1"/>
              <a:t>conexiuni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experiente</a:t>
            </a:r>
            <a:r>
              <a:rPr lang="en-US" dirty="0"/>
              <a:t>,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lucruri</a:t>
            </a:r>
            <a:r>
              <a:rPr lang="en-US" dirty="0"/>
              <a:t>,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fenomene,poate</a:t>
            </a:r>
            <a:r>
              <a:rPr lang="en-US" dirty="0"/>
              <a:t> </a:t>
            </a:r>
            <a:r>
              <a:rPr lang="en-US" dirty="0" err="1"/>
              <a:t>realiza</a:t>
            </a:r>
            <a:r>
              <a:rPr lang="en-US" dirty="0"/>
              <a:t> </a:t>
            </a:r>
            <a:r>
              <a:rPr lang="en-US" dirty="0" err="1"/>
              <a:t>predictii</a:t>
            </a:r>
            <a:r>
              <a:rPr lang="en-US" dirty="0"/>
              <a:t> cu </a:t>
            </a:r>
            <a:r>
              <a:rPr lang="en-US" dirty="0" err="1"/>
              <a:t>privire</a:t>
            </a:r>
            <a:r>
              <a:rPr lang="en-US" dirty="0"/>
              <a:t> la </a:t>
            </a:r>
            <a:r>
              <a:rPr lang="en-US" dirty="0" err="1"/>
              <a:t>lumea</a:t>
            </a:r>
            <a:r>
              <a:rPr lang="en-US" dirty="0"/>
              <a:t> </a:t>
            </a:r>
            <a:r>
              <a:rPr lang="en-US" dirty="0" err="1"/>
              <a:t>inconjuratoare</a:t>
            </a:r>
            <a:r>
              <a:rPr lang="en-US" dirty="0"/>
              <a:t>. </a:t>
            </a:r>
            <a:r>
              <a:rPr lang="en-US" dirty="0" err="1"/>
              <a:t>Conceptualizarea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esentiala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buna</a:t>
            </a:r>
            <a:r>
              <a:rPr lang="en-US" dirty="0"/>
              <a:t> </a:t>
            </a:r>
            <a:r>
              <a:rPr lang="en-US" dirty="0" err="1"/>
              <a:t>functionare</a:t>
            </a:r>
            <a:r>
              <a:rPr lang="en-US" dirty="0"/>
              <a:t> a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memoriei</a:t>
            </a:r>
            <a:r>
              <a:rPr lang="en-US" dirty="0"/>
              <a:t> </a:t>
            </a: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 cu care </a:t>
            </a:r>
            <a:r>
              <a:rPr lang="en-US" dirty="0" err="1"/>
              <a:t>intram</a:t>
            </a:r>
            <a:r>
              <a:rPr lang="en-US" dirty="0"/>
              <a:t> in contact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stocat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-o </a:t>
            </a:r>
            <a:r>
              <a:rPr lang="en-US" dirty="0" err="1"/>
              <a:t>anumita</a:t>
            </a:r>
            <a:r>
              <a:rPr lang="en-US" dirty="0"/>
              <a:t> </a:t>
            </a:r>
            <a:r>
              <a:rPr lang="en-US" dirty="0" err="1"/>
              <a:t>categorie,sub</a:t>
            </a:r>
            <a:r>
              <a:rPr lang="en-US" dirty="0"/>
              <a:t> cupola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concept,putand</a:t>
            </a:r>
            <a:r>
              <a:rPr lang="en-US" dirty="0"/>
              <a:t>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usor</a:t>
            </a:r>
            <a:r>
              <a:rPr lang="en-US" dirty="0"/>
              <a:t> de </a:t>
            </a:r>
            <a:r>
              <a:rPr lang="en-US" dirty="0" err="1"/>
              <a:t>accesat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8686800" y="-1219200"/>
            <a:ext cx="3657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"/>
            <a:ext cx="9144000" cy="536416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Conceptul</a:t>
            </a:r>
            <a:r>
              <a:rPr lang="en-US" dirty="0"/>
              <a:t>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asemanator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imagini</a:t>
            </a:r>
            <a:r>
              <a:rPr lang="en-US" dirty="0"/>
              <a:t>, care de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ori</a:t>
            </a:r>
            <a:r>
              <a:rPr lang="en-US" dirty="0"/>
              <a:t> nu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semnificatia</a:t>
            </a:r>
            <a:r>
              <a:rPr lang="en-US" dirty="0"/>
              <a:t> in sine </a:t>
            </a:r>
            <a:r>
              <a:rPr lang="en-US" dirty="0" err="1"/>
              <a:t>ci</a:t>
            </a:r>
            <a:r>
              <a:rPr lang="en-US" dirty="0"/>
              <a:t> el </a:t>
            </a:r>
            <a:r>
              <a:rPr lang="en-US" dirty="0" err="1"/>
              <a:t>implica</a:t>
            </a:r>
            <a:r>
              <a:rPr lang="en-US" dirty="0"/>
              <a:t> o </a:t>
            </a:r>
            <a:r>
              <a:rPr lang="en-US" dirty="0" err="1"/>
              <a:t>intelegere</a:t>
            </a:r>
            <a:r>
              <a:rPr lang="en-US" dirty="0"/>
              <a:t> de </a:t>
            </a:r>
            <a:r>
              <a:rPr lang="en-US" dirty="0" err="1"/>
              <a:t>esenta</a:t>
            </a:r>
            <a:r>
              <a:rPr lang="en-US" dirty="0"/>
              <a:t>, cu un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mic</a:t>
            </a:r>
            <a:r>
              <a:rPr lang="en-US" dirty="0"/>
              <a:t> de </a:t>
            </a:r>
            <a:r>
              <a:rPr lang="en-US" dirty="0" err="1"/>
              <a:t>generalitate</a:t>
            </a:r>
            <a:r>
              <a:rPr lang="en-US" dirty="0"/>
              <a:t>.</a:t>
            </a:r>
          </a:p>
          <a:p>
            <a:r>
              <a:rPr lang="en-US" dirty="0" err="1"/>
              <a:t>Conceptele</a:t>
            </a:r>
            <a:r>
              <a:rPr lang="en-US" dirty="0"/>
              <a:t> nu </a:t>
            </a:r>
            <a:r>
              <a:rPr lang="en-US" dirty="0" err="1"/>
              <a:t>sunt</a:t>
            </a:r>
            <a:r>
              <a:rPr lang="en-US" dirty="0"/>
              <a:t> de sine </a:t>
            </a:r>
            <a:r>
              <a:rPr lang="en-US" dirty="0" err="1"/>
              <a:t>statatoare,ele</a:t>
            </a:r>
            <a:r>
              <a:rPr lang="en-US" dirty="0"/>
              <a:t> nu au o </a:t>
            </a:r>
            <a:r>
              <a:rPr lang="en-US" dirty="0" err="1"/>
              <a:t>existenta</a:t>
            </a:r>
            <a:r>
              <a:rPr lang="en-US" dirty="0"/>
              <a:t> </a:t>
            </a:r>
            <a:r>
              <a:rPr lang="en-US" dirty="0" err="1"/>
              <a:t>izolta</a:t>
            </a:r>
            <a:r>
              <a:rPr lang="en-US" dirty="0"/>
              <a:t>-&gt;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creaza</a:t>
            </a:r>
            <a:r>
              <a:rPr lang="en-US" dirty="0"/>
              <a:t> </a:t>
            </a:r>
            <a:r>
              <a:rPr lang="en-US" dirty="0" err="1"/>
              <a:t>ierarhii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afla</a:t>
            </a:r>
            <a:r>
              <a:rPr lang="en-US" dirty="0"/>
              <a:t> in </a:t>
            </a:r>
            <a:r>
              <a:rPr lang="en-US" dirty="0" err="1"/>
              <a:t>relatii</a:t>
            </a:r>
            <a:r>
              <a:rPr lang="en-US" dirty="0"/>
              <a:t> de </a:t>
            </a:r>
            <a:r>
              <a:rPr lang="en-US" dirty="0" err="1"/>
              <a:t>interdependenta</a:t>
            </a:r>
            <a:r>
              <a:rPr lang="en-US" dirty="0"/>
              <a:t> </a:t>
            </a:r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fata</a:t>
            </a:r>
            <a:r>
              <a:rPr lang="en-US" dirty="0"/>
              <a:t> de </a:t>
            </a:r>
            <a:r>
              <a:rPr lang="en-US" dirty="0" err="1"/>
              <a:t>altele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M.Zlate</a:t>
            </a:r>
            <a:r>
              <a:rPr lang="en-US" dirty="0"/>
              <a:t> </a:t>
            </a:r>
            <a:r>
              <a:rPr lang="en-US" dirty="0" err="1"/>
              <a:t>numeste</a:t>
            </a:r>
            <a:r>
              <a:rPr lang="en-US" dirty="0"/>
              <a:t> </a:t>
            </a:r>
            <a:r>
              <a:rPr lang="en-US" dirty="0" err="1"/>
              <a:t>conceptele</a:t>
            </a:r>
            <a:r>
              <a:rPr lang="en-US" dirty="0"/>
              <a:t> “</a:t>
            </a:r>
            <a:r>
              <a:rPr lang="en-US" dirty="0" err="1"/>
              <a:t>structuri</a:t>
            </a:r>
            <a:r>
              <a:rPr lang="en-US" dirty="0"/>
              <a:t> </a:t>
            </a:r>
            <a:r>
              <a:rPr lang="en-US" dirty="0" err="1"/>
              <a:t>structurante</a:t>
            </a:r>
            <a:r>
              <a:rPr lang="en-US" dirty="0"/>
              <a:t>”.</a:t>
            </a:r>
          </a:p>
          <a:p>
            <a:r>
              <a:rPr lang="en-US" dirty="0" err="1"/>
              <a:t>Ele</a:t>
            </a:r>
            <a:r>
              <a:rPr lang="en-US" dirty="0"/>
              <a:t> au un </a:t>
            </a:r>
            <a:r>
              <a:rPr lang="en-US" dirty="0" err="1"/>
              <a:t>caracter</a:t>
            </a:r>
            <a:r>
              <a:rPr lang="en-US" dirty="0"/>
              <a:t> </a:t>
            </a:r>
            <a:r>
              <a:rPr lang="en-US" dirty="0" err="1"/>
              <a:t>evolutiv</a:t>
            </a:r>
            <a:r>
              <a:rPr lang="en-US" dirty="0"/>
              <a:t> </a:t>
            </a:r>
            <a:r>
              <a:rPr lang="en-US" dirty="0" err="1"/>
              <a:t>schimbandu-si</a:t>
            </a:r>
            <a:r>
              <a:rPr lang="en-US" dirty="0"/>
              <a:t> permanent </a:t>
            </a:r>
            <a:r>
              <a:rPr lang="en-US" dirty="0" err="1"/>
              <a:t>continuturile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032202">
            <a:off x="7064490" y="-2068123"/>
            <a:ext cx="1676400" cy="161217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"/>
            <a:ext cx="9220200" cy="6781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err="1"/>
              <a:t>Clasificarea</a:t>
            </a:r>
            <a:r>
              <a:rPr lang="en-US" sz="2000" dirty="0"/>
              <a:t> </a:t>
            </a:r>
            <a:r>
              <a:rPr lang="en-US" sz="2000" dirty="0" err="1"/>
              <a:t>conceptelor</a:t>
            </a:r>
            <a:r>
              <a:rPr lang="en-US" sz="2000" dirty="0"/>
              <a:t>:</a:t>
            </a:r>
          </a:p>
          <a:p>
            <a:r>
              <a:rPr lang="en-US" sz="2000" dirty="0"/>
              <a:t>in </a:t>
            </a:r>
            <a:r>
              <a:rPr lang="en-US" sz="2000" dirty="0" err="1"/>
              <a:t>functie</a:t>
            </a:r>
            <a:r>
              <a:rPr lang="en-US" sz="2000" dirty="0"/>
              <a:t> de </a:t>
            </a:r>
            <a:r>
              <a:rPr lang="en-US" sz="2000" b="1" dirty="0" err="1"/>
              <a:t>gradul</a:t>
            </a:r>
            <a:r>
              <a:rPr lang="en-US" sz="2000" b="1" dirty="0"/>
              <a:t> de </a:t>
            </a:r>
            <a:r>
              <a:rPr lang="en-US" sz="2000" b="1" dirty="0" err="1"/>
              <a:t>generalitate</a:t>
            </a:r>
            <a:r>
              <a:rPr lang="en-US" sz="2000" dirty="0"/>
              <a:t>:</a:t>
            </a:r>
          </a:p>
          <a:p>
            <a:pPr lvl="1"/>
            <a:r>
              <a:rPr lang="en-US" sz="2000" i="1" dirty="0" err="1"/>
              <a:t>Concepte</a:t>
            </a:r>
            <a:r>
              <a:rPr lang="en-US" sz="2000" i="1" dirty="0"/>
              <a:t> </a:t>
            </a:r>
            <a:r>
              <a:rPr lang="en-US" sz="2000" i="1" dirty="0" err="1"/>
              <a:t>generale:</a:t>
            </a:r>
            <a:r>
              <a:rPr lang="en-US" sz="2000" dirty="0" err="1"/>
              <a:t>sunt</a:t>
            </a:r>
            <a:r>
              <a:rPr lang="en-US" sz="2000" dirty="0"/>
              <a:t> </a:t>
            </a:r>
            <a:r>
              <a:rPr lang="en-US" sz="2000" dirty="0" err="1"/>
              <a:t>foarte</a:t>
            </a:r>
            <a:r>
              <a:rPr lang="en-US" sz="2000" dirty="0"/>
              <a:t> </a:t>
            </a:r>
            <a:r>
              <a:rPr lang="en-US" sz="2000" dirty="0" err="1"/>
              <a:t>cuprinzatoare</a:t>
            </a:r>
            <a:r>
              <a:rPr lang="en-US" sz="2000" dirty="0"/>
              <a:t>, pot </a:t>
            </a:r>
            <a:r>
              <a:rPr lang="en-US" sz="2000" dirty="0" err="1"/>
              <a:t>subsuma</a:t>
            </a:r>
            <a:r>
              <a:rPr lang="en-US" sz="2000" dirty="0"/>
              <a:t> o </a:t>
            </a:r>
            <a:r>
              <a:rPr lang="en-US" sz="2000" dirty="0" err="1"/>
              <a:t>categorie</a:t>
            </a:r>
            <a:r>
              <a:rPr lang="en-US" sz="2000" dirty="0"/>
              <a:t> </a:t>
            </a:r>
            <a:r>
              <a:rPr lang="en-US" sz="2000" dirty="0" err="1"/>
              <a:t>foarte</a:t>
            </a:r>
            <a:r>
              <a:rPr lang="en-US" sz="2000" dirty="0"/>
              <a:t> mare de </a:t>
            </a:r>
            <a:r>
              <a:rPr lang="en-US" sz="2000" dirty="0" err="1"/>
              <a:t>obiecte</a:t>
            </a:r>
            <a:endParaRPr lang="en-US" sz="2000" dirty="0"/>
          </a:p>
          <a:p>
            <a:pPr lvl="1"/>
            <a:r>
              <a:rPr lang="en-US" sz="2000" i="1" dirty="0" err="1"/>
              <a:t>Concepte</a:t>
            </a:r>
            <a:r>
              <a:rPr lang="en-US" sz="2000" i="1" dirty="0"/>
              <a:t> </a:t>
            </a:r>
            <a:r>
              <a:rPr lang="en-US" sz="2000" i="1" dirty="0" err="1"/>
              <a:t>particulare:</a:t>
            </a:r>
            <a:r>
              <a:rPr lang="en-US" sz="2000" dirty="0" err="1"/>
              <a:t>au</a:t>
            </a:r>
            <a:r>
              <a:rPr lang="en-US" sz="2000" dirty="0"/>
              <a:t> un </a:t>
            </a:r>
            <a:r>
              <a:rPr lang="en-US" sz="2000" dirty="0" err="1"/>
              <a:t>nivel</a:t>
            </a:r>
            <a:r>
              <a:rPr lang="en-US" sz="2000" dirty="0"/>
              <a:t> </a:t>
            </a:r>
            <a:r>
              <a:rPr lang="en-US" sz="2000" dirty="0" err="1"/>
              <a:t>mediu</a:t>
            </a:r>
            <a:r>
              <a:rPr lang="en-US" sz="2000" dirty="0"/>
              <a:t> de </a:t>
            </a:r>
            <a:r>
              <a:rPr lang="en-US" sz="2000" dirty="0" err="1"/>
              <a:t>incluziune</a:t>
            </a:r>
            <a:r>
              <a:rPr lang="en-US" sz="2000" dirty="0"/>
              <a:t>-&gt;</a:t>
            </a:r>
            <a:r>
              <a:rPr lang="en-US" sz="2000" dirty="0" err="1"/>
              <a:t>conceptele</a:t>
            </a:r>
            <a:r>
              <a:rPr lang="en-US" sz="2000" dirty="0"/>
              <a:t> </a:t>
            </a:r>
            <a:r>
              <a:rPr lang="en-US" sz="2000" dirty="0" err="1"/>
              <a:t>cel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des </a:t>
            </a:r>
            <a:r>
              <a:rPr lang="en-US" sz="2000" dirty="0" err="1"/>
              <a:t>utilizate</a:t>
            </a:r>
            <a:r>
              <a:rPr lang="en-US" sz="2000" dirty="0"/>
              <a:t> in </a:t>
            </a:r>
            <a:r>
              <a:rPr lang="en-US" sz="2000" dirty="0" err="1"/>
              <a:t>viata</a:t>
            </a:r>
            <a:r>
              <a:rPr lang="en-US" sz="2000" dirty="0"/>
              <a:t> </a:t>
            </a:r>
            <a:r>
              <a:rPr lang="en-US" sz="2000" dirty="0" err="1"/>
              <a:t>cotidiana</a:t>
            </a:r>
            <a:r>
              <a:rPr lang="en-US" sz="2000" dirty="0"/>
              <a:t>.-&gt;</a:t>
            </a:r>
            <a:r>
              <a:rPr lang="en-US" sz="2000" dirty="0" err="1"/>
              <a:t>nivelul</a:t>
            </a:r>
            <a:r>
              <a:rPr lang="en-US" sz="2000" dirty="0"/>
              <a:t> </a:t>
            </a:r>
            <a:r>
              <a:rPr lang="en-US" sz="2000" dirty="0" err="1"/>
              <a:t>categoriilor</a:t>
            </a:r>
            <a:r>
              <a:rPr lang="en-US" sz="2000" dirty="0"/>
              <a:t> de </a:t>
            </a:r>
            <a:r>
              <a:rPr lang="en-US" sz="2000" dirty="0" err="1"/>
              <a:t>baza</a:t>
            </a:r>
            <a:r>
              <a:rPr lang="en-US" sz="2000" dirty="0"/>
              <a:t>.</a:t>
            </a:r>
          </a:p>
          <a:p>
            <a:pPr lvl="1"/>
            <a:r>
              <a:rPr lang="en-US" sz="2000" i="1" dirty="0" err="1"/>
              <a:t>Concepte</a:t>
            </a:r>
            <a:r>
              <a:rPr lang="en-US" sz="2000" i="1" dirty="0"/>
              <a:t> </a:t>
            </a:r>
            <a:r>
              <a:rPr lang="en-US" sz="2000" i="1" dirty="0" err="1"/>
              <a:t>individuale:</a:t>
            </a:r>
            <a:r>
              <a:rPr lang="en-US" sz="2000" dirty="0" err="1"/>
              <a:t>au</a:t>
            </a:r>
            <a:r>
              <a:rPr lang="en-US" sz="2000" dirty="0"/>
              <a:t> un </a:t>
            </a:r>
            <a:r>
              <a:rPr lang="en-US" sz="2000" dirty="0" err="1"/>
              <a:t>sens</a:t>
            </a:r>
            <a:r>
              <a:rPr lang="en-US" sz="2000" dirty="0"/>
              <a:t> </a:t>
            </a:r>
            <a:r>
              <a:rPr lang="en-US" sz="2000" dirty="0" err="1"/>
              <a:t>restrictiv,incluzand</a:t>
            </a:r>
            <a:r>
              <a:rPr lang="en-US" sz="2000" dirty="0"/>
              <a:t> o </a:t>
            </a:r>
            <a:r>
              <a:rPr lang="en-US" sz="2000" dirty="0" err="1"/>
              <a:t>categorie</a:t>
            </a:r>
            <a:r>
              <a:rPr lang="en-US" sz="2000" dirty="0"/>
              <a:t> </a:t>
            </a:r>
            <a:r>
              <a:rPr lang="en-US" sz="2000" dirty="0" err="1"/>
              <a:t>restransa</a:t>
            </a:r>
            <a:r>
              <a:rPr lang="en-US" sz="2000" dirty="0"/>
              <a:t> de </a:t>
            </a:r>
            <a:r>
              <a:rPr lang="en-US" sz="2000" dirty="0" err="1"/>
              <a:t>obiecte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dupa</a:t>
            </a:r>
            <a:r>
              <a:rPr lang="en-US" sz="2000" dirty="0"/>
              <a:t> </a:t>
            </a:r>
            <a:r>
              <a:rPr lang="en-US" sz="2000" dirty="0" err="1"/>
              <a:t>criteriul</a:t>
            </a:r>
            <a:r>
              <a:rPr lang="en-US" sz="2000" dirty="0"/>
              <a:t> </a:t>
            </a:r>
            <a:r>
              <a:rPr lang="en-US" sz="2000" b="1" dirty="0" err="1"/>
              <a:t>existentei</a:t>
            </a:r>
            <a:r>
              <a:rPr lang="en-US" sz="2000" b="1" dirty="0"/>
              <a:t> </a:t>
            </a:r>
            <a:r>
              <a:rPr lang="en-US" sz="2000" b="1" dirty="0" err="1"/>
              <a:t>sau</a:t>
            </a:r>
            <a:r>
              <a:rPr lang="en-US" sz="2000" b="1" dirty="0"/>
              <a:t> </a:t>
            </a:r>
            <a:r>
              <a:rPr lang="en-US" sz="2000" b="1" dirty="0" err="1"/>
              <a:t>inexistentei</a:t>
            </a:r>
            <a:r>
              <a:rPr lang="en-US" sz="2000" b="1" dirty="0"/>
              <a:t> </a:t>
            </a:r>
            <a:r>
              <a:rPr lang="en-US" sz="2000" b="1" dirty="0" err="1"/>
              <a:t>unui</a:t>
            </a:r>
            <a:r>
              <a:rPr lang="en-US" sz="2000" b="1" dirty="0"/>
              <a:t> </a:t>
            </a:r>
            <a:r>
              <a:rPr lang="en-US" sz="2000" b="1" dirty="0" err="1"/>
              <a:t>concret</a:t>
            </a:r>
            <a:r>
              <a:rPr lang="en-US" sz="2000" b="1" dirty="0"/>
              <a:t> </a:t>
            </a:r>
            <a:r>
              <a:rPr lang="en-US" sz="2000" dirty="0"/>
              <a:t>in </a:t>
            </a:r>
            <a:r>
              <a:rPr lang="en-US" sz="2000" dirty="0" err="1"/>
              <a:t>realitatea</a:t>
            </a:r>
            <a:r>
              <a:rPr lang="en-US" sz="2000" dirty="0"/>
              <a:t> </a:t>
            </a:r>
            <a:r>
              <a:rPr lang="en-US" sz="2000" dirty="0" err="1"/>
              <a:t>obiectiva</a:t>
            </a:r>
            <a:r>
              <a:rPr lang="en-US" sz="2000" dirty="0"/>
              <a:t>:</a:t>
            </a:r>
          </a:p>
          <a:p>
            <a:pPr lvl="1"/>
            <a:r>
              <a:rPr lang="en-US" sz="2000" i="1" dirty="0" err="1"/>
              <a:t>Concepte</a:t>
            </a:r>
            <a:r>
              <a:rPr lang="en-US" sz="2000" i="1" dirty="0"/>
              <a:t> </a:t>
            </a:r>
            <a:r>
              <a:rPr lang="en-US" sz="2000" i="1" dirty="0" err="1"/>
              <a:t>concrete:</a:t>
            </a:r>
            <a:r>
              <a:rPr lang="en-US" sz="2000" dirty="0" err="1"/>
              <a:t>au</a:t>
            </a:r>
            <a:r>
              <a:rPr lang="en-US" sz="2000" dirty="0"/>
              <a:t> un </a:t>
            </a:r>
            <a:r>
              <a:rPr lang="en-US" sz="2000" dirty="0" err="1"/>
              <a:t>corespondent</a:t>
            </a:r>
            <a:r>
              <a:rPr lang="en-US" sz="2000" dirty="0"/>
              <a:t> in </a:t>
            </a:r>
            <a:r>
              <a:rPr lang="en-US" sz="2000" dirty="0" err="1"/>
              <a:t>realitate.Atunci</a:t>
            </a:r>
            <a:r>
              <a:rPr lang="en-US" sz="2000" dirty="0"/>
              <a:t> </a:t>
            </a:r>
            <a:r>
              <a:rPr lang="en-US" sz="2000" dirty="0" err="1"/>
              <a:t>cand</a:t>
            </a:r>
            <a:r>
              <a:rPr lang="en-US" sz="2000" dirty="0"/>
              <a:t> un concept </a:t>
            </a:r>
            <a:r>
              <a:rPr lang="en-US" sz="2000" dirty="0" err="1"/>
              <a:t>concret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evocat</a:t>
            </a:r>
            <a:r>
              <a:rPr lang="en-US" sz="2000" dirty="0"/>
              <a:t>, </a:t>
            </a:r>
            <a:r>
              <a:rPr lang="en-US" sz="2000" dirty="0" err="1"/>
              <a:t>este</a:t>
            </a:r>
            <a:r>
              <a:rPr lang="en-US" sz="2000" dirty="0"/>
              <a:t> in general </a:t>
            </a:r>
            <a:r>
              <a:rPr lang="en-US" sz="2000" dirty="0" err="1"/>
              <a:t>insotit</a:t>
            </a:r>
            <a:r>
              <a:rPr lang="en-US" sz="2000" dirty="0"/>
              <a:t> de </a:t>
            </a:r>
            <a:r>
              <a:rPr lang="en-US" sz="2000" dirty="0" err="1"/>
              <a:t>reprezentarea</a:t>
            </a:r>
            <a:r>
              <a:rPr lang="en-US" sz="2000" dirty="0"/>
              <a:t> </a:t>
            </a:r>
            <a:r>
              <a:rPr lang="en-US" sz="2000" dirty="0" err="1"/>
              <a:t>obiectului</a:t>
            </a:r>
            <a:endParaRPr lang="en-US" sz="2000" dirty="0"/>
          </a:p>
          <a:p>
            <a:pPr lvl="1"/>
            <a:r>
              <a:rPr lang="en-US" sz="2000" i="1" dirty="0" err="1"/>
              <a:t>Concepte</a:t>
            </a:r>
            <a:r>
              <a:rPr lang="en-US" sz="2000" i="1" dirty="0"/>
              <a:t> </a:t>
            </a:r>
            <a:r>
              <a:rPr lang="en-US" sz="2000" i="1" dirty="0" err="1"/>
              <a:t>abstracte:</a:t>
            </a:r>
            <a:r>
              <a:rPr lang="en-US" sz="2000" dirty="0" err="1"/>
              <a:t>nu</a:t>
            </a:r>
            <a:r>
              <a:rPr lang="en-US" sz="2000" dirty="0"/>
              <a:t> au </a:t>
            </a:r>
            <a:r>
              <a:rPr lang="en-US" sz="2000" dirty="0" err="1"/>
              <a:t>corespondent</a:t>
            </a:r>
            <a:r>
              <a:rPr lang="en-US" sz="2000" dirty="0"/>
              <a:t> in </a:t>
            </a:r>
            <a:r>
              <a:rPr lang="en-US" sz="2000" dirty="0" err="1"/>
              <a:t>realitatea</a:t>
            </a:r>
            <a:r>
              <a:rPr lang="en-US" sz="2000" dirty="0"/>
              <a:t> </a:t>
            </a:r>
            <a:r>
              <a:rPr lang="en-US" sz="2000" dirty="0" err="1"/>
              <a:t>obiectiva</a:t>
            </a:r>
            <a:r>
              <a:rPr lang="en-US" sz="2000" dirty="0"/>
              <a:t>, se </a:t>
            </a:r>
            <a:r>
              <a:rPr lang="en-US" sz="2000" dirty="0" err="1"/>
              <a:t>achizitioneaza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tarziun</a:t>
            </a:r>
            <a:r>
              <a:rPr lang="en-US" sz="2000" dirty="0"/>
              <a:t> in </a:t>
            </a:r>
            <a:r>
              <a:rPr lang="en-US" sz="2000" dirty="0" err="1"/>
              <a:t>ontogeneza</a:t>
            </a:r>
            <a:r>
              <a:rPr lang="en-US" sz="2000" dirty="0"/>
              <a:t>.</a:t>
            </a:r>
          </a:p>
          <a:p>
            <a:r>
              <a:rPr lang="en-US" sz="2000" dirty="0"/>
              <a:t>In </a:t>
            </a:r>
            <a:r>
              <a:rPr lang="en-US" sz="2000" dirty="0" err="1"/>
              <a:t>functie</a:t>
            </a:r>
            <a:r>
              <a:rPr lang="en-US" sz="2000" dirty="0"/>
              <a:t> de </a:t>
            </a:r>
            <a:r>
              <a:rPr lang="en-US" sz="2000" b="1" dirty="0" err="1"/>
              <a:t>modul</a:t>
            </a:r>
            <a:r>
              <a:rPr lang="en-US" sz="2000" b="1" dirty="0"/>
              <a:t> de </a:t>
            </a:r>
            <a:r>
              <a:rPr lang="en-US" sz="2000" b="1" dirty="0" err="1"/>
              <a:t>formare,de</a:t>
            </a:r>
            <a:r>
              <a:rPr lang="en-US" sz="2000" b="1" dirty="0"/>
              <a:t> </a:t>
            </a:r>
            <a:r>
              <a:rPr lang="en-US" sz="2000" b="1" dirty="0" err="1"/>
              <a:t>achizitionare</a:t>
            </a:r>
            <a:r>
              <a:rPr lang="en-US" sz="2000" b="1" dirty="0"/>
              <a:t>:</a:t>
            </a:r>
            <a:endParaRPr lang="en-US" sz="2000" dirty="0"/>
          </a:p>
          <a:p>
            <a:pPr lvl="1"/>
            <a:r>
              <a:rPr lang="en-US" sz="2000" i="1" dirty="0" err="1"/>
              <a:t>Concepte</a:t>
            </a:r>
            <a:r>
              <a:rPr lang="en-US" sz="2000" i="1" dirty="0"/>
              <a:t> </a:t>
            </a:r>
            <a:r>
              <a:rPr lang="en-US" sz="2000" i="1" dirty="0" err="1"/>
              <a:t>empirice</a:t>
            </a:r>
            <a:r>
              <a:rPr lang="en-US" sz="2000" dirty="0" err="1"/>
              <a:t>:integreaza</a:t>
            </a:r>
            <a:r>
              <a:rPr lang="en-US" sz="2000" dirty="0"/>
              <a:t> </a:t>
            </a:r>
            <a:r>
              <a:rPr lang="en-US" sz="2000" dirty="0" err="1"/>
              <a:t>trasaturi</a:t>
            </a:r>
            <a:r>
              <a:rPr lang="en-US" sz="2000" dirty="0"/>
              <a:t> concrete, </a:t>
            </a:r>
            <a:r>
              <a:rPr lang="en-US" sz="2000" dirty="0" err="1"/>
              <a:t>particulare</a:t>
            </a:r>
            <a:r>
              <a:rPr lang="en-US" sz="2000" dirty="0"/>
              <a:t>, </a:t>
            </a:r>
            <a:r>
              <a:rPr lang="en-US" sz="2000" dirty="0" err="1"/>
              <a:t>insusiri</a:t>
            </a:r>
            <a:r>
              <a:rPr lang="en-US" sz="2000" dirty="0"/>
              <a:t> locale restrictive, </a:t>
            </a:r>
            <a:r>
              <a:rPr lang="en-US" sz="2000" dirty="0" err="1"/>
              <a:t>dependente</a:t>
            </a:r>
            <a:r>
              <a:rPr lang="en-US" sz="2000" dirty="0"/>
              <a:t> </a:t>
            </a:r>
            <a:r>
              <a:rPr lang="en-US" sz="2000" dirty="0" err="1"/>
              <a:t>accidentale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neesentiale</a:t>
            </a:r>
            <a:r>
              <a:rPr lang="en-US" sz="2000" dirty="0"/>
              <a:t>.-&gt;</a:t>
            </a:r>
            <a:r>
              <a:rPr lang="en-US" sz="2000" dirty="0" err="1"/>
              <a:t>sunt</a:t>
            </a:r>
            <a:r>
              <a:rPr lang="en-US" sz="2000" dirty="0"/>
              <a:t> </a:t>
            </a:r>
            <a:r>
              <a:rPr lang="en-US" sz="2000" dirty="0" err="1"/>
              <a:t>instabile,se</a:t>
            </a:r>
            <a:r>
              <a:rPr lang="en-US" sz="2000" dirty="0"/>
              <a:t> </a:t>
            </a:r>
            <a:r>
              <a:rPr lang="en-US" sz="2000" dirty="0" err="1"/>
              <a:t>restructureaza</a:t>
            </a:r>
            <a:r>
              <a:rPr lang="en-US" sz="2000" dirty="0"/>
              <a:t> in </a:t>
            </a:r>
            <a:r>
              <a:rPr lang="en-US" sz="2000" dirty="0" err="1"/>
              <a:t>timp</a:t>
            </a:r>
            <a:r>
              <a:rPr lang="en-US" sz="2000" dirty="0"/>
              <a:t>, </a:t>
            </a:r>
            <a:r>
              <a:rPr lang="en-US" sz="2000" dirty="0" err="1"/>
              <a:t>sunt</a:t>
            </a:r>
            <a:r>
              <a:rPr lang="en-US" sz="2000" dirty="0"/>
              <a:t> </a:t>
            </a:r>
            <a:r>
              <a:rPr lang="en-US" sz="2000" dirty="0" err="1"/>
              <a:t>supuse</a:t>
            </a:r>
            <a:r>
              <a:rPr lang="en-US" sz="2000" dirty="0"/>
              <a:t> </a:t>
            </a:r>
            <a:r>
              <a:rPr lang="en-US" sz="2000" dirty="0" err="1"/>
              <a:t>hazardului</a:t>
            </a:r>
            <a:r>
              <a:rPr lang="en-US" sz="2000" dirty="0"/>
              <a:t>, </a:t>
            </a:r>
            <a:r>
              <a:rPr lang="en-US" sz="2000" dirty="0" err="1"/>
              <a:t>sunt</a:t>
            </a:r>
            <a:r>
              <a:rPr lang="en-US" sz="2000" dirty="0"/>
              <a:t> </a:t>
            </a:r>
            <a:r>
              <a:rPr lang="en-US" sz="2000" dirty="0" err="1"/>
              <a:t>probabiliste</a:t>
            </a:r>
            <a:r>
              <a:rPr lang="en-US" sz="2000" dirty="0"/>
              <a:t>.</a:t>
            </a:r>
          </a:p>
          <a:p>
            <a:pPr lvl="1"/>
            <a:r>
              <a:rPr lang="en-US" sz="2000" i="1" dirty="0" err="1"/>
              <a:t>Concepte</a:t>
            </a:r>
            <a:r>
              <a:rPr lang="en-US" sz="2000" i="1" dirty="0"/>
              <a:t> </a:t>
            </a:r>
            <a:r>
              <a:rPr lang="en-US" sz="2000" i="1" dirty="0" err="1"/>
              <a:t>stiintifice</a:t>
            </a:r>
            <a:r>
              <a:rPr lang="en-US" sz="2000" i="1" dirty="0"/>
              <a:t>: </a:t>
            </a:r>
            <a:r>
              <a:rPr lang="en-US" sz="2000" dirty="0"/>
              <a:t>se </a:t>
            </a:r>
            <a:r>
              <a:rPr lang="en-US" sz="2000" dirty="0" err="1"/>
              <a:t>achizitioneaza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invatare</a:t>
            </a:r>
            <a:r>
              <a:rPr lang="en-US" sz="2000" dirty="0"/>
              <a:t>, </a:t>
            </a:r>
            <a:r>
              <a:rPr lang="en-US" sz="2000" dirty="0" err="1"/>
              <a:t>educatie</a:t>
            </a:r>
            <a:r>
              <a:rPr lang="en-US" sz="2000" dirty="0"/>
              <a:t>, </a:t>
            </a:r>
            <a:r>
              <a:rPr lang="en-US" sz="2000" dirty="0" err="1"/>
              <a:t>integreaza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condenseaza</a:t>
            </a:r>
            <a:r>
              <a:rPr lang="en-US" sz="2000" dirty="0"/>
              <a:t> </a:t>
            </a:r>
            <a:r>
              <a:rPr lang="en-US" sz="2000" dirty="0" err="1"/>
              <a:t>insusiri</a:t>
            </a:r>
            <a:r>
              <a:rPr lang="en-US" sz="2000" dirty="0"/>
              <a:t> </a:t>
            </a:r>
            <a:r>
              <a:rPr lang="en-US" sz="2000" dirty="0" err="1"/>
              <a:t>esentiale</a:t>
            </a:r>
            <a:r>
              <a:rPr lang="en-US" sz="2000" dirty="0"/>
              <a:t> </a:t>
            </a:r>
            <a:r>
              <a:rPr lang="en-US" sz="2000" dirty="0" err="1"/>
              <a:t>valabile</a:t>
            </a:r>
            <a:r>
              <a:rPr lang="en-US" sz="2000" dirty="0"/>
              <a:t> universal </a:t>
            </a:r>
            <a:r>
              <a:rPr lang="en-US" sz="2000" dirty="0" err="1"/>
              <a:t>pentru</a:t>
            </a:r>
            <a:r>
              <a:rPr lang="en-US" sz="2000" dirty="0"/>
              <a:t> o </a:t>
            </a:r>
            <a:r>
              <a:rPr lang="en-US" sz="2000" dirty="0" err="1"/>
              <a:t>categorie</a:t>
            </a:r>
            <a:r>
              <a:rPr lang="en-US" sz="2000" dirty="0"/>
              <a:t> de </a:t>
            </a:r>
            <a:r>
              <a:rPr lang="en-US" sz="2000" dirty="0" err="1"/>
              <a:t>fenomene</a:t>
            </a:r>
            <a:r>
              <a:rPr lang="en-US" sz="2000" dirty="0"/>
              <a:t>.</a:t>
            </a:r>
          </a:p>
          <a:p>
            <a:pPr lvl="1"/>
            <a:endParaRPr lang="en-US" sz="2000" i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2438400" y="-1752600"/>
            <a:ext cx="6248400" cy="1447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r>
              <a:rPr lang="en-US" i="1" dirty="0" err="1"/>
              <a:t>Prototipul</a:t>
            </a:r>
            <a:r>
              <a:rPr lang="en-US" i="1" dirty="0"/>
              <a:t> </a:t>
            </a:r>
            <a:r>
              <a:rPr lang="en-US" dirty="0" err="1"/>
              <a:t>intruneste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mod </a:t>
            </a:r>
            <a:r>
              <a:rPr lang="en-US" dirty="0" err="1"/>
              <a:t>empiric,in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experientei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in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experientei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culturi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civilizatii</a:t>
            </a:r>
            <a:r>
              <a:rPr lang="en-US" dirty="0"/>
              <a:t> la un moment </a:t>
            </a:r>
            <a:r>
              <a:rPr lang="en-US" dirty="0" err="1"/>
              <a:t>dat</a:t>
            </a:r>
            <a:r>
              <a:rPr lang="en-US" dirty="0"/>
              <a:t> ,</a:t>
            </a:r>
            <a:r>
              <a:rPr lang="en-US" dirty="0" err="1"/>
              <a:t>trasaturile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evidente</a:t>
            </a:r>
            <a:r>
              <a:rPr lang="en-US" dirty="0"/>
              <a:t> ale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categorii.Cf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Rosch</a:t>
            </a:r>
            <a:r>
              <a:rPr lang="en-US" dirty="0"/>
              <a:t>, </a:t>
            </a:r>
            <a:r>
              <a:rPr lang="en-US" dirty="0" err="1"/>
              <a:t>conceptele</a:t>
            </a:r>
            <a:r>
              <a:rPr lang="en-US" dirty="0"/>
              <a:t> </a:t>
            </a:r>
            <a:r>
              <a:rPr lang="en-US" dirty="0" err="1"/>
              <a:t>naturale</a:t>
            </a:r>
            <a:r>
              <a:rPr lang="en-US" dirty="0"/>
              <a:t> pot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prototipuri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categoriile</a:t>
            </a:r>
            <a:r>
              <a:rPr lang="en-US" dirty="0"/>
              <a:t> din care </a:t>
            </a:r>
            <a:r>
              <a:rPr lang="en-US" dirty="0" err="1"/>
              <a:t>provin.Prototipul</a:t>
            </a:r>
            <a:r>
              <a:rPr lang="en-US" dirty="0"/>
              <a:t> nu se </a:t>
            </a:r>
            <a:r>
              <a:rPr lang="en-US" dirty="0" err="1"/>
              <a:t>refera</a:t>
            </a:r>
            <a:r>
              <a:rPr lang="en-US" dirty="0"/>
              <a:t> </a:t>
            </a:r>
            <a:r>
              <a:rPr lang="en-US" dirty="0" err="1"/>
              <a:t>intotdeauna</a:t>
            </a:r>
            <a:r>
              <a:rPr lang="en-US" dirty="0"/>
              <a:t> la un exemplar real, o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acceptiune</a:t>
            </a:r>
            <a:r>
              <a:rPr lang="en-US" dirty="0"/>
              <a:t> a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de”exemplar</a:t>
            </a:r>
            <a:r>
              <a:rPr lang="en-US" dirty="0"/>
              <a:t> ideal”.</a:t>
            </a:r>
            <a:endParaRPr lang="en-US" i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21351496" flipH="1" flipV="1">
            <a:off x="12287862" y="-1162987"/>
            <a:ext cx="804038" cy="43058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9067800" cy="67818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Pornindu</a:t>
            </a:r>
            <a:r>
              <a:rPr lang="en-US" dirty="0"/>
              <a:t>-se de la </a:t>
            </a:r>
            <a:r>
              <a:rPr lang="en-US" dirty="0" err="1"/>
              <a:t>importanta</a:t>
            </a:r>
            <a:r>
              <a:rPr lang="en-US" dirty="0"/>
              <a:t> </a:t>
            </a:r>
            <a:r>
              <a:rPr lang="en-US" dirty="0" err="1"/>
              <a:t>prototipului</a:t>
            </a:r>
            <a:r>
              <a:rPr lang="en-US" dirty="0"/>
              <a:t> in </a:t>
            </a:r>
            <a:r>
              <a:rPr lang="en-US" dirty="0" err="1"/>
              <a:t>gandirea</a:t>
            </a:r>
            <a:r>
              <a:rPr lang="en-US" dirty="0"/>
              <a:t> </a:t>
            </a:r>
            <a:r>
              <a:rPr lang="en-US" dirty="0" err="1"/>
              <a:t>umana</a:t>
            </a:r>
            <a:r>
              <a:rPr lang="en-US" dirty="0"/>
              <a:t>,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formulata</a:t>
            </a:r>
            <a:r>
              <a:rPr lang="en-US" dirty="0"/>
              <a:t> </a:t>
            </a:r>
            <a:r>
              <a:rPr lang="en-US" i="1" dirty="0"/>
              <a:t> </a:t>
            </a:r>
            <a:r>
              <a:rPr lang="en-US" i="1" dirty="0" err="1"/>
              <a:t>teoria</a:t>
            </a:r>
            <a:r>
              <a:rPr lang="en-US" i="1" dirty="0"/>
              <a:t> </a:t>
            </a:r>
            <a:r>
              <a:rPr lang="en-US" i="1" dirty="0" err="1"/>
              <a:t>prototipului</a:t>
            </a:r>
            <a:r>
              <a:rPr lang="en-US" i="1" dirty="0"/>
              <a:t> </a:t>
            </a:r>
            <a:r>
              <a:rPr lang="en-US" dirty="0"/>
              <a:t> care are la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idei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Conceptele</a:t>
            </a:r>
            <a:r>
              <a:rPr lang="en-US" dirty="0"/>
              <a:t> au o </a:t>
            </a:r>
            <a:r>
              <a:rPr lang="en-US" dirty="0" err="1"/>
              <a:t>structura</a:t>
            </a:r>
            <a:r>
              <a:rPr lang="en-US" dirty="0"/>
              <a:t> de </a:t>
            </a:r>
            <a:r>
              <a:rPr lang="en-US" dirty="0" err="1"/>
              <a:t>prototip</a:t>
            </a:r>
            <a:r>
              <a:rPr lang="en-US" dirty="0"/>
              <a:t> </a:t>
            </a: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prototipul</a:t>
            </a:r>
            <a:r>
              <a:rPr lang="en-US" dirty="0"/>
              <a:t> </a:t>
            </a:r>
            <a:r>
              <a:rPr lang="en-US" dirty="0" err="1"/>
              <a:t>reprezinta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bun </a:t>
            </a:r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un concept</a:t>
            </a:r>
          </a:p>
          <a:p>
            <a:pPr lvl="1"/>
            <a:r>
              <a:rPr lang="en-US" dirty="0"/>
              <a:t>Nu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exista</a:t>
            </a:r>
            <a:r>
              <a:rPr lang="en-US" dirty="0"/>
              <a:t> o </a:t>
            </a:r>
            <a:r>
              <a:rPr lang="en-US" dirty="0" err="1"/>
              <a:t>linie</a:t>
            </a:r>
            <a:r>
              <a:rPr lang="en-US" dirty="0"/>
              <a:t> </a:t>
            </a:r>
            <a:r>
              <a:rPr lang="en-US" dirty="0" err="1"/>
              <a:t>delimitativa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atributele</a:t>
            </a:r>
            <a:r>
              <a:rPr lang="en-US" dirty="0"/>
              <a:t> 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suficiente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se </a:t>
            </a:r>
            <a:r>
              <a:rPr lang="en-US" dirty="0" err="1"/>
              <a:t>impun</a:t>
            </a:r>
            <a:r>
              <a:rPr lang="en-US" dirty="0"/>
              <a:t> </a:t>
            </a:r>
            <a:r>
              <a:rPr lang="en-US" dirty="0" err="1"/>
              <a:t>apartenentei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membru</a:t>
            </a:r>
            <a:r>
              <a:rPr lang="en-US" dirty="0"/>
              <a:t> la o </a:t>
            </a:r>
            <a:r>
              <a:rPr lang="en-US" dirty="0" err="1"/>
              <a:t>anumita</a:t>
            </a:r>
            <a:r>
              <a:rPr lang="en-US" dirty="0"/>
              <a:t> </a:t>
            </a:r>
            <a:r>
              <a:rPr lang="en-US" dirty="0" err="1"/>
              <a:t>categorie</a:t>
            </a:r>
            <a:endParaRPr lang="en-US" dirty="0"/>
          </a:p>
          <a:p>
            <a:pPr lvl="1"/>
            <a:r>
              <a:rPr lang="en-US" dirty="0" err="1"/>
              <a:t>Categoriile</a:t>
            </a:r>
            <a:r>
              <a:rPr lang="en-US" dirty="0"/>
              <a:t> se </a:t>
            </a:r>
            <a:r>
              <a:rPr lang="en-US" dirty="0" err="1"/>
              <a:t>omogenizeaza</a:t>
            </a:r>
            <a:r>
              <a:rPr lang="en-US" dirty="0"/>
              <a:t>, </a:t>
            </a:r>
            <a:r>
              <a:rPr lang="en-US" dirty="0" err="1"/>
              <a:t>relatiile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legaturile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neclare,fragile</a:t>
            </a:r>
            <a:r>
              <a:rPr lang="en-US" dirty="0"/>
              <a:t>, un </a:t>
            </a:r>
            <a:r>
              <a:rPr lang="en-US" dirty="0" err="1"/>
              <a:t>membru</a:t>
            </a:r>
            <a:r>
              <a:rPr lang="en-US" dirty="0"/>
              <a:t> </a:t>
            </a:r>
            <a:r>
              <a:rPr lang="en-US" dirty="0" err="1"/>
              <a:t>putand</a:t>
            </a:r>
            <a:r>
              <a:rPr lang="en-US" dirty="0"/>
              <a:t> </a:t>
            </a:r>
            <a:r>
              <a:rPr lang="en-US" dirty="0" err="1"/>
              <a:t>trece</a:t>
            </a:r>
            <a:r>
              <a:rPr lang="en-US" dirty="0"/>
              <a:t> cu </a:t>
            </a:r>
            <a:r>
              <a:rPr lang="en-US" dirty="0" err="1"/>
              <a:t>usurinta</a:t>
            </a:r>
            <a:r>
              <a:rPr lang="en-US" dirty="0"/>
              <a:t> de la o </a:t>
            </a:r>
            <a:r>
              <a:rPr lang="en-US" dirty="0" err="1"/>
              <a:t>categorie</a:t>
            </a:r>
            <a:r>
              <a:rPr lang="en-US" dirty="0"/>
              <a:t> la </a:t>
            </a:r>
            <a:r>
              <a:rPr lang="en-US" dirty="0" err="1"/>
              <a:t>alta</a:t>
            </a:r>
            <a:endParaRPr lang="en-US" dirty="0"/>
          </a:p>
          <a:p>
            <a:pPr lvl="1"/>
            <a:r>
              <a:rPr lang="en-US" dirty="0" err="1"/>
              <a:t>Locul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concept in </a:t>
            </a:r>
            <a:r>
              <a:rPr lang="en-US" dirty="0" err="1"/>
              <a:t>piramida</a:t>
            </a:r>
            <a:r>
              <a:rPr lang="en-US" dirty="0"/>
              <a:t> </a:t>
            </a:r>
            <a:r>
              <a:rPr lang="en-US" dirty="0" err="1"/>
              <a:t>notiunilor</a:t>
            </a:r>
            <a:r>
              <a:rPr lang="en-US" dirty="0"/>
              <a:t> </a:t>
            </a:r>
            <a:r>
              <a:rPr lang="en-US" dirty="0" err="1"/>
              <a:t>variaza</a:t>
            </a:r>
            <a:r>
              <a:rPr lang="en-US" dirty="0"/>
              <a:t> in </a:t>
            </a:r>
            <a:r>
              <a:rPr lang="en-US" dirty="0" err="1"/>
              <a:t>functie</a:t>
            </a:r>
            <a:r>
              <a:rPr lang="en-US" dirty="0"/>
              <a:t> de </a:t>
            </a:r>
            <a:r>
              <a:rPr lang="en-US" dirty="0" err="1"/>
              <a:t>tipicalitatea</a:t>
            </a:r>
            <a:r>
              <a:rPr lang="en-US" dirty="0"/>
              <a:t> </a:t>
            </a:r>
            <a:r>
              <a:rPr lang="en-US" dirty="0" err="1"/>
              <a:t>lui</a:t>
            </a:r>
            <a:endParaRPr lang="en-US" dirty="0"/>
          </a:p>
          <a:p>
            <a:pPr lvl="1"/>
            <a:r>
              <a:rPr lang="en-US" dirty="0" err="1"/>
              <a:t>Determinarea</a:t>
            </a:r>
            <a:r>
              <a:rPr lang="en-US" dirty="0"/>
              <a:t> </a:t>
            </a:r>
            <a:r>
              <a:rPr lang="en-US" dirty="0" err="1"/>
              <a:t>apartenentei</a:t>
            </a:r>
            <a:r>
              <a:rPr lang="en-US" dirty="0"/>
              <a:t> </a:t>
            </a:r>
            <a:r>
              <a:rPr lang="en-US" dirty="0" err="1"/>
              <a:t>membrilor</a:t>
            </a:r>
            <a:r>
              <a:rPr lang="en-US" dirty="0"/>
              <a:t> la o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definita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-un </a:t>
            </a:r>
            <a:r>
              <a:rPr lang="en-US" dirty="0" err="1"/>
              <a:t>anumit</a:t>
            </a:r>
            <a:r>
              <a:rPr lang="en-US" dirty="0"/>
              <a:t> concept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influentata</a:t>
            </a:r>
            <a:r>
              <a:rPr lang="en-US" dirty="0"/>
              <a:t> de </a:t>
            </a:r>
            <a:r>
              <a:rPr lang="en-US" dirty="0" err="1"/>
              <a:t>compararea</a:t>
            </a:r>
            <a:r>
              <a:rPr lang="en-US" dirty="0"/>
              <a:t> </a:t>
            </a:r>
            <a:r>
              <a:rPr lang="en-US" dirty="0" err="1"/>
              <a:t>atributelor</a:t>
            </a:r>
            <a:r>
              <a:rPr lang="en-US" dirty="0"/>
              <a:t> </a:t>
            </a:r>
            <a:r>
              <a:rPr lang="en-US" dirty="0" err="1"/>
              <a:t>membrilor</a:t>
            </a:r>
            <a:r>
              <a:rPr lang="en-US" dirty="0"/>
              <a:t> cu </a:t>
            </a:r>
            <a:r>
              <a:rPr lang="en-US" dirty="0" err="1"/>
              <a:t>cele</a:t>
            </a:r>
            <a:r>
              <a:rPr lang="en-US" dirty="0"/>
              <a:t> ale </a:t>
            </a:r>
            <a:r>
              <a:rPr lang="en-US" dirty="0" err="1"/>
              <a:t>prototipului</a:t>
            </a:r>
            <a:r>
              <a:rPr lang="en-US" dirty="0"/>
              <a:t> </a:t>
            </a:r>
            <a:r>
              <a:rPr lang="en-US" dirty="0" err="1"/>
              <a:t>categoriei</a:t>
            </a:r>
            <a:r>
              <a:rPr lang="en-US" dirty="0"/>
              <a:t> respective.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277600" y="274638"/>
            <a:ext cx="228600" cy="109696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 err="1"/>
              <a:t>Rationamentul</a:t>
            </a:r>
            <a:r>
              <a:rPr lang="en-US" i="1" dirty="0"/>
              <a:t> </a:t>
            </a:r>
            <a:r>
              <a:rPr lang="en-US" dirty="0" err="1"/>
              <a:t>reprezinta</a:t>
            </a:r>
            <a:r>
              <a:rPr lang="en-US" dirty="0"/>
              <a:t> o </a:t>
            </a:r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informationala</a:t>
            </a:r>
            <a:r>
              <a:rPr lang="en-US" dirty="0"/>
              <a:t> </a:t>
            </a:r>
            <a:r>
              <a:rPr lang="en-US" dirty="0" err="1"/>
              <a:t>desfasurata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ierarhizata</a:t>
            </a:r>
            <a:r>
              <a:rPr lang="en-US" dirty="0"/>
              <a:t>, in </a:t>
            </a:r>
            <a:r>
              <a:rPr lang="en-US" dirty="0" err="1"/>
              <a:t>vare</a:t>
            </a:r>
            <a:r>
              <a:rPr lang="en-US" dirty="0"/>
              <a:t> </a:t>
            </a:r>
            <a:r>
              <a:rPr lang="en-US" dirty="0" err="1"/>
              <a:t>gandirea</a:t>
            </a:r>
            <a:r>
              <a:rPr lang="en-US" dirty="0"/>
              <a:t> </a:t>
            </a:r>
            <a:r>
              <a:rPr lang="en-US" dirty="0" err="1"/>
              <a:t>porneste</a:t>
            </a:r>
            <a:r>
              <a:rPr lang="en-US" dirty="0"/>
              <a:t> de la </a:t>
            </a:r>
            <a:r>
              <a:rPr lang="en-US" dirty="0" err="1"/>
              <a:t>anumite</a:t>
            </a:r>
            <a:r>
              <a:rPr lang="en-US" dirty="0"/>
              <a:t> date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ajunge</a:t>
            </a:r>
            <a:r>
              <a:rPr lang="en-US" dirty="0"/>
              <a:t> la </a:t>
            </a:r>
            <a:r>
              <a:rPr lang="en-US" dirty="0" err="1"/>
              <a:t>obtinerea</a:t>
            </a:r>
            <a:r>
              <a:rPr lang="en-US" dirty="0"/>
              <a:t> </a:t>
            </a:r>
            <a:r>
              <a:rPr lang="en-US" dirty="0" err="1"/>
              <a:t>altora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, sub forma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concluzii</a:t>
            </a:r>
            <a:r>
              <a:rPr lang="en-US" dirty="0"/>
              <a:t>.-&gt;</a:t>
            </a:r>
            <a:r>
              <a:rPr lang="en-US" dirty="0" err="1"/>
              <a:t>este</a:t>
            </a:r>
            <a:r>
              <a:rPr lang="en-US" dirty="0"/>
              <a:t> specific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propozitionale</a:t>
            </a:r>
            <a:r>
              <a:rPr lang="en-US" dirty="0"/>
              <a:t>.</a:t>
            </a:r>
          </a:p>
          <a:p>
            <a:r>
              <a:rPr lang="en-US" dirty="0"/>
              <a:t>Spencer </a:t>
            </a:r>
            <a:r>
              <a:rPr lang="en-US" dirty="0" err="1"/>
              <a:t>A.Rathus</a:t>
            </a:r>
            <a:r>
              <a:rPr lang="en-US" dirty="0"/>
              <a:t> </a:t>
            </a:r>
            <a:r>
              <a:rPr lang="en-US" dirty="0" err="1"/>
              <a:t>pune</a:t>
            </a:r>
            <a:r>
              <a:rPr lang="en-US" dirty="0"/>
              <a:t> in </a:t>
            </a:r>
            <a:r>
              <a:rPr lang="en-US" dirty="0" err="1"/>
              <a:t>discutie</a:t>
            </a:r>
            <a:r>
              <a:rPr lang="en-US" dirty="0"/>
              <a:t> un model </a:t>
            </a:r>
            <a:r>
              <a:rPr lang="en-US" dirty="0" err="1"/>
              <a:t>interesant</a:t>
            </a:r>
            <a:r>
              <a:rPr lang="en-US" dirty="0"/>
              <a:t> de </a:t>
            </a:r>
            <a:r>
              <a:rPr lang="en-US" dirty="0" err="1"/>
              <a:t>rationament</a:t>
            </a:r>
            <a:r>
              <a:rPr lang="en-US" dirty="0"/>
              <a:t>: </a:t>
            </a:r>
            <a:r>
              <a:rPr lang="en-US" dirty="0" err="1"/>
              <a:t>Daca</a:t>
            </a:r>
            <a:r>
              <a:rPr lang="en-US" dirty="0"/>
              <a:t> A </a:t>
            </a:r>
            <a:r>
              <a:rPr lang="en-US" dirty="0" err="1"/>
              <a:t>sunt</a:t>
            </a:r>
            <a:r>
              <a:rPr lang="en-US" dirty="0"/>
              <a:t> B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unele</a:t>
            </a:r>
            <a:r>
              <a:rPr lang="en-US" dirty="0"/>
              <a:t> B </a:t>
            </a:r>
            <a:r>
              <a:rPr lang="en-US" dirty="0" err="1"/>
              <a:t>sunt</a:t>
            </a:r>
            <a:r>
              <a:rPr lang="en-US" dirty="0"/>
              <a:t> C,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unele</a:t>
            </a:r>
            <a:r>
              <a:rPr lang="en-US" dirty="0"/>
              <a:t> A </a:t>
            </a:r>
            <a:r>
              <a:rPr lang="en-US" dirty="0" err="1"/>
              <a:t>sunt</a:t>
            </a:r>
            <a:r>
              <a:rPr lang="en-US" dirty="0"/>
              <a:t> C.-&gt;o </a:t>
            </a:r>
            <a:r>
              <a:rPr lang="en-US" dirty="0" err="1"/>
              <a:t>crestere</a:t>
            </a:r>
            <a:r>
              <a:rPr lang="en-US" dirty="0"/>
              <a:t> </a:t>
            </a:r>
            <a:r>
              <a:rPr lang="en-US" dirty="0" err="1"/>
              <a:t>gradata</a:t>
            </a:r>
            <a:r>
              <a:rPr lang="en-US" dirty="0"/>
              <a:t> de la </a:t>
            </a:r>
            <a:r>
              <a:rPr lang="en-US" dirty="0" err="1"/>
              <a:t>categorii</a:t>
            </a:r>
            <a:r>
              <a:rPr lang="en-US" dirty="0"/>
              <a:t> </a:t>
            </a:r>
            <a:r>
              <a:rPr lang="en-US" dirty="0" err="1"/>
              <a:t>subordonate</a:t>
            </a:r>
            <a:r>
              <a:rPr lang="en-US" dirty="0"/>
              <a:t> la </a:t>
            </a:r>
            <a:r>
              <a:rPr lang="en-US" dirty="0" err="1"/>
              <a:t>categorii</a:t>
            </a:r>
            <a:r>
              <a:rPr lang="en-US" dirty="0"/>
              <a:t> </a:t>
            </a:r>
            <a:r>
              <a:rPr lang="en-US" dirty="0" err="1"/>
              <a:t>supraordonate</a:t>
            </a:r>
            <a:r>
              <a:rPr lang="en-US" dirty="0"/>
              <a:t>.-&gt;</a:t>
            </a:r>
            <a:r>
              <a:rPr lang="en-US" dirty="0" err="1"/>
              <a:t>rationamentul</a:t>
            </a:r>
            <a:r>
              <a:rPr lang="en-US" dirty="0"/>
              <a:t> era </a:t>
            </a:r>
            <a:r>
              <a:rPr lang="en-US" dirty="0" err="1"/>
              <a:t>fals</a:t>
            </a:r>
            <a:r>
              <a:rPr lang="en-US" dirty="0"/>
              <a:t>.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cuvantului</a:t>
            </a:r>
            <a:r>
              <a:rPr lang="en-US" dirty="0"/>
              <a:t> “</a:t>
            </a:r>
            <a:r>
              <a:rPr lang="en-US" dirty="0" err="1"/>
              <a:t>unele</a:t>
            </a:r>
            <a:r>
              <a:rPr lang="en-US" dirty="0"/>
              <a:t>” se </a:t>
            </a:r>
            <a:r>
              <a:rPr lang="en-US" dirty="0" err="1"/>
              <a:t>poate</a:t>
            </a:r>
            <a:r>
              <a:rPr lang="en-US" dirty="0"/>
              <a:t> face </a:t>
            </a:r>
            <a:r>
              <a:rPr lang="en-US" dirty="0" err="1"/>
              <a:t>trecerea</a:t>
            </a:r>
            <a:r>
              <a:rPr lang="en-US" dirty="0"/>
              <a:t> de la o </a:t>
            </a:r>
            <a:r>
              <a:rPr lang="en-US" dirty="0" err="1"/>
              <a:t>categorie</a:t>
            </a:r>
            <a:r>
              <a:rPr lang="en-US" dirty="0"/>
              <a:t> </a:t>
            </a:r>
            <a:r>
              <a:rPr lang="en-US" dirty="0" err="1"/>
              <a:t>subordonata</a:t>
            </a:r>
            <a:r>
              <a:rPr lang="en-US" dirty="0"/>
              <a:t> la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supraordonata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inapoi</a:t>
            </a:r>
            <a:r>
              <a:rPr lang="en-US" dirty="0"/>
              <a:t> la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subordonata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0" y="274638"/>
            <a:ext cx="2514600" cy="109696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74638"/>
            <a:ext cx="8686800" cy="658336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err="1"/>
              <a:t>Exista</a:t>
            </a:r>
            <a:r>
              <a:rPr lang="en-US" dirty="0"/>
              <a:t> 2 </a:t>
            </a:r>
            <a:r>
              <a:rPr lang="en-US" dirty="0" err="1"/>
              <a:t>tipuri</a:t>
            </a:r>
            <a:r>
              <a:rPr lang="en-US" dirty="0"/>
              <a:t> </a:t>
            </a:r>
            <a:r>
              <a:rPr lang="en-US" dirty="0" err="1"/>
              <a:t>majore</a:t>
            </a:r>
            <a:r>
              <a:rPr lang="en-US" dirty="0"/>
              <a:t> de </a:t>
            </a:r>
            <a:r>
              <a:rPr lang="en-US" dirty="0" err="1"/>
              <a:t>rationament</a:t>
            </a:r>
            <a:r>
              <a:rPr lang="en-US" dirty="0"/>
              <a:t>: </a:t>
            </a:r>
            <a:r>
              <a:rPr lang="en-US" i="1" dirty="0" err="1"/>
              <a:t>deductiv</a:t>
            </a:r>
            <a:r>
              <a:rPr lang="en-US" i="1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i="1" dirty="0" err="1"/>
              <a:t>inductiv</a:t>
            </a:r>
            <a:r>
              <a:rPr lang="en-US" i="1" dirty="0"/>
              <a:t>.</a:t>
            </a:r>
          </a:p>
          <a:p>
            <a:pPr algn="just"/>
            <a:r>
              <a:rPr lang="en-US" i="1" dirty="0" err="1"/>
              <a:t>Rationamentul</a:t>
            </a:r>
            <a:r>
              <a:rPr lang="en-US" i="1" dirty="0"/>
              <a:t> </a:t>
            </a:r>
            <a:r>
              <a:rPr lang="en-US" i="1" dirty="0" err="1"/>
              <a:t>deductiv</a:t>
            </a:r>
            <a:r>
              <a:rPr lang="en-US" i="1" dirty="0"/>
              <a:t> </a:t>
            </a:r>
            <a:r>
              <a:rPr lang="en-US" dirty="0" err="1"/>
              <a:t>este</a:t>
            </a:r>
            <a:r>
              <a:rPr lang="en-US" dirty="0"/>
              <a:t> o forma de </a:t>
            </a:r>
            <a:r>
              <a:rPr lang="en-US" dirty="0" err="1"/>
              <a:t>rationament</a:t>
            </a:r>
            <a:r>
              <a:rPr lang="en-US" dirty="0"/>
              <a:t> in care </a:t>
            </a:r>
            <a:r>
              <a:rPr lang="en-US" dirty="0" err="1"/>
              <a:t>concluzia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adevarata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premisele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adevarate</a:t>
            </a:r>
            <a:r>
              <a:rPr lang="en-US" dirty="0"/>
              <a:t>. Se </a:t>
            </a:r>
            <a:r>
              <a:rPr lang="en-US" dirty="0" err="1"/>
              <a:t>porneste</a:t>
            </a:r>
            <a:r>
              <a:rPr lang="en-US" dirty="0"/>
              <a:t> de la </a:t>
            </a:r>
            <a:r>
              <a:rPr lang="en-US" dirty="0" err="1"/>
              <a:t>judecati</a:t>
            </a:r>
            <a:r>
              <a:rPr lang="en-US" dirty="0"/>
              <a:t> </a:t>
            </a:r>
            <a:r>
              <a:rPr lang="en-US" dirty="0" err="1"/>
              <a:t>universale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ajunge</a:t>
            </a:r>
            <a:r>
              <a:rPr lang="en-US" dirty="0"/>
              <a:t> la o </a:t>
            </a:r>
            <a:r>
              <a:rPr lang="en-US" dirty="0" err="1"/>
              <a:t>concluzie</a:t>
            </a:r>
            <a:r>
              <a:rPr lang="en-US" dirty="0"/>
              <a:t> </a:t>
            </a:r>
            <a:r>
              <a:rPr lang="en-US" dirty="0" err="1"/>
              <a:t>individuala</a:t>
            </a:r>
            <a:r>
              <a:rPr lang="en-US" dirty="0"/>
              <a:t>. </a:t>
            </a:r>
            <a:r>
              <a:rPr lang="en-US" dirty="0" err="1"/>
              <a:t>Premisele</a:t>
            </a:r>
            <a:r>
              <a:rPr lang="en-US" dirty="0"/>
              <a:t> </a:t>
            </a:r>
            <a:r>
              <a:rPr lang="en-US" dirty="0" err="1"/>
              <a:t>ofera</a:t>
            </a:r>
            <a:r>
              <a:rPr lang="en-US" dirty="0"/>
              <a:t> </a:t>
            </a:r>
            <a:r>
              <a:rPr lang="en-US" dirty="0" err="1"/>
              <a:t>informatiile</a:t>
            </a:r>
            <a:r>
              <a:rPr lang="en-US" dirty="0"/>
              <a:t> de </a:t>
            </a:r>
            <a:r>
              <a:rPr lang="en-US" dirty="0" err="1"/>
              <a:t>baza</a:t>
            </a:r>
            <a:r>
              <a:rPr lang="en-US" dirty="0"/>
              <a:t> care permit </a:t>
            </a:r>
            <a:r>
              <a:rPr lang="en-US" dirty="0" err="1"/>
              <a:t>enuntarea</a:t>
            </a:r>
            <a:r>
              <a:rPr lang="en-US" dirty="0"/>
              <a:t> </a:t>
            </a:r>
            <a:r>
              <a:rPr lang="en-US" dirty="0" err="1"/>
              <a:t>concluziilor.Concluzia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dedusa</a:t>
            </a:r>
            <a:r>
              <a:rPr lang="en-US" dirty="0"/>
              <a:t> din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premise.</a:t>
            </a:r>
            <a:endParaRPr lang="en-US" i="1" dirty="0"/>
          </a:p>
          <a:p>
            <a:pPr algn="just"/>
            <a:r>
              <a:rPr lang="en-US" i="1" dirty="0" err="1"/>
              <a:t>Rationamentul</a:t>
            </a:r>
            <a:r>
              <a:rPr lang="en-US" i="1" dirty="0"/>
              <a:t> </a:t>
            </a:r>
            <a:r>
              <a:rPr lang="en-US" i="1" dirty="0" err="1"/>
              <a:t>inductiv</a:t>
            </a:r>
            <a:r>
              <a:rPr lang="en-US" i="1" dirty="0"/>
              <a:t> </a:t>
            </a:r>
            <a:r>
              <a:rPr lang="en-US" dirty="0" err="1"/>
              <a:t>porneste</a:t>
            </a:r>
            <a:r>
              <a:rPr lang="en-US" dirty="0"/>
              <a:t> de la </a:t>
            </a:r>
            <a:r>
              <a:rPr lang="en-US" dirty="0" err="1"/>
              <a:t>judecati</a:t>
            </a:r>
            <a:r>
              <a:rPr lang="en-US" dirty="0"/>
              <a:t> </a:t>
            </a:r>
            <a:r>
              <a:rPr lang="en-US" dirty="0" err="1"/>
              <a:t>particulare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formula o </a:t>
            </a:r>
            <a:r>
              <a:rPr lang="en-US" dirty="0" err="1"/>
              <a:t>concluzie</a:t>
            </a:r>
            <a:r>
              <a:rPr lang="en-US" dirty="0"/>
              <a:t> </a:t>
            </a:r>
            <a:r>
              <a:rPr lang="en-US" dirty="0" err="1"/>
              <a:t>generala</a:t>
            </a:r>
            <a:r>
              <a:rPr lang="en-US" dirty="0"/>
              <a:t>.-&gt;nu ne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ajungem</a:t>
            </a:r>
            <a:r>
              <a:rPr lang="en-US" dirty="0"/>
              <a:t> la </a:t>
            </a:r>
            <a:r>
              <a:rPr lang="en-US" dirty="0" err="1"/>
              <a:t>concluzii</a:t>
            </a:r>
            <a:r>
              <a:rPr lang="en-US" dirty="0"/>
              <a:t> absolute, </a:t>
            </a:r>
            <a:r>
              <a:rPr lang="en-US" dirty="0" err="1"/>
              <a:t>universale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Intelegerea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Intelegerea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rezolvarea</a:t>
            </a:r>
            <a:r>
              <a:rPr lang="en-US" dirty="0"/>
              <a:t> de </a:t>
            </a:r>
            <a:r>
              <a:rPr lang="en-US" dirty="0" err="1"/>
              <a:t>probleme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inseparabile</a:t>
            </a:r>
            <a:r>
              <a:rPr lang="en-US" dirty="0"/>
              <a:t> ale </a:t>
            </a:r>
            <a:r>
              <a:rPr lang="en-US" dirty="0" err="1"/>
              <a:t>gandirii</a:t>
            </a:r>
            <a:r>
              <a:rPr lang="en-US" dirty="0"/>
              <a:t>. </a:t>
            </a:r>
            <a:r>
              <a:rPr lang="en-US" dirty="0" err="1"/>
              <a:t>Intelegem</a:t>
            </a:r>
            <a:r>
              <a:rPr lang="en-US" dirty="0"/>
              <a:t> </a:t>
            </a:r>
            <a:r>
              <a:rPr lang="en-US" dirty="0" err="1"/>
              <a:t>rezolvand</a:t>
            </a:r>
            <a:r>
              <a:rPr lang="en-US" dirty="0"/>
              <a:t> </a:t>
            </a:r>
            <a:r>
              <a:rPr lang="en-US" dirty="0" err="1"/>
              <a:t>situatiile</a:t>
            </a:r>
            <a:r>
              <a:rPr lang="en-US" dirty="0"/>
              <a:t> </a:t>
            </a:r>
            <a:r>
              <a:rPr lang="en-US" dirty="0" err="1"/>
              <a:t>problematice</a:t>
            </a:r>
            <a:r>
              <a:rPr lang="en-US" dirty="0"/>
              <a:t> cu care ne </a:t>
            </a:r>
            <a:r>
              <a:rPr lang="en-US" dirty="0" err="1"/>
              <a:t>confruntam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rezolvam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situatii</a:t>
            </a:r>
            <a:r>
              <a:rPr lang="en-US" dirty="0"/>
              <a:t> </a:t>
            </a:r>
            <a:r>
              <a:rPr lang="en-US" dirty="0" err="1"/>
              <a:t>pornind</a:t>
            </a:r>
            <a:r>
              <a:rPr lang="en-US" dirty="0"/>
              <a:t> de la un </a:t>
            </a:r>
            <a:r>
              <a:rPr lang="en-US" dirty="0" err="1"/>
              <a:t>anumit</a:t>
            </a:r>
            <a:r>
              <a:rPr lang="en-US" dirty="0"/>
              <a:t>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intelegere</a:t>
            </a:r>
            <a:r>
              <a:rPr lang="en-US" dirty="0"/>
              <a:t>. </a:t>
            </a:r>
          </a:p>
          <a:p>
            <a:r>
              <a:rPr lang="en-US" dirty="0" err="1"/>
              <a:t>Intelegerea</a:t>
            </a:r>
            <a:r>
              <a:rPr lang="en-US" dirty="0"/>
              <a:t> </a:t>
            </a:r>
            <a:r>
              <a:rPr lang="en-US" dirty="0" err="1"/>
              <a:t>exprima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bine</a:t>
            </a:r>
            <a:r>
              <a:rPr lang="en-US" dirty="0"/>
              <a:t> </a:t>
            </a:r>
            <a:r>
              <a:rPr lang="en-US" dirty="0" err="1"/>
              <a:t>dimensiunea</a:t>
            </a:r>
            <a:r>
              <a:rPr lang="en-US" dirty="0"/>
              <a:t> </a:t>
            </a:r>
            <a:r>
              <a:rPr lang="en-US" dirty="0" err="1"/>
              <a:t>procesuala</a:t>
            </a:r>
            <a:r>
              <a:rPr lang="en-US" dirty="0"/>
              <a:t> a </a:t>
            </a:r>
            <a:r>
              <a:rPr lang="en-US" dirty="0" err="1"/>
              <a:t>gandirii</a:t>
            </a:r>
            <a:r>
              <a:rPr lang="en-US" dirty="0"/>
              <a:t>.</a:t>
            </a:r>
          </a:p>
          <a:p>
            <a:r>
              <a:rPr lang="en-US" dirty="0"/>
              <a:t>In </a:t>
            </a:r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ascendenta</a:t>
            </a:r>
            <a:r>
              <a:rPr lang="en-US" dirty="0"/>
              <a:t>, </a:t>
            </a:r>
            <a:r>
              <a:rPr lang="en-US" dirty="0" err="1"/>
              <a:t>intelegerea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rezultatul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demers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indelungat</a:t>
            </a:r>
            <a:r>
              <a:rPr lang="en-US" dirty="0"/>
              <a:t> de </a:t>
            </a:r>
            <a:r>
              <a:rPr lang="en-US" dirty="0" err="1"/>
              <a:t>acumulare</a:t>
            </a:r>
            <a:r>
              <a:rPr lang="en-US" dirty="0"/>
              <a:t> de </a:t>
            </a:r>
            <a:r>
              <a:rPr lang="en-US" dirty="0" err="1"/>
              <a:t>informatii</a:t>
            </a:r>
            <a:r>
              <a:rPr lang="en-US" dirty="0"/>
              <a:t> care </a:t>
            </a:r>
            <a:r>
              <a:rPr lang="en-US" dirty="0" err="1"/>
              <a:t>sunt</a:t>
            </a:r>
            <a:r>
              <a:rPr lang="en-US" dirty="0"/>
              <a:t> reunite in </a:t>
            </a:r>
            <a:r>
              <a:rPr lang="en-US" dirty="0" err="1"/>
              <a:t>grupari</a:t>
            </a:r>
            <a:r>
              <a:rPr lang="en-US" dirty="0"/>
              <a:t> </a:t>
            </a:r>
            <a:r>
              <a:rPr lang="en-US" dirty="0" err="1"/>
              <a:t>succesive</a:t>
            </a:r>
            <a:r>
              <a:rPr lang="en-US" dirty="0"/>
              <a:t>.</a:t>
            </a:r>
          </a:p>
          <a:p>
            <a:r>
              <a:rPr lang="en-US" dirty="0"/>
              <a:t>In </a:t>
            </a:r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descendenta</a:t>
            </a:r>
            <a:r>
              <a:rPr lang="en-US" dirty="0"/>
              <a:t> </a:t>
            </a:r>
            <a:r>
              <a:rPr lang="en-US" dirty="0" err="1"/>
              <a:t>intelegerea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rezultatul</a:t>
            </a:r>
            <a:r>
              <a:rPr lang="en-US" dirty="0"/>
              <a:t> </a:t>
            </a:r>
            <a:r>
              <a:rPr lang="en-US" dirty="0" err="1"/>
              <a:t>impunerii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explicative ale </a:t>
            </a:r>
            <a:r>
              <a:rPr lang="en-US" dirty="0" err="1"/>
              <a:t>realitatii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invatare</a:t>
            </a:r>
            <a:r>
              <a:rPr lang="en-US" dirty="0"/>
              <a:t>, </a:t>
            </a:r>
            <a:r>
              <a:rPr lang="en-US" dirty="0" err="1"/>
              <a:t>instruire</a:t>
            </a:r>
            <a:r>
              <a:rPr lang="en-US" dirty="0"/>
              <a:t>, </a:t>
            </a:r>
            <a:r>
              <a:rPr lang="en-US" dirty="0" err="1"/>
              <a:t>educatie</a:t>
            </a:r>
            <a:r>
              <a:rPr lang="en-US" dirty="0"/>
              <a:t>.</a:t>
            </a:r>
          </a:p>
          <a:p>
            <a:r>
              <a:rPr lang="en-US" dirty="0" err="1"/>
              <a:t>Daca</a:t>
            </a:r>
            <a:r>
              <a:rPr lang="en-US" dirty="0"/>
              <a:t> in </a:t>
            </a:r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ascendenta</a:t>
            </a:r>
            <a:r>
              <a:rPr lang="en-US" dirty="0"/>
              <a:t> </a:t>
            </a:r>
            <a:r>
              <a:rPr lang="en-US" dirty="0" err="1"/>
              <a:t>intelegerea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consecinta</a:t>
            </a:r>
            <a:r>
              <a:rPr lang="en-US" dirty="0"/>
              <a:t>, in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descendenta</a:t>
            </a:r>
            <a:r>
              <a:rPr lang="en-US" dirty="0"/>
              <a:t> ea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premisa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H="1">
            <a:off x="8652538" y="-2057399"/>
            <a:ext cx="2320261" cy="45719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Mecanismul</a:t>
            </a:r>
            <a:r>
              <a:rPr lang="en-US" dirty="0"/>
              <a:t> </a:t>
            </a:r>
            <a:r>
              <a:rPr lang="en-US" dirty="0" err="1"/>
              <a:t>intelegerii</a:t>
            </a:r>
            <a:r>
              <a:rPr lang="en-US" dirty="0"/>
              <a:t> are la </a:t>
            </a:r>
            <a:r>
              <a:rPr lang="en-US" dirty="0" err="1"/>
              <a:t>baza</a:t>
            </a:r>
            <a:r>
              <a:rPr lang="en-US" dirty="0"/>
              <a:t>, in </a:t>
            </a:r>
            <a:r>
              <a:rPr lang="en-US" dirty="0" err="1"/>
              <a:t>primul</a:t>
            </a:r>
            <a:r>
              <a:rPr lang="en-US" dirty="0"/>
              <a:t> rand, un </a:t>
            </a:r>
            <a:r>
              <a:rPr lang="en-US" i="1" dirty="0" err="1"/>
              <a:t>cuplaj</a:t>
            </a:r>
            <a:r>
              <a:rPr lang="en-US" i="1" dirty="0"/>
              <a:t> informational.</a:t>
            </a:r>
          </a:p>
          <a:p>
            <a:r>
              <a:rPr lang="en-US" dirty="0" err="1"/>
              <a:t>Pentru</a:t>
            </a:r>
            <a:r>
              <a:rPr lang="en-US" dirty="0"/>
              <a:t> ca o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devina</a:t>
            </a:r>
            <a:r>
              <a:rPr lang="en-US" dirty="0"/>
              <a:t> </a:t>
            </a:r>
            <a:r>
              <a:rPr lang="en-US" dirty="0" err="1"/>
              <a:t>problematica</a:t>
            </a:r>
            <a:r>
              <a:rPr lang="en-US" dirty="0"/>
              <a:t>, ea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vina</a:t>
            </a:r>
            <a:r>
              <a:rPr lang="en-US" dirty="0"/>
              <a:t> in </a:t>
            </a:r>
            <a:r>
              <a:rPr lang="en-US" dirty="0" err="1"/>
              <a:t>intampinarea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necesitati</a:t>
            </a:r>
            <a:r>
              <a:rPr lang="en-US" dirty="0"/>
              <a:t>, </a:t>
            </a:r>
            <a:r>
              <a:rPr lang="en-US" dirty="0" err="1"/>
              <a:t>cerinte</a:t>
            </a:r>
            <a:r>
              <a:rPr lang="en-US" dirty="0"/>
              <a:t> ale </a:t>
            </a:r>
            <a:r>
              <a:rPr lang="en-US" dirty="0" err="1"/>
              <a:t>subiectului</a:t>
            </a:r>
            <a:r>
              <a:rPr lang="en-US" dirty="0"/>
              <a:t>.</a:t>
            </a:r>
          </a:p>
          <a:p>
            <a:r>
              <a:rPr lang="en-US" dirty="0" err="1"/>
              <a:t>Cuplajul</a:t>
            </a:r>
            <a:r>
              <a:rPr lang="en-US" dirty="0"/>
              <a:t> informational se </a:t>
            </a:r>
            <a:r>
              <a:rPr lang="en-US" dirty="0" err="1"/>
              <a:t>realizeaza</a:t>
            </a:r>
            <a:r>
              <a:rPr lang="en-US" dirty="0"/>
              <a:t> ca un </a:t>
            </a:r>
            <a:r>
              <a:rPr lang="en-US" dirty="0" err="1"/>
              <a:t>proces</a:t>
            </a:r>
            <a:r>
              <a:rPr lang="en-US" dirty="0"/>
              <a:t> de </a:t>
            </a:r>
            <a:r>
              <a:rPr lang="en-US" dirty="0" err="1"/>
              <a:t>tranzactie</a:t>
            </a:r>
            <a:r>
              <a:rPr lang="en-US" dirty="0"/>
              <a:t>, de </a:t>
            </a:r>
            <a:r>
              <a:rPr lang="en-US" dirty="0" err="1"/>
              <a:t>negociere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subiect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.</a:t>
            </a:r>
          </a:p>
          <a:p>
            <a:r>
              <a:rPr lang="en-US" dirty="0"/>
              <a:t>In al </a:t>
            </a:r>
            <a:r>
              <a:rPr lang="en-US" dirty="0" err="1"/>
              <a:t>doilea</a:t>
            </a:r>
            <a:r>
              <a:rPr lang="en-US" dirty="0"/>
              <a:t> rand, la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mecanismului</a:t>
            </a:r>
            <a:r>
              <a:rPr lang="en-US" dirty="0"/>
              <a:t> </a:t>
            </a:r>
            <a:r>
              <a:rPr lang="en-US" dirty="0" err="1"/>
              <a:t>intelegerii</a:t>
            </a:r>
            <a:r>
              <a:rPr lang="en-US" dirty="0"/>
              <a:t> se </a:t>
            </a:r>
            <a:r>
              <a:rPr lang="en-US" dirty="0" err="1"/>
              <a:t>afla</a:t>
            </a:r>
            <a:r>
              <a:rPr lang="en-US" dirty="0"/>
              <a:t> </a:t>
            </a:r>
            <a:r>
              <a:rPr lang="en-US" i="1" dirty="0" err="1"/>
              <a:t>sistemele</a:t>
            </a:r>
            <a:r>
              <a:rPr lang="en-US" i="1" dirty="0"/>
              <a:t> </a:t>
            </a:r>
            <a:r>
              <a:rPr lang="en-US" i="1" dirty="0" err="1"/>
              <a:t>asociative.</a:t>
            </a:r>
            <a:r>
              <a:rPr lang="en-US" dirty="0" err="1"/>
              <a:t>Acestea</a:t>
            </a:r>
            <a:r>
              <a:rPr lang="en-US" dirty="0"/>
              <a:t> pun in </a:t>
            </a:r>
            <a:r>
              <a:rPr lang="en-US" dirty="0" err="1"/>
              <a:t>relatie</a:t>
            </a:r>
            <a:r>
              <a:rPr lang="en-US" dirty="0"/>
              <a:t> </a:t>
            </a:r>
            <a:r>
              <a:rPr lang="en-US" dirty="0" err="1"/>
              <a:t>cunostintele,experientele</a:t>
            </a:r>
            <a:r>
              <a:rPr lang="en-US" dirty="0"/>
              <a:t> </a:t>
            </a:r>
            <a:r>
              <a:rPr lang="en-US" dirty="0" err="1"/>
              <a:t>stocate</a:t>
            </a:r>
            <a:r>
              <a:rPr lang="en-US" dirty="0"/>
              <a:t> in </a:t>
            </a:r>
            <a:r>
              <a:rPr lang="en-US" dirty="0" err="1"/>
              <a:t>memorie</a:t>
            </a:r>
            <a:r>
              <a:rPr lang="en-US" dirty="0"/>
              <a:t> cu </a:t>
            </a:r>
            <a:r>
              <a:rPr lang="en-US" dirty="0" err="1"/>
              <a:t>situatiile</a:t>
            </a:r>
            <a:r>
              <a:rPr lang="en-US" dirty="0"/>
              <a:t> </a:t>
            </a:r>
            <a:r>
              <a:rPr lang="en-US" dirty="0" err="1"/>
              <a:t>prezente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avanseaza</a:t>
            </a:r>
            <a:r>
              <a:rPr lang="en-US" dirty="0"/>
              <a:t> </a:t>
            </a:r>
            <a:r>
              <a:rPr lang="en-US" dirty="0" err="1"/>
              <a:t>explicatii</a:t>
            </a:r>
            <a:r>
              <a:rPr lang="en-US" dirty="0"/>
              <a:t>. </a:t>
            </a:r>
            <a:r>
              <a:rPr lang="en-US" dirty="0" err="1"/>
              <a:t>Principiul</a:t>
            </a:r>
            <a:r>
              <a:rPr lang="en-US" dirty="0"/>
              <a:t> de </a:t>
            </a:r>
            <a:r>
              <a:rPr lang="en-US" dirty="0" err="1"/>
              <a:t>baza</a:t>
            </a:r>
            <a:r>
              <a:rPr lang="en-US" dirty="0"/>
              <a:t> al </a:t>
            </a:r>
            <a:r>
              <a:rPr lang="en-US" dirty="0" err="1"/>
              <a:t>asocierii</a:t>
            </a:r>
            <a:r>
              <a:rPr lang="en-US" dirty="0"/>
              <a:t> </a:t>
            </a:r>
            <a:r>
              <a:rPr lang="en-US" dirty="0" err="1"/>
              <a:t>stipuleaza</a:t>
            </a:r>
            <a:r>
              <a:rPr lang="en-US" dirty="0"/>
              <a:t> ca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experiente</a:t>
            </a:r>
            <a:r>
              <a:rPr lang="en-US" dirty="0"/>
              <a:t> se </a:t>
            </a:r>
            <a:r>
              <a:rPr lang="en-US" dirty="0" err="1"/>
              <a:t>produc</a:t>
            </a:r>
            <a:r>
              <a:rPr lang="en-US" dirty="0"/>
              <a:t> </a:t>
            </a:r>
            <a:r>
              <a:rPr lang="en-US" dirty="0" err="1"/>
              <a:t>impreuna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concomitent</a:t>
            </a:r>
            <a:r>
              <a:rPr lang="en-US" dirty="0"/>
              <a:t>,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</a:t>
            </a:r>
            <a:r>
              <a:rPr lang="en-US" dirty="0" err="1"/>
              <a:t>ajunge</a:t>
            </a:r>
            <a:r>
              <a:rPr lang="en-US" dirty="0"/>
              <a:t> in </a:t>
            </a:r>
            <a:r>
              <a:rPr lang="en-US" dirty="0" err="1"/>
              <a:t>constiinta</a:t>
            </a:r>
            <a:r>
              <a:rPr lang="en-US" dirty="0"/>
              <a:t> are </a:t>
            </a:r>
            <a:r>
              <a:rPr lang="en-US" dirty="0" err="1"/>
              <a:t>tendinta</a:t>
            </a:r>
            <a:r>
              <a:rPr lang="en-US" dirty="0"/>
              <a:t> de a o </a:t>
            </a:r>
            <a:r>
              <a:rPr lang="en-US" dirty="0" err="1"/>
              <a:t>readuce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cealalta.Cele</a:t>
            </a:r>
            <a:r>
              <a:rPr lang="en-US" dirty="0"/>
              <a:t> 3 </a:t>
            </a:r>
            <a:r>
              <a:rPr lang="en-US" dirty="0" err="1"/>
              <a:t>forme</a:t>
            </a:r>
            <a:r>
              <a:rPr lang="en-US" dirty="0"/>
              <a:t> de </a:t>
            </a:r>
            <a:r>
              <a:rPr lang="en-US" dirty="0" err="1"/>
              <a:t>baza</a:t>
            </a:r>
            <a:r>
              <a:rPr lang="en-US" dirty="0"/>
              <a:t> ale </a:t>
            </a:r>
            <a:r>
              <a:rPr lang="en-US" dirty="0" err="1"/>
              <a:t>asocierii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asemanare</a:t>
            </a:r>
            <a:endParaRPr lang="en-US" dirty="0"/>
          </a:p>
          <a:p>
            <a:pPr lvl="1"/>
            <a:r>
              <a:rPr lang="en-US" dirty="0" err="1"/>
              <a:t>Dupa</a:t>
            </a:r>
            <a:r>
              <a:rPr lang="en-US" dirty="0"/>
              <a:t> contrast</a:t>
            </a:r>
          </a:p>
          <a:p>
            <a:pPr lvl="1"/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coexistenta</a:t>
            </a:r>
            <a:r>
              <a:rPr lang="en-US" dirty="0"/>
              <a:t> </a:t>
            </a:r>
            <a:r>
              <a:rPr lang="en-US" dirty="0" err="1"/>
              <a:t>spatiala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succesiunea</a:t>
            </a:r>
            <a:r>
              <a:rPr lang="en-US" dirty="0"/>
              <a:t> </a:t>
            </a:r>
            <a:r>
              <a:rPr lang="en-US" dirty="0" err="1"/>
              <a:t>temporala</a:t>
            </a:r>
            <a:endParaRPr lang="en-US" dirty="0"/>
          </a:p>
          <a:p>
            <a:r>
              <a:rPr lang="en-US" dirty="0"/>
              <a:t>Al </a:t>
            </a:r>
            <a:r>
              <a:rPr lang="en-US" dirty="0" err="1"/>
              <a:t>treilea</a:t>
            </a:r>
            <a:r>
              <a:rPr lang="en-US" dirty="0"/>
              <a:t> </a:t>
            </a:r>
            <a:r>
              <a:rPr lang="en-US" dirty="0" err="1"/>
              <a:t>mecanism</a:t>
            </a:r>
            <a:r>
              <a:rPr lang="en-US" dirty="0"/>
              <a:t> al </a:t>
            </a:r>
            <a:r>
              <a:rPr lang="en-US" dirty="0" err="1"/>
              <a:t>intelegerii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i="1" dirty="0" err="1"/>
              <a:t>analogia.</a:t>
            </a:r>
            <a:r>
              <a:rPr lang="en-US" dirty="0" err="1"/>
              <a:t>Cand</a:t>
            </a:r>
            <a:r>
              <a:rPr lang="en-US" dirty="0"/>
              <a:t> </a:t>
            </a:r>
            <a:r>
              <a:rPr lang="en-US" dirty="0" err="1"/>
              <a:t>oamenii</a:t>
            </a:r>
            <a:r>
              <a:rPr lang="en-US" dirty="0"/>
              <a:t> </a:t>
            </a:r>
            <a:r>
              <a:rPr lang="en-US" dirty="0" err="1"/>
              <a:t>pricep</a:t>
            </a:r>
            <a:r>
              <a:rPr lang="en-US" dirty="0"/>
              <a:t> </a:t>
            </a:r>
            <a:r>
              <a:rPr lang="en-US" dirty="0" err="1"/>
              <a:t>ceva</a:t>
            </a:r>
            <a:r>
              <a:rPr lang="en-US" dirty="0"/>
              <a:t> </a:t>
            </a:r>
            <a:r>
              <a:rPr lang="en-US" dirty="0" err="1"/>
              <a:t>anume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analogie,ei</a:t>
            </a:r>
            <a:r>
              <a:rPr lang="en-US" dirty="0"/>
              <a:t> </a:t>
            </a:r>
            <a:r>
              <a:rPr lang="en-US" dirty="0" err="1"/>
              <a:t>inteleg</a:t>
            </a:r>
            <a:r>
              <a:rPr lang="en-US" dirty="0"/>
              <a:t> un </a:t>
            </a:r>
            <a:r>
              <a:rPr lang="en-US" dirty="0" err="1"/>
              <a:t>lucru</a:t>
            </a:r>
            <a:r>
              <a:rPr lang="en-US" dirty="0"/>
              <a:t> in </a:t>
            </a:r>
            <a:r>
              <a:rPr lang="en-US" dirty="0" err="1"/>
              <a:t>relatie</a:t>
            </a:r>
            <a:r>
              <a:rPr lang="en-US" dirty="0"/>
              <a:t> cu alt </a:t>
            </a:r>
            <a:r>
              <a:rPr lang="en-US" dirty="0" err="1"/>
              <a:t>lucru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Rezolvarea</a:t>
            </a:r>
            <a:r>
              <a:rPr lang="en-US" dirty="0"/>
              <a:t> de </a:t>
            </a:r>
            <a:r>
              <a:rPr lang="en-US" dirty="0" err="1"/>
              <a:t>probleme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Rezolvarea</a:t>
            </a:r>
            <a:r>
              <a:rPr lang="en-US" dirty="0"/>
              <a:t> de </a:t>
            </a:r>
            <a:r>
              <a:rPr lang="en-US" dirty="0" err="1"/>
              <a:t>probleme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performantial</a:t>
            </a:r>
            <a:r>
              <a:rPr lang="en-US" dirty="0"/>
              <a:t> al </a:t>
            </a:r>
            <a:r>
              <a:rPr lang="en-US" dirty="0" err="1"/>
              <a:t>gandirii</a:t>
            </a:r>
            <a:r>
              <a:rPr lang="en-US" dirty="0"/>
              <a:t>-&gt;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gandirea</a:t>
            </a:r>
            <a:r>
              <a:rPr lang="en-US" dirty="0"/>
              <a:t> in </a:t>
            </a:r>
            <a:r>
              <a:rPr lang="en-US" dirty="0" err="1"/>
              <a:t>actiune</a:t>
            </a:r>
            <a:r>
              <a:rPr lang="en-US" dirty="0"/>
              <a:t>.</a:t>
            </a:r>
          </a:p>
          <a:p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adesea</a:t>
            </a:r>
            <a:r>
              <a:rPr lang="en-US" dirty="0"/>
              <a:t>, </a:t>
            </a:r>
            <a:r>
              <a:rPr lang="en-US" i="1" dirty="0" err="1"/>
              <a:t>problema</a:t>
            </a:r>
            <a:r>
              <a:rPr lang="en-US" i="1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definita</a:t>
            </a:r>
            <a:r>
              <a:rPr lang="en-US" dirty="0"/>
              <a:t> ca </a:t>
            </a:r>
            <a:r>
              <a:rPr lang="en-US" dirty="0" err="1"/>
              <a:t>obstacol</a:t>
            </a:r>
            <a:r>
              <a:rPr lang="en-US" dirty="0"/>
              <a:t> </a:t>
            </a:r>
            <a:r>
              <a:rPr lang="en-US" dirty="0" err="1"/>
              <a:t>cognitiv</a:t>
            </a:r>
            <a:r>
              <a:rPr lang="en-US" dirty="0"/>
              <a:t>, ca o </a:t>
            </a:r>
            <a:r>
              <a:rPr lang="en-US" dirty="0" err="1"/>
              <a:t>bresa</a:t>
            </a:r>
            <a:r>
              <a:rPr lang="en-US" dirty="0"/>
              <a:t> in </a:t>
            </a:r>
            <a:r>
              <a:rPr lang="en-US" dirty="0" err="1"/>
              <a:t>cunoastere</a:t>
            </a:r>
            <a:r>
              <a:rPr lang="en-US" dirty="0"/>
              <a:t>, ca o </a:t>
            </a:r>
            <a:r>
              <a:rPr lang="en-US" dirty="0" err="1"/>
              <a:t>situatie</a:t>
            </a:r>
            <a:r>
              <a:rPr lang="en-US" dirty="0"/>
              <a:t> </a:t>
            </a:r>
            <a:r>
              <a:rPr lang="en-US" dirty="0" err="1"/>
              <a:t>fata</a:t>
            </a:r>
            <a:r>
              <a:rPr lang="en-US" dirty="0"/>
              <a:t> de care </a:t>
            </a:r>
            <a:r>
              <a:rPr lang="en-US" dirty="0" err="1"/>
              <a:t>repertoriul</a:t>
            </a:r>
            <a:r>
              <a:rPr lang="en-US" dirty="0"/>
              <a:t> de </a:t>
            </a:r>
            <a:r>
              <a:rPr lang="en-US" dirty="0" err="1"/>
              <a:t>raspunsuri</a:t>
            </a:r>
            <a:r>
              <a:rPr lang="en-US" dirty="0"/>
              <a:t> ale </a:t>
            </a:r>
            <a:r>
              <a:rPr lang="en-US" dirty="0" err="1"/>
              <a:t>subiectului</a:t>
            </a:r>
            <a:r>
              <a:rPr lang="en-US" dirty="0"/>
              <a:t>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suficient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o </a:t>
            </a:r>
            <a:r>
              <a:rPr lang="en-US" dirty="0" err="1"/>
              <a:t>intelege</a:t>
            </a:r>
            <a:r>
              <a:rPr lang="en-US" dirty="0"/>
              <a:t>.</a:t>
            </a:r>
          </a:p>
          <a:p>
            <a:r>
              <a:rPr lang="en-US" dirty="0" err="1"/>
              <a:t>Etapele</a:t>
            </a:r>
            <a:r>
              <a:rPr lang="en-US" dirty="0"/>
              <a:t> </a:t>
            </a:r>
            <a:r>
              <a:rPr lang="en-US" dirty="0" err="1"/>
              <a:t>procesului</a:t>
            </a:r>
            <a:r>
              <a:rPr lang="en-US" dirty="0"/>
              <a:t> </a:t>
            </a:r>
            <a:r>
              <a:rPr lang="en-US" dirty="0" err="1"/>
              <a:t>rezolutiv</a:t>
            </a:r>
            <a:r>
              <a:rPr lang="en-US" dirty="0"/>
              <a:t> pot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grupate</a:t>
            </a:r>
            <a:r>
              <a:rPr lang="en-US" dirty="0"/>
              <a:t> in 2 </a:t>
            </a:r>
            <a:r>
              <a:rPr lang="en-US" dirty="0" err="1"/>
              <a:t>momente</a:t>
            </a:r>
            <a:r>
              <a:rPr lang="en-US" dirty="0"/>
              <a:t> </a:t>
            </a:r>
            <a:r>
              <a:rPr lang="en-US" dirty="0" err="1"/>
              <a:t>majore</a:t>
            </a:r>
            <a:endParaRPr lang="en-US" dirty="0"/>
          </a:p>
          <a:p>
            <a:pPr lvl="1"/>
            <a:r>
              <a:rPr lang="en-US" dirty="0" err="1"/>
              <a:t>Punerea</a:t>
            </a:r>
            <a:r>
              <a:rPr lang="en-US" dirty="0"/>
              <a:t> </a:t>
            </a:r>
            <a:r>
              <a:rPr lang="en-US" dirty="0" err="1"/>
              <a:t>problemei</a:t>
            </a:r>
            <a:endParaRPr lang="en-US" dirty="0"/>
          </a:p>
          <a:p>
            <a:pPr lvl="1"/>
            <a:r>
              <a:rPr lang="en-US" dirty="0" err="1"/>
              <a:t>Rezolvarea</a:t>
            </a:r>
            <a:r>
              <a:rPr lang="en-US" dirty="0"/>
              <a:t> </a:t>
            </a:r>
            <a:r>
              <a:rPr lang="en-US" dirty="0" err="1"/>
              <a:t>acesteia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3276600" y="-609600"/>
            <a:ext cx="5410200" cy="76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66294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Elementul</a:t>
            </a:r>
            <a:r>
              <a:rPr lang="en-US" dirty="0"/>
              <a:t> </a:t>
            </a:r>
            <a:r>
              <a:rPr lang="en-US" dirty="0" err="1"/>
              <a:t>esential</a:t>
            </a:r>
            <a:r>
              <a:rPr lang="en-US" dirty="0"/>
              <a:t> al </a:t>
            </a:r>
            <a:r>
              <a:rPr lang="en-US" dirty="0" err="1"/>
              <a:t>primului</a:t>
            </a:r>
            <a:r>
              <a:rPr lang="en-US" dirty="0"/>
              <a:t> moment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elaborarea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reprezentari</a:t>
            </a:r>
            <a:r>
              <a:rPr lang="en-US" dirty="0"/>
              <a:t> </a:t>
            </a:r>
            <a:r>
              <a:rPr lang="en-US" dirty="0" err="1"/>
              <a:t>mintale</a:t>
            </a:r>
            <a:r>
              <a:rPr lang="en-US" dirty="0"/>
              <a:t> interne a </a:t>
            </a:r>
            <a:r>
              <a:rPr lang="en-US" dirty="0" err="1"/>
              <a:t>problemei</a:t>
            </a:r>
            <a:r>
              <a:rPr lang="en-US" dirty="0"/>
              <a:t> care se </a:t>
            </a:r>
            <a:r>
              <a:rPr lang="en-US" dirty="0" err="1"/>
              <a:t>realizeaza</a:t>
            </a:r>
            <a:r>
              <a:rPr lang="en-US" dirty="0"/>
              <a:t> in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definirii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, a </a:t>
            </a:r>
            <a:r>
              <a:rPr lang="en-US" dirty="0" err="1"/>
              <a:t>explorarii</a:t>
            </a:r>
            <a:r>
              <a:rPr lang="en-US" dirty="0"/>
              <a:t> </a:t>
            </a:r>
            <a:r>
              <a:rPr lang="en-US" dirty="0" err="1"/>
              <a:t>bazei</a:t>
            </a:r>
            <a:r>
              <a:rPr lang="en-US" dirty="0"/>
              <a:t> de </a:t>
            </a:r>
            <a:r>
              <a:rPr lang="en-US" dirty="0" err="1"/>
              <a:t>cunostinte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cu </a:t>
            </a:r>
            <a:r>
              <a:rPr lang="en-US" dirty="0" err="1"/>
              <a:t>privire</a:t>
            </a:r>
            <a:r>
              <a:rPr lang="en-US" dirty="0"/>
              <a:t> la </a:t>
            </a:r>
            <a:r>
              <a:rPr lang="en-US" dirty="0" err="1"/>
              <a:t>tipul</a:t>
            </a:r>
            <a:r>
              <a:rPr lang="en-US" dirty="0"/>
              <a:t> de </a:t>
            </a:r>
            <a:r>
              <a:rPr lang="en-US" dirty="0" err="1"/>
              <a:t>problema</a:t>
            </a:r>
            <a:r>
              <a:rPr lang="en-US" dirty="0"/>
              <a:t> cu care ne </a:t>
            </a:r>
            <a:r>
              <a:rPr lang="en-US" dirty="0" err="1"/>
              <a:t>confruntam</a:t>
            </a:r>
            <a:r>
              <a:rPr lang="en-US" dirty="0"/>
              <a:t>, la </a:t>
            </a:r>
            <a:r>
              <a:rPr lang="en-US" dirty="0" err="1"/>
              <a:t>mijloacele</a:t>
            </a:r>
            <a:r>
              <a:rPr lang="en-US" dirty="0"/>
              <a:t> </a:t>
            </a:r>
            <a:r>
              <a:rPr lang="en-US" dirty="0" err="1"/>
              <a:t>adecvate</a:t>
            </a:r>
            <a:r>
              <a:rPr lang="en-US" dirty="0"/>
              <a:t> de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avansarea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ipoteze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solutiilor</a:t>
            </a:r>
            <a:r>
              <a:rPr lang="en-US" dirty="0"/>
              <a:t> </a:t>
            </a:r>
            <a:r>
              <a:rPr lang="en-US" dirty="0" err="1"/>
              <a:t>posibile</a:t>
            </a:r>
            <a:r>
              <a:rPr lang="en-US" dirty="0"/>
              <a:t>. </a:t>
            </a:r>
            <a:r>
              <a:rPr lang="en-US" dirty="0" err="1"/>
              <a:t>Timpul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indelungat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resursele</a:t>
            </a:r>
            <a:r>
              <a:rPr lang="en-US" dirty="0"/>
              <a:t> </a:t>
            </a:r>
            <a:r>
              <a:rPr lang="en-US" dirty="0" err="1"/>
              <a:t>intelectuale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vaste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solicitate</a:t>
            </a:r>
            <a:r>
              <a:rPr lang="en-US" dirty="0"/>
              <a:t> in </a:t>
            </a:r>
            <a:r>
              <a:rPr lang="en-US" dirty="0" err="1"/>
              <a:t>aceasta</a:t>
            </a:r>
            <a:r>
              <a:rPr lang="en-US" dirty="0"/>
              <a:t> prima </a:t>
            </a:r>
            <a:r>
              <a:rPr lang="en-US" dirty="0" err="1"/>
              <a:t>etapa</a:t>
            </a:r>
            <a:r>
              <a:rPr lang="en-US" dirty="0"/>
              <a:t>. </a:t>
            </a:r>
            <a:r>
              <a:rPr lang="en-US" dirty="0" err="1"/>
              <a:t>Rezolvarea</a:t>
            </a:r>
            <a:r>
              <a:rPr lang="en-US" dirty="0"/>
              <a:t> </a:t>
            </a:r>
            <a:r>
              <a:rPr lang="en-US" dirty="0" err="1"/>
              <a:t>propriu-zisa</a:t>
            </a:r>
            <a:r>
              <a:rPr lang="en-US" dirty="0"/>
              <a:t> face </a:t>
            </a:r>
            <a:r>
              <a:rPr lang="en-US" dirty="0" err="1"/>
              <a:t>apel</a:t>
            </a:r>
            <a:r>
              <a:rPr lang="en-US" dirty="0"/>
              <a:t> la </a:t>
            </a:r>
            <a:r>
              <a:rPr lang="en-US" dirty="0" err="1"/>
              <a:t>strategii</a:t>
            </a:r>
            <a:r>
              <a:rPr lang="en-US" dirty="0"/>
              <a:t> de tip </a:t>
            </a:r>
            <a:r>
              <a:rPr lang="en-US" dirty="0" err="1"/>
              <a:t>algoritimic</a:t>
            </a:r>
            <a:r>
              <a:rPr lang="en-US" dirty="0"/>
              <a:t>, </a:t>
            </a:r>
            <a:r>
              <a:rPr lang="en-US" dirty="0" err="1"/>
              <a:t>euristic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combinate</a:t>
            </a:r>
            <a:r>
              <a:rPr lang="en-US" dirty="0"/>
              <a:t>,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rezultatul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supus</a:t>
            </a:r>
            <a:r>
              <a:rPr lang="en-US" dirty="0"/>
              <a:t> </a:t>
            </a:r>
            <a:r>
              <a:rPr lang="en-US" dirty="0" err="1"/>
              <a:t>verificarii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incheiat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s-a </a:t>
            </a:r>
            <a:r>
              <a:rPr lang="en-US" dirty="0" err="1"/>
              <a:t>ajuns</a:t>
            </a:r>
            <a:r>
              <a:rPr lang="en-US" dirty="0"/>
              <a:t> la </a:t>
            </a:r>
            <a:r>
              <a:rPr lang="en-US" dirty="0" err="1"/>
              <a:t>solutia</a:t>
            </a:r>
            <a:r>
              <a:rPr lang="en-US" dirty="0"/>
              <a:t> </a:t>
            </a:r>
            <a:r>
              <a:rPr lang="en-US" dirty="0" err="1"/>
              <a:t>corecta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reluat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rezolvarea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incompleta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incorecta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3049537" y="-2191698"/>
            <a:ext cx="5791200" cy="1658297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525963"/>
          </a:xfrm>
        </p:spPr>
        <p:txBody>
          <a:bodyPr/>
          <a:lstStyle/>
          <a:p>
            <a:r>
              <a:rPr lang="en-US" i="1" dirty="0" err="1"/>
              <a:t>Formularea</a:t>
            </a:r>
            <a:r>
              <a:rPr lang="en-US" i="1" dirty="0"/>
              <a:t> </a:t>
            </a:r>
            <a:r>
              <a:rPr lang="en-US" i="1" dirty="0" err="1"/>
              <a:t>problemei</a:t>
            </a:r>
            <a:r>
              <a:rPr lang="en-US" i="1" dirty="0"/>
              <a:t> </a:t>
            </a:r>
            <a:r>
              <a:rPr lang="en-US" dirty="0"/>
              <a:t>-&gt;</a:t>
            </a:r>
            <a:r>
              <a:rPr lang="en-US" dirty="0" err="1"/>
              <a:t>inainte</a:t>
            </a:r>
            <a:r>
              <a:rPr lang="en-US" dirty="0"/>
              <a:t> de a </a:t>
            </a:r>
            <a:r>
              <a:rPr lang="en-US" dirty="0" err="1"/>
              <a:t>demara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de </a:t>
            </a:r>
            <a:r>
              <a:rPr lang="en-US" dirty="0" err="1"/>
              <a:t>rezolvare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definim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mod </a:t>
            </a:r>
            <a:r>
              <a:rPr lang="en-US" dirty="0" err="1"/>
              <a:t>clar</a:t>
            </a:r>
            <a:r>
              <a:rPr lang="en-US" dirty="0"/>
              <a:t>, </a:t>
            </a:r>
            <a:r>
              <a:rPr lang="en-US" dirty="0" err="1"/>
              <a:t>inteligibil</a:t>
            </a:r>
            <a:r>
              <a:rPr lang="en-US" dirty="0"/>
              <a:t>, familiar. -&gt;</a:t>
            </a:r>
            <a:r>
              <a:rPr lang="en-US" dirty="0" err="1"/>
              <a:t>formulam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limbaj</a:t>
            </a:r>
            <a:r>
              <a:rPr lang="en-US" dirty="0"/>
              <a:t> personal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utilizand</a:t>
            </a:r>
            <a:r>
              <a:rPr lang="en-US" dirty="0"/>
              <a:t> </a:t>
            </a:r>
            <a:r>
              <a:rPr lang="en-US" dirty="0" err="1"/>
              <a:t>concepte</a:t>
            </a:r>
            <a:r>
              <a:rPr lang="en-US" dirty="0"/>
              <a:t> </a:t>
            </a:r>
            <a:r>
              <a:rPr lang="en-US" dirty="0" err="1"/>
              <a:t>cunoscute,cu</a:t>
            </a:r>
            <a:r>
              <a:rPr lang="en-US" dirty="0"/>
              <a:t> care </a:t>
            </a:r>
            <a:r>
              <a:rPr lang="en-US" dirty="0" err="1"/>
              <a:t>putem</a:t>
            </a:r>
            <a:r>
              <a:rPr lang="en-US" dirty="0"/>
              <a:t> opera. Posner </a:t>
            </a:r>
            <a:r>
              <a:rPr lang="en-US" dirty="0" err="1"/>
              <a:t>considera</a:t>
            </a:r>
            <a:r>
              <a:rPr lang="en-US" dirty="0"/>
              <a:t> 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rezolvarii</a:t>
            </a:r>
            <a:r>
              <a:rPr lang="en-US" dirty="0"/>
              <a:t> de </a:t>
            </a:r>
            <a:r>
              <a:rPr lang="en-US" dirty="0" err="1"/>
              <a:t>probleme</a:t>
            </a:r>
            <a:r>
              <a:rPr lang="en-US" dirty="0"/>
              <a:t> ca </a:t>
            </a:r>
            <a:r>
              <a:rPr lang="en-US" dirty="0" err="1"/>
              <a:t>aflandu</a:t>
            </a:r>
            <a:r>
              <a:rPr lang="en-US" dirty="0"/>
              <a:t>-se in </a:t>
            </a:r>
            <a:r>
              <a:rPr lang="en-US" dirty="0" err="1"/>
              <a:t>formularea</a:t>
            </a:r>
            <a:r>
              <a:rPr lang="en-US" dirty="0"/>
              <a:t> </a:t>
            </a:r>
            <a:r>
              <a:rPr lang="en-US" dirty="0" err="1"/>
              <a:t>initiala</a:t>
            </a:r>
            <a:r>
              <a:rPr lang="en-US" dirty="0"/>
              <a:t> a </a:t>
            </a:r>
            <a:r>
              <a:rPr lang="en-US" dirty="0" err="1"/>
              <a:t>problemei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-609600"/>
            <a:ext cx="57912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144000" cy="6705600"/>
          </a:xfrm>
        </p:spPr>
        <p:txBody>
          <a:bodyPr>
            <a:normAutofit/>
          </a:bodyPr>
          <a:lstStyle/>
          <a:p>
            <a:r>
              <a:rPr lang="en-US" i="1" dirty="0" err="1"/>
              <a:t>Structurarea</a:t>
            </a:r>
            <a:r>
              <a:rPr lang="en-US" i="1" dirty="0"/>
              <a:t> </a:t>
            </a:r>
            <a:r>
              <a:rPr lang="en-US" i="1" dirty="0" err="1"/>
              <a:t>si</a:t>
            </a:r>
            <a:r>
              <a:rPr lang="en-US" i="1" dirty="0"/>
              <a:t> </a:t>
            </a:r>
            <a:r>
              <a:rPr lang="en-US" i="1" dirty="0" err="1"/>
              <a:t>intelegerea</a:t>
            </a:r>
            <a:r>
              <a:rPr lang="en-US" i="1" dirty="0"/>
              <a:t> </a:t>
            </a:r>
            <a:r>
              <a:rPr lang="en-US" i="1" dirty="0" err="1"/>
              <a:t>elementelor</a:t>
            </a:r>
            <a:r>
              <a:rPr lang="en-US" i="1" dirty="0"/>
              <a:t> </a:t>
            </a:r>
            <a:r>
              <a:rPr lang="en-US" i="1" dirty="0" err="1"/>
              <a:t>problemei</a:t>
            </a:r>
            <a:r>
              <a:rPr lang="en-US" i="1" dirty="0"/>
              <a:t>-&gt;</a:t>
            </a:r>
            <a:r>
              <a:rPr lang="en-US" dirty="0" err="1"/>
              <a:t>pasul</a:t>
            </a:r>
            <a:r>
              <a:rPr lang="en-US" dirty="0"/>
              <a:t> </a:t>
            </a:r>
            <a:r>
              <a:rPr lang="en-US" dirty="0" err="1"/>
              <a:t>urmator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inventarierea</a:t>
            </a:r>
            <a:r>
              <a:rPr lang="en-US" dirty="0"/>
              <a:t> </a:t>
            </a:r>
            <a:r>
              <a:rPr lang="en-US" dirty="0" err="1"/>
              <a:t>elementelor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-&gt; </a:t>
            </a:r>
            <a:r>
              <a:rPr lang="en-US" dirty="0" err="1"/>
              <a:t>trecerea</a:t>
            </a:r>
            <a:r>
              <a:rPr lang="en-US" dirty="0"/>
              <a:t> in </a:t>
            </a:r>
            <a:r>
              <a:rPr lang="en-US" dirty="0" err="1"/>
              <a:t>revista</a:t>
            </a:r>
            <a:r>
              <a:rPr lang="en-US" dirty="0"/>
              <a:t> a </a:t>
            </a:r>
            <a:r>
              <a:rPr lang="en-US" dirty="0" err="1"/>
              <a:t>informatiilor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altor</a:t>
            </a:r>
            <a:r>
              <a:rPr lang="en-US" dirty="0"/>
              <a:t> </a:t>
            </a:r>
            <a:r>
              <a:rPr lang="en-US" dirty="0" err="1"/>
              <a:t>resurse</a:t>
            </a:r>
            <a:r>
              <a:rPr lang="en-US" dirty="0"/>
              <a:t> de care </a:t>
            </a:r>
            <a:r>
              <a:rPr lang="en-US" dirty="0" err="1"/>
              <a:t>dispunem</a:t>
            </a:r>
            <a:r>
              <a:rPr lang="en-US" dirty="0"/>
              <a:t>.-&gt;</a:t>
            </a:r>
            <a:r>
              <a:rPr lang="en-US" dirty="0" err="1"/>
              <a:t>intelegerea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 </a:t>
            </a:r>
            <a:r>
              <a:rPr lang="en-US" dirty="0" err="1"/>
              <a:t>inseamna</a:t>
            </a:r>
            <a:r>
              <a:rPr lang="en-US" dirty="0"/>
              <a:t> a </a:t>
            </a:r>
            <a:r>
              <a:rPr lang="en-US" dirty="0" err="1"/>
              <a:t>construi</a:t>
            </a:r>
            <a:r>
              <a:rPr lang="en-US" dirty="0"/>
              <a:t> o </a:t>
            </a:r>
            <a:r>
              <a:rPr lang="en-US" dirty="0" err="1"/>
              <a:t>reprezentare</a:t>
            </a:r>
            <a:r>
              <a:rPr lang="en-US" dirty="0"/>
              <a:t> </a:t>
            </a:r>
            <a:r>
              <a:rPr lang="en-US" dirty="0" err="1"/>
              <a:t>mentala</a:t>
            </a:r>
            <a:r>
              <a:rPr lang="en-US" dirty="0"/>
              <a:t> </a:t>
            </a:r>
            <a:r>
              <a:rPr lang="en-US" dirty="0" err="1"/>
              <a:t>coerenta</a:t>
            </a:r>
            <a:r>
              <a:rPr lang="en-US" dirty="0"/>
              <a:t> a </a:t>
            </a:r>
            <a:r>
              <a:rPr lang="en-US" dirty="0" err="1"/>
              <a:t>situatiei</a:t>
            </a:r>
            <a:r>
              <a:rPr lang="en-US" dirty="0"/>
              <a:t> </a:t>
            </a:r>
            <a:r>
              <a:rPr lang="en-US" dirty="0" err="1"/>
              <a:t>problematice</a:t>
            </a:r>
            <a:r>
              <a:rPr lang="en-US" dirty="0"/>
              <a:t>.-&gt;</a:t>
            </a:r>
            <a:r>
              <a:rPr lang="en-US" dirty="0" err="1"/>
              <a:t>limitarile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</a:t>
            </a:r>
            <a:r>
              <a:rPr lang="en-US" dirty="0" err="1"/>
              <a:t>cei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multi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le </a:t>
            </a:r>
            <a:r>
              <a:rPr lang="en-US" dirty="0" err="1"/>
              <a:t>experimentam</a:t>
            </a:r>
            <a:r>
              <a:rPr lang="en-US" dirty="0"/>
              <a:t> in </a:t>
            </a:r>
            <a:r>
              <a:rPr lang="en-US" dirty="0" err="1"/>
              <a:t>evaluarea</a:t>
            </a:r>
            <a:r>
              <a:rPr lang="en-US" dirty="0"/>
              <a:t> </a:t>
            </a:r>
            <a:r>
              <a:rPr lang="en-US" dirty="0" err="1"/>
              <a:t>elementelor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acelea</a:t>
            </a:r>
            <a:r>
              <a:rPr lang="en-US" dirty="0"/>
              <a:t> ca ne </a:t>
            </a:r>
            <a:r>
              <a:rPr lang="en-US" dirty="0" err="1"/>
              <a:t>blocam</a:t>
            </a:r>
            <a:r>
              <a:rPr lang="en-US" dirty="0"/>
              <a:t> in </a:t>
            </a:r>
            <a:r>
              <a:rPr lang="en-US" dirty="0" err="1"/>
              <a:t>patternuri</a:t>
            </a:r>
            <a:r>
              <a:rPr lang="en-US" dirty="0"/>
              <a:t> de </a:t>
            </a:r>
            <a:r>
              <a:rPr lang="en-US" dirty="0" err="1"/>
              <a:t>gandire</a:t>
            </a:r>
            <a:r>
              <a:rPr lang="en-US" dirty="0"/>
              <a:t>, in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seturi</a:t>
            </a:r>
            <a:r>
              <a:rPr lang="en-US" dirty="0"/>
              <a:t> </a:t>
            </a:r>
            <a:r>
              <a:rPr lang="en-US" dirty="0" err="1"/>
              <a:t>mentale</a:t>
            </a:r>
            <a:r>
              <a:rPr lang="en-US" dirty="0"/>
              <a:t>.-&gt;set mental( </a:t>
            </a:r>
            <a:r>
              <a:rPr lang="en-US" dirty="0" err="1"/>
              <a:t>fixitate</a:t>
            </a:r>
            <a:r>
              <a:rPr lang="en-US" dirty="0"/>
              <a:t> </a:t>
            </a:r>
            <a:r>
              <a:rPr lang="en-US" dirty="0" err="1"/>
              <a:t>functionala</a:t>
            </a:r>
            <a:r>
              <a:rPr lang="en-US" dirty="0"/>
              <a:t>):un mod </a:t>
            </a:r>
            <a:r>
              <a:rPr lang="en-US" dirty="0" err="1"/>
              <a:t>obisnuit</a:t>
            </a:r>
            <a:r>
              <a:rPr lang="en-US" dirty="0"/>
              <a:t> de a </a:t>
            </a:r>
            <a:r>
              <a:rPr lang="en-US" dirty="0" err="1"/>
              <a:t>aborda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de a </a:t>
            </a:r>
            <a:r>
              <a:rPr lang="en-US" dirty="0" err="1"/>
              <a:t>percepe</a:t>
            </a:r>
            <a:r>
              <a:rPr lang="en-US" dirty="0"/>
              <a:t> o </a:t>
            </a:r>
            <a:r>
              <a:rPr lang="en-US" dirty="0" err="1"/>
              <a:t>problema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>
            <a:off x="3657600" y="-1143000"/>
            <a:ext cx="5029200" cy="7620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70000" lnSpcReduction="20000"/>
          </a:bodyPr>
          <a:lstStyle/>
          <a:p>
            <a:r>
              <a:rPr lang="en-US" i="1" dirty="0" err="1"/>
              <a:t>Generarea</a:t>
            </a:r>
            <a:r>
              <a:rPr lang="en-US" i="1" dirty="0"/>
              <a:t> </a:t>
            </a:r>
            <a:r>
              <a:rPr lang="en-US" i="1" dirty="0" err="1"/>
              <a:t>solutiilor</a:t>
            </a:r>
            <a:r>
              <a:rPr lang="en-US" i="1" dirty="0"/>
              <a:t> alternative </a:t>
            </a:r>
            <a:r>
              <a:rPr lang="en-US" i="1" dirty="0" err="1"/>
              <a:t>si</a:t>
            </a:r>
            <a:r>
              <a:rPr lang="en-US" i="1" dirty="0"/>
              <a:t> </a:t>
            </a:r>
            <a:r>
              <a:rPr lang="en-US" i="1" dirty="0" err="1"/>
              <a:t>evaluarea</a:t>
            </a:r>
            <a:r>
              <a:rPr lang="en-US" i="1" dirty="0"/>
              <a:t> </a:t>
            </a:r>
            <a:r>
              <a:rPr lang="en-US" i="1" dirty="0" err="1"/>
              <a:t>lor</a:t>
            </a:r>
            <a:r>
              <a:rPr lang="en-US" i="1" dirty="0"/>
              <a:t>.-&gt;</a:t>
            </a:r>
            <a:r>
              <a:rPr lang="en-US" dirty="0" err="1"/>
              <a:t>adesea</a:t>
            </a:r>
            <a:r>
              <a:rPr lang="en-US" dirty="0"/>
              <a:t> o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solutii</a:t>
            </a:r>
            <a:r>
              <a:rPr lang="en-US" dirty="0"/>
              <a:t> </a:t>
            </a:r>
            <a:r>
              <a:rPr lang="en-US" dirty="0" err="1"/>
              <a:t>corecte</a:t>
            </a:r>
            <a:r>
              <a:rPr lang="en-US" dirty="0"/>
              <a:t>.-&gt;</a:t>
            </a:r>
            <a:r>
              <a:rPr lang="en-US" dirty="0" err="1"/>
              <a:t>sarcina</a:t>
            </a:r>
            <a:r>
              <a:rPr lang="en-US" dirty="0"/>
              <a:t> </a:t>
            </a:r>
            <a:r>
              <a:rPr lang="en-US" dirty="0" err="1"/>
              <a:t>persoanei</a:t>
            </a:r>
            <a:r>
              <a:rPr lang="en-US" dirty="0"/>
              <a:t> </a:t>
            </a:r>
            <a:r>
              <a:rPr lang="en-US" dirty="0" err="1"/>
              <a:t>angajata</a:t>
            </a:r>
            <a:r>
              <a:rPr lang="en-US" dirty="0"/>
              <a:t> in </a:t>
            </a:r>
            <a:r>
              <a:rPr lang="en-US" dirty="0" err="1"/>
              <a:t>rezolvarea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a </a:t>
            </a:r>
            <a:r>
              <a:rPr lang="en-US" dirty="0" err="1"/>
              <a:t>alcatui</a:t>
            </a:r>
            <a:r>
              <a:rPr lang="en-US" dirty="0"/>
              <a:t> o </a:t>
            </a:r>
            <a:r>
              <a:rPr lang="en-US" dirty="0" err="1"/>
              <a:t>lista</a:t>
            </a:r>
            <a:r>
              <a:rPr lang="en-US" dirty="0"/>
              <a:t> cu </a:t>
            </a:r>
            <a:r>
              <a:rPr lang="en-US" dirty="0" err="1"/>
              <a:t>solutiile</a:t>
            </a:r>
            <a:r>
              <a:rPr lang="en-US" dirty="0"/>
              <a:t> </a:t>
            </a:r>
            <a:r>
              <a:rPr lang="en-US" dirty="0" err="1"/>
              <a:t>posibile</a:t>
            </a:r>
            <a:r>
              <a:rPr lang="en-US" dirty="0"/>
              <a:t>, </a:t>
            </a:r>
            <a:r>
              <a:rPr lang="en-US" dirty="0" err="1"/>
              <a:t>sa</a:t>
            </a:r>
            <a:r>
              <a:rPr lang="en-US" dirty="0"/>
              <a:t> o </a:t>
            </a:r>
            <a:r>
              <a:rPr lang="en-US" dirty="0" err="1"/>
              <a:t>evalueze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in parte </a:t>
            </a:r>
            <a:r>
              <a:rPr lang="en-US" dirty="0" err="1"/>
              <a:t>incercand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anticipeze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efecte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consecinte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produce,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aleaga</a:t>
            </a:r>
            <a:r>
              <a:rPr lang="en-US" dirty="0"/>
              <a:t>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buna</a:t>
            </a:r>
            <a:r>
              <a:rPr lang="en-US" dirty="0"/>
              <a:t> </a:t>
            </a:r>
            <a:r>
              <a:rPr lang="en-US" dirty="0" err="1"/>
              <a:t>solutie</a:t>
            </a:r>
            <a:r>
              <a:rPr lang="en-US" dirty="0"/>
              <a:t> </a:t>
            </a:r>
            <a:r>
              <a:rPr lang="en-US" dirty="0" err="1"/>
              <a:t>iar</a:t>
            </a:r>
            <a:r>
              <a:rPr lang="en-US" dirty="0"/>
              <a:t> in final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dezvolte</a:t>
            </a:r>
            <a:r>
              <a:rPr lang="en-US" dirty="0"/>
              <a:t> un mod de </a:t>
            </a:r>
            <a:r>
              <a:rPr lang="en-US" dirty="0" err="1"/>
              <a:t>implementare</a:t>
            </a:r>
            <a:r>
              <a:rPr lang="en-US" dirty="0"/>
              <a:t> a </a:t>
            </a:r>
            <a:r>
              <a:rPr lang="en-US" dirty="0" err="1"/>
              <a:t>ei</a:t>
            </a:r>
            <a:r>
              <a:rPr lang="en-US" dirty="0"/>
              <a:t> in </a:t>
            </a:r>
            <a:r>
              <a:rPr lang="en-US" dirty="0" err="1"/>
              <a:t>realitate</a:t>
            </a:r>
            <a:r>
              <a:rPr lang="en-US" dirty="0"/>
              <a:t>. </a:t>
            </a:r>
            <a:r>
              <a:rPr lang="en-US" dirty="0" err="1"/>
              <a:t>Strategiile</a:t>
            </a:r>
            <a:r>
              <a:rPr lang="en-US" dirty="0"/>
              <a:t> de </a:t>
            </a:r>
            <a:r>
              <a:rPr lang="en-US" dirty="0" err="1"/>
              <a:t>gasire</a:t>
            </a:r>
            <a:r>
              <a:rPr lang="en-US" dirty="0"/>
              <a:t> a </a:t>
            </a:r>
            <a:r>
              <a:rPr lang="en-US" dirty="0" err="1"/>
              <a:t>solutiilor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variate</a:t>
            </a:r>
            <a:r>
              <a:rPr lang="en-US" dirty="0"/>
              <a:t>: </a:t>
            </a:r>
            <a:r>
              <a:rPr lang="en-US" dirty="0" err="1"/>
              <a:t>incercare-eroare</a:t>
            </a:r>
            <a:r>
              <a:rPr lang="en-US" dirty="0"/>
              <a:t>(Thorndike),</a:t>
            </a:r>
            <a:r>
              <a:rPr lang="en-US" dirty="0" err="1"/>
              <a:t>strategiile</a:t>
            </a:r>
            <a:r>
              <a:rPr lang="en-US" dirty="0"/>
              <a:t> </a:t>
            </a:r>
            <a:r>
              <a:rPr lang="en-US" dirty="0" err="1"/>
              <a:t>algoritmice</a:t>
            </a:r>
            <a:r>
              <a:rPr lang="en-US" dirty="0"/>
              <a:t>, </a:t>
            </a:r>
            <a:r>
              <a:rPr lang="en-US" dirty="0" err="1"/>
              <a:t>strategiile</a:t>
            </a:r>
            <a:r>
              <a:rPr lang="en-US" dirty="0"/>
              <a:t> </a:t>
            </a:r>
            <a:r>
              <a:rPr lang="en-US" dirty="0" err="1"/>
              <a:t>euristice</a:t>
            </a:r>
            <a:r>
              <a:rPr lang="en-US" dirty="0"/>
              <a:t>, </a:t>
            </a:r>
            <a:r>
              <a:rPr lang="en-US" dirty="0" err="1"/>
              <a:t>analogii</a:t>
            </a:r>
            <a:r>
              <a:rPr lang="en-US" dirty="0"/>
              <a:t>.</a:t>
            </a:r>
          </a:p>
          <a:p>
            <a:r>
              <a:rPr lang="en-US" i="1" dirty="0" err="1"/>
              <a:t>Strategiile</a:t>
            </a:r>
            <a:r>
              <a:rPr lang="en-US" i="1" dirty="0"/>
              <a:t> </a:t>
            </a:r>
            <a:r>
              <a:rPr lang="en-US" i="1" dirty="0" err="1"/>
              <a:t>algoritmice</a:t>
            </a:r>
            <a:r>
              <a:rPr lang="en-US" i="1" dirty="0"/>
              <a:t> </a:t>
            </a:r>
            <a:r>
              <a:rPr lang="en-US" dirty="0" err="1"/>
              <a:t>pornesc</a:t>
            </a:r>
            <a:r>
              <a:rPr lang="en-US" dirty="0"/>
              <a:t> de la pattern-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sistematice</a:t>
            </a:r>
            <a:r>
              <a:rPr lang="en-US" dirty="0"/>
              <a:t> de </a:t>
            </a:r>
            <a:r>
              <a:rPr lang="en-US" dirty="0" err="1"/>
              <a:t>rationament</a:t>
            </a:r>
            <a:r>
              <a:rPr lang="en-US" dirty="0"/>
              <a:t> care,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urmate</a:t>
            </a:r>
            <a:r>
              <a:rPr lang="en-US" dirty="0"/>
              <a:t> </a:t>
            </a:r>
            <a:r>
              <a:rPr lang="en-US" dirty="0" err="1"/>
              <a:t>asa</a:t>
            </a:r>
            <a:r>
              <a:rPr lang="en-US" dirty="0"/>
              <a:t> cum </a:t>
            </a:r>
            <a:r>
              <a:rPr lang="en-US" dirty="0" err="1"/>
              <a:t>trebuie</a:t>
            </a:r>
            <a:r>
              <a:rPr lang="en-US" dirty="0"/>
              <a:t>, </a:t>
            </a:r>
            <a:r>
              <a:rPr lang="en-US" dirty="0" err="1"/>
              <a:t>duc</a:t>
            </a:r>
            <a:r>
              <a:rPr lang="en-US" dirty="0"/>
              <a:t> </a:t>
            </a:r>
            <a:r>
              <a:rPr lang="en-US" dirty="0" err="1"/>
              <a:t>invariabil</a:t>
            </a:r>
            <a:r>
              <a:rPr lang="en-US" dirty="0"/>
              <a:t> la </a:t>
            </a:r>
            <a:r>
              <a:rPr lang="en-US" dirty="0" err="1"/>
              <a:t>gasirea</a:t>
            </a:r>
            <a:r>
              <a:rPr lang="en-US" dirty="0"/>
              <a:t> </a:t>
            </a:r>
            <a:r>
              <a:rPr lang="en-US" dirty="0" err="1"/>
              <a:t>solutiei</a:t>
            </a:r>
            <a:r>
              <a:rPr lang="en-US" dirty="0"/>
              <a:t>. Este </a:t>
            </a:r>
            <a:r>
              <a:rPr lang="en-US" dirty="0" err="1"/>
              <a:t>si</a:t>
            </a:r>
            <a:r>
              <a:rPr lang="en-US" dirty="0"/>
              <a:t> un mod de </a:t>
            </a:r>
            <a:r>
              <a:rPr lang="en-US" dirty="0" err="1"/>
              <a:t>gandire</a:t>
            </a:r>
            <a:r>
              <a:rPr lang="en-US" dirty="0"/>
              <a:t>, un </a:t>
            </a:r>
            <a:r>
              <a:rPr lang="en-US" dirty="0" err="1"/>
              <a:t>stil</a:t>
            </a:r>
            <a:r>
              <a:rPr lang="en-US" dirty="0"/>
              <a:t> de </a:t>
            </a:r>
            <a:r>
              <a:rPr lang="en-US" dirty="0" err="1"/>
              <a:t>abordare</a:t>
            </a:r>
            <a:r>
              <a:rPr lang="en-US" dirty="0"/>
              <a:t> </a:t>
            </a:r>
            <a:r>
              <a:rPr lang="en-US" dirty="0" err="1"/>
              <a:t>reproductiv</a:t>
            </a:r>
            <a:r>
              <a:rPr lang="en-US" dirty="0"/>
              <a:t>.</a:t>
            </a:r>
          </a:p>
          <a:p>
            <a:r>
              <a:rPr lang="en-US" i="1" dirty="0" err="1"/>
              <a:t>Strategiile</a:t>
            </a:r>
            <a:r>
              <a:rPr lang="en-US" i="1" dirty="0"/>
              <a:t> </a:t>
            </a:r>
            <a:r>
              <a:rPr lang="en-US" i="1" dirty="0" err="1"/>
              <a:t>euristice</a:t>
            </a:r>
            <a:r>
              <a:rPr lang="en-US" i="1" dirty="0"/>
              <a:t> </a:t>
            </a:r>
            <a:r>
              <a:rPr lang="en-US" dirty="0"/>
              <a:t>nu </a:t>
            </a:r>
            <a:r>
              <a:rPr lang="en-US" dirty="0" err="1"/>
              <a:t>evalueaza</a:t>
            </a:r>
            <a:r>
              <a:rPr lang="en-US" dirty="0"/>
              <a:t> </a:t>
            </a:r>
            <a:r>
              <a:rPr lang="en-US" dirty="0" err="1"/>
              <a:t>sistematic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solutiile</a:t>
            </a:r>
            <a:r>
              <a:rPr lang="en-US" dirty="0"/>
              <a:t> </a:t>
            </a:r>
            <a:r>
              <a:rPr lang="en-US" dirty="0" err="1"/>
              <a:t>posibile</a:t>
            </a:r>
            <a:r>
              <a:rPr lang="en-US" dirty="0"/>
              <a:t>  </a:t>
            </a:r>
            <a:r>
              <a:rPr lang="en-US" dirty="0" err="1"/>
              <a:t>si</a:t>
            </a:r>
            <a:r>
              <a:rPr lang="en-US" dirty="0"/>
              <a:t> de </a:t>
            </a:r>
            <a:r>
              <a:rPr lang="en-US" dirty="0" err="1"/>
              <a:t>aceea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nu </a:t>
            </a:r>
            <a:r>
              <a:rPr lang="en-US" dirty="0" err="1"/>
              <a:t>garanteaza</a:t>
            </a:r>
            <a:r>
              <a:rPr lang="en-US" dirty="0"/>
              <a:t> </a:t>
            </a:r>
            <a:r>
              <a:rPr lang="en-US" dirty="0" err="1"/>
              <a:t>gasirea</a:t>
            </a:r>
            <a:r>
              <a:rPr lang="en-US" dirty="0"/>
              <a:t> </a:t>
            </a:r>
            <a:r>
              <a:rPr lang="en-US" dirty="0" err="1"/>
              <a:t>raspunsului</a:t>
            </a:r>
            <a:r>
              <a:rPr lang="en-US" dirty="0"/>
              <a:t> </a:t>
            </a:r>
            <a:r>
              <a:rPr lang="en-US" dirty="0" err="1"/>
              <a:t>corect,insa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au </a:t>
            </a:r>
            <a:r>
              <a:rPr lang="en-US" dirty="0" err="1"/>
              <a:t>succes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strategii</a:t>
            </a:r>
            <a:r>
              <a:rPr lang="en-US" dirty="0"/>
              <a:t> </a:t>
            </a:r>
            <a:r>
              <a:rPr lang="en-US" dirty="0" err="1"/>
              <a:t>produc</a:t>
            </a:r>
            <a:r>
              <a:rPr lang="en-US" dirty="0"/>
              <a:t> </a:t>
            </a:r>
            <a:r>
              <a:rPr lang="en-US" dirty="0" err="1"/>
              <a:t>generarea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rapida</a:t>
            </a:r>
            <a:r>
              <a:rPr lang="en-US" dirty="0"/>
              <a:t> a </a:t>
            </a:r>
            <a:r>
              <a:rPr lang="en-US" dirty="0" err="1"/>
              <a:t>solutiei</a:t>
            </a:r>
            <a:r>
              <a:rPr lang="en-US" dirty="0"/>
              <a:t>.</a:t>
            </a:r>
          </a:p>
          <a:p>
            <a:r>
              <a:rPr lang="en-US" i="1" dirty="0" err="1"/>
              <a:t>Analogiile</a:t>
            </a:r>
            <a:r>
              <a:rPr lang="en-US" i="1" dirty="0"/>
              <a:t> </a:t>
            </a:r>
            <a:r>
              <a:rPr lang="en-US" dirty="0"/>
              <a:t>ne </a:t>
            </a:r>
            <a:r>
              <a:rPr lang="en-US" dirty="0" err="1"/>
              <a:t>ajuta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descoperim</a:t>
            </a:r>
            <a:r>
              <a:rPr lang="en-US" dirty="0"/>
              <a:t> </a:t>
            </a:r>
            <a:r>
              <a:rPr lang="en-US" dirty="0" err="1"/>
              <a:t>asemanarile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lucruri</a:t>
            </a:r>
            <a:r>
              <a:rPr lang="en-US" dirty="0"/>
              <a:t> care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-o </a:t>
            </a:r>
            <a:r>
              <a:rPr lang="en-US" dirty="0" err="1"/>
              <a:t>masura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mica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 </a:t>
            </a:r>
            <a:r>
              <a:rPr lang="en-US" dirty="0" err="1"/>
              <a:t>diferite.Pt</a:t>
            </a:r>
            <a:r>
              <a:rPr lang="en-US" dirty="0"/>
              <a:t> a </a:t>
            </a:r>
            <a:r>
              <a:rPr lang="en-US" dirty="0" err="1"/>
              <a:t>gasi</a:t>
            </a:r>
            <a:r>
              <a:rPr lang="en-US" dirty="0"/>
              <a:t> </a:t>
            </a:r>
            <a:r>
              <a:rPr lang="en-US" dirty="0" err="1"/>
              <a:t>solutia</a:t>
            </a:r>
            <a:r>
              <a:rPr lang="en-US" dirty="0"/>
              <a:t> la o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noua</a:t>
            </a:r>
            <a:r>
              <a:rPr lang="en-US" dirty="0"/>
              <a:t>, se </a:t>
            </a:r>
            <a:r>
              <a:rPr lang="en-US" dirty="0" err="1"/>
              <a:t>verifica</a:t>
            </a:r>
            <a:r>
              <a:rPr lang="en-US" dirty="0"/>
              <a:t> </a:t>
            </a:r>
            <a:r>
              <a:rPr lang="en-US" dirty="0" err="1"/>
              <a:t>validitatea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solutii</a:t>
            </a:r>
            <a:r>
              <a:rPr lang="en-US" dirty="0"/>
              <a:t> de </a:t>
            </a:r>
            <a:r>
              <a:rPr lang="en-US" dirty="0" err="1"/>
              <a:t>rezolvare</a:t>
            </a:r>
            <a:r>
              <a:rPr lang="en-US" dirty="0"/>
              <a:t> care a </a:t>
            </a:r>
            <a:r>
              <a:rPr lang="en-US" dirty="0" err="1"/>
              <a:t>functionat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o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anterioara</a:t>
            </a:r>
            <a:r>
              <a:rPr lang="en-US" dirty="0"/>
              <a:t>.</a:t>
            </a:r>
          </a:p>
          <a:p>
            <a:r>
              <a:rPr lang="en-US" i="1" dirty="0"/>
              <a:t>Insight-</a:t>
            </a:r>
            <a:r>
              <a:rPr lang="en-US" i="1" dirty="0" err="1"/>
              <a:t>ul</a:t>
            </a:r>
            <a:r>
              <a:rPr lang="en-US" i="1" dirty="0"/>
              <a:t> </a:t>
            </a:r>
            <a:r>
              <a:rPr lang="en-US" dirty="0" err="1"/>
              <a:t>reprezinta</a:t>
            </a:r>
            <a:r>
              <a:rPr lang="en-US" dirty="0"/>
              <a:t> un mod </a:t>
            </a:r>
            <a:r>
              <a:rPr lang="en-US" dirty="0" err="1"/>
              <a:t>spontan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care </a:t>
            </a:r>
            <a:r>
              <a:rPr lang="en-US" dirty="0" err="1"/>
              <a:t>rezolvare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releva</a:t>
            </a:r>
            <a:r>
              <a:rPr lang="en-US" dirty="0"/>
              <a:t> </a:t>
            </a:r>
            <a:r>
              <a:rPr lang="en-US" dirty="0" err="1"/>
              <a:t>persoanei</a:t>
            </a:r>
            <a:r>
              <a:rPr lang="en-US" dirty="0"/>
              <a:t>.-&gt;”</a:t>
            </a:r>
            <a:r>
              <a:rPr lang="en-US" dirty="0" err="1"/>
              <a:t>momentul</a:t>
            </a:r>
            <a:r>
              <a:rPr lang="en-US" dirty="0"/>
              <a:t> aha”.</a:t>
            </a:r>
            <a:endParaRPr lang="en-US" i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>
            <a:off x="4800600" y="-1447800"/>
            <a:ext cx="3886200" cy="5334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057400"/>
            <a:ext cx="8229600" cy="3352800"/>
          </a:xfrm>
        </p:spPr>
        <p:txBody>
          <a:bodyPr/>
          <a:lstStyle/>
          <a:p>
            <a:r>
              <a:rPr lang="en-US" i="1" dirty="0" err="1"/>
              <a:t>Importanta</a:t>
            </a:r>
            <a:r>
              <a:rPr lang="en-US" i="1" dirty="0"/>
              <a:t> </a:t>
            </a:r>
            <a:r>
              <a:rPr lang="en-US" i="1" dirty="0" err="1"/>
              <a:t>factorilor</a:t>
            </a:r>
            <a:r>
              <a:rPr lang="en-US" i="1" dirty="0"/>
              <a:t> </a:t>
            </a:r>
            <a:r>
              <a:rPr lang="en-US" i="1" dirty="0" err="1"/>
              <a:t>emotionali</a:t>
            </a:r>
            <a:r>
              <a:rPr lang="en-US" i="1" dirty="0"/>
              <a:t> in </a:t>
            </a:r>
            <a:r>
              <a:rPr lang="en-US" i="1" dirty="0" err="1"/>
              <a:t>luarea</a:t>
            </a:r>
            <a:r>
              <a:rPr lang="en-US" i="1" dirty="0"/>
              <a:t> </a:t>
            </a:r>
            <a:r>
              <a:rPr lang="en-US" i="1" dirty="0" err="1"/>
              <a:t>deciziilor</a:t>
            </a:r>
            <a:r>
              <a:rPr lang="en-US" i="1" dirty="0"/>
              <a:t>.</a:t>
            </a:r>
            <a:r>
              <a:rPr lang="en-US" dirty="0"/>
              <a:t>-&gt;</a:t>
            </a:r>
            <a:r>
              <a:rPr lang="en-US" dirty="0" err="1"/>
              <a:t>emotiile</a:t>
            </a:r>
            <a:r>
              <a:rPr lang="en-US" dirty="0"/>
              <a:t> </a:t>
            </a:r>
            <a:r>
              <a:rPr lang="en-US" dirty="0" err="1"/>
              <a:t>noastre</a:t>
            </a:r>
            <a:r>
              <a:rPr lang="en-US" dirty="0"/>
              <a:t> </a:t>
            </a:r>
            <a:r>
              <a:rPr lang="en-US" dirty="0" err="1"/>
              <a:t>joaca</a:t>
            </a:r>
            <a:r>
              <a:rPr lang="en-US" dirty="0"/>
              <a:t> un </a:t>
            </a:r>
            <a:r>
              <a:rPr lang="en-US" dirty="0" err="1"/>
              <a:t>rol</a:t>
            </a:r>
            <a:r>
              <a:rPr lang="en-US" dirty="0"/>
              <a:t> important in </a:t>
            </a:r>
            <a:r>
              <a:rPr lang="en-US" dirty="0" err="1"/>
              <a:t>luarea</a:t>
            </a:r>
            <a:r>
              <a:rPr lang="en-US" dirty="0"/>
              <a:t> </a:t>
            </a:r>
            <a:r>
              <a:rPr lang="en-US" dirty="0" err="1"/>
              <a:t>deciziilor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 flipV="1">
            <a:off x="11963400" y="-304800"/>
            <a:ext cx="3810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 err="1"/>
              <a:t>Rezolvarea</a:t>
            </a:r>
            <a:r>
              <a:rPr lang="en-US" i="1" dirty="0"/>
              <a:t> </a:t>
            </a:r>
            <a:r>
              <a:rPr lang="en-US" i="1" dirty="0" err="1"/>
              <a:t>creativa</a:t>
            </a:r>
            <a:r>
              <a:rPr lang="en-US" i="1" dirty="0"/>
              <a:t> de </a:t>
            </a:r>
            <a:r>
              <a:rPr lang="en-US" i="1" dirty="0" err="1"/>
              <a:t>probleme</a:t>
            </a:r>
            <a:r>
              <a:rPr lang="en-US" i="1" dirty="0"/>
              <a:t> </a:t>
            </a:r>
            <a:r>
              <a:rPr lang="en-US" dirty="0"/>
              <a:t>: Guilford introduce </a:t>
            </a:r>
            <a:r>
              <a:rPr lang="en-US" dirty="0" err="1"/>
              <a:t>termenii</a:t>
            </a:r>
            <a:r>
              <a:rPr lang="en-US" dirty="0"/>
              <a:t> de </a:t>
            </a:r>
            <a:r>
              <a:rPr lang="en-US" dirty="0" err="1"/>
              <a:t>gandire</a:t>
            </a:r>
            <a:r>
              <a:rPr lang="en-US" dirty="0"/>
              <a:t> </a:t>
            </a:r>
            <a:r>
              <a:rPr lang="en-US" dirty="0" err="1"/>
              <a:t>convergenta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gandire</a:t>
            </a:r>
            <a:r>
              <a:rPr lang="en-US" dirty="0"/>
              <a:t> </a:t>
            </a:r>
            <a:r>
              <a:rPr lang="en-US" dirty="0" err="1"/>
              <a:t>divergenta</a:t>
            </a:r>
            <a:r>
              <a:rPr lang="en-US" dirty="0"/>
              <a:t>.</a:t>
            </a:r>
          </a:p>
          <a:p>
            <a:r>
              <a:rPr lang="en-US" b="1" i="1" dirty="0" err="1"/>
              <a:t>Gandirea</a:t>
            </a:r>
            <a:r>
              <a:rPr lang="en-US" b="1" i="1" dirty="0"/>
              <a:t> </a:t>
            </a:r>
            <a:r>
              <a:rPr lang="en-US" b="1" i="1" dirty="0" err="1"/>
              <a:t>convergenta</a:t>
            </a:r>
            <a:r>
              <a:rPr lang="en-US" b="1" i="1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, </a:t>
            </a:r>
            <a:r>
              <a:rPr lang="en-US" dirty="0" err="1"/>
              <a:t>factuala</a:t>
            </a:r>
            <a:r>
              <a:rPr lang="en-US" dirty="0"/>
              <a:t>, </a:t>
            </a:r>
            <a:r>
              <a:rPr lang="en-US" dirty="0" err="1"/>
              <a:t>conventionala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ea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centrata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 </a:t>
            </a:r>
            <a:r>
              <a:rPr lang="en-US" dirty="0" err="1"/>
              <a:t>pana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se </a:t>
            </a:r>
            <a:r>
              <a:rPr lang="en-US" dirty="0" err="1"/>
              <a:t>gaseste</a:t>
            </a:r>
            <a:r>
              <a:rPr lang="en-US" dirty="0"/>
              <a:t> </a:t>
            </a:r>
            <a:r>
              <a:rPr lang="en-US" dirty="0" err="1"/>
              <a:t>raspunsul</a:t>
            </a:r>
            <a:r>
              <a:rPr lang="en-US" dirty="0"/>
              <a:t>. </a:t>
            </a:r>
          </a:p>
          <a:p>
            <a:r>
              <a:rPr lang="en-US" b="1" i="1" dirty="0" err="1"/>
              <a:t>Gandirea</a:t>
            </a:r>
            <a:r>
              <a:rPr lang="en-US" b="1" i="1" dirty="0"/>
              <a:t> </a:t>
            </a:r>
            <a:r>
              <a:rPr lang="en-US" b="1" i="1" dirty="0" err="1"/>
              <a:t>divergenta</a:t>
            </a:r>
            <a:r>
              <a:rPr lang="en-US" b="1" i="1" dirty="0"/>
              <a:t> </a:t>
            </a:r>
            <a:r>
              <a:rPr lang="en-US" dirty="0" err="1"/>
              <a:t>este</a:t>
            </a:r>
            <a:r>
              <a:rPr lang="en-US" dirty="0"/>
              <a:t> slab </a:t>
            </a:r>
            <a:r>
              <a:rPr lang="en-US" dirty="0" err="1"/>
              <a:t>organizata</a:t>
            </a:r>
            <a:r>
              <a:rPr lang="en-US" dirty="0"/>
              <a:t>, </a:t>
            </a:r>
            <a:r>
              <a:rPr lang="en-US" dirty="0" err="1"/>
              <a:t>directionata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partial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neconventionala</a:t>
            </a:r>
            <a:r>
              <a:rPr lang="en-US" dirty="0"/>
              <a:t>, ea se </a:t>
            </a:r>
            <a:r>
              <a:rPr lang="en-US" dirty="0" err="1"/>
              <a:t>desfasoara</a:t>
            </a:r>
            <a:r>
              <a:rPr lang="en-US" dirty="0"/>
              <a:t> in </a:t>
            </a:r>
            <a:r>
              <a:rPr lang="en-US" dirty="0" err="1"/>
              <a:t>directii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, </a:t>
            </a:r>
            <a:r>
              <a:rPr lang="en-US" dirty="0" err="1"/>
              <a:t>asemenea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evantai</a:t>
            </a:r>
            <a:r>
              <a:rPr lang="en-US" dirty="0"/>
              <a:t>. </a:t>
            </a:r>
            <a:endParaRPr lang="en-US" b="1" i="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0" y="274638"/>
            <a:ext cx="381000" cy="86836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133600"/>
            <a:ext cx="8229600" cy="4525963"/>
          </a:xfrm>
        </p:spPr>
        <p:txBody>
          <a:bodyPr/>
          <a:lstStyle/>
          <a:p>
            <a:r>
              <a:rPr lang="en-US" dirty="0" err="1"/>
              <a:t>Factorii</a:t>
            </a:r>
            <a:r>
              <a:rPr lang="en-US" dirty="0"/>
              <a:t> care </a:t>
            </a:r>
            <a:r>
              <a:rPr lang="en-US" dirty="0" err="1"/>
              <a:t>influenteaza</a:t>
            </a:r>
            <a:r>
              <a:rPr lang="en-US" dirty="0"/>
              <a:t> </a:t>
            </a:r>
            <a:r>
              <a:rPr lang="en-US" dirty="0" err="1"/>
              <a:t>rezolvarea</a:t>
            </a:r>
            <a:r>
              <a:rPr lang="en-US" dirty="0"/>
              <a:t> de </a:t>
            </a:r>
            <a:r>
              <a:rPr lang="en-US" dirty="0" err="1"/>
              <a:t>probleme</a:t>
            </a:r>
            <a:r>
              <a:rPr lang="en-US" dirty="0"/>
              <a:t> pot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sistematizati</a:t>
            </a:r>
            <a:r>
              <a:rPr lang="en-US" dirty="0"/>
              <a:t> in </a:t>
            </a:r>
            <a:r>
              <a:rPr lang="en-US" dirty="0" err="1"/>
              <a:t>factori</a:t>
            </a:r>
            <a:r>
              <a:rPr lang="en-US" dirty="0"/>
              <a:t> </a:t>
            </a:r>
            <a:r>
              <a:rPr lang="en-US" dirty="0" err="1"/>
              <a:t>obiectivi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subiectivi</a:t>
            </a:r>
            <a:r>
              <a:rPr lang="en-US" dirty="0"/>
              <a:t>.(</a:t>
            </a:r>
            <a:r>
              <a:rPr lang="en-US" dirty="0" err="1"/>
              <a:t>M.Golu</a:t>
            </a:r>
            <a:r>
              <a:rPr lang="en-US" dirty="0"/>
              <a:t>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0200" y="-5486400"/>
            <a:ext cx="3124200" cy="51816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19200"/>
            <a:ext cx="9067800" cy="5638800"/>
          </a:xfrm>
        </p:spPr>
        <p:txBody>
          <a:bodyPr>
            <a:normAutofit lnSpcReduction="10000"/>
          </a:bodyPr>
          <a:lstStyle/>
          <a:p>
            <a:r>
              <a:rPr lang="en-US" b="1" dirty="0" err="1"/>
              <a:t>Factorii</a:t>
            </a:r>
            <a:r>
              <a:rPr lang="en-US" b="1" dirty="0"/>
              <a:t> </a:t>
            </a:r>
            <a:r>
              <a:rPr lang="en-US" b="1" dirty="0" err="1"/>
              <a:t>obiectivi</a:t>
            </a:r>
            <a:r>
              <a:rPr lang="en-US" b="1" dirty="0"/>
              <a:t> </a:t>
            </a:r>
            <a:r>
              <a:rPr lang="en-US" dirty="0"/>
              <a:t>pot </a:t>
            </a:r>
            <a:r>
              <a:rPr lang="en-US" dirty="0" err="1"/>
              <a:t>fi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Presiunea</a:t>
            </a:r>
            <a:r>
              <a:rPr lang="en-US" dirty="0"/>
              <a:t> </a:t>
            </a:r>
            <a:r>
              <a:rPr lang="en-US" dirty="0" err="1"/>
              <a:t>timpului</a:t>
            </a:r>
            <a:r>
              <a:rPr lang="en-US" dirty="0"/>
              <a:t>: in general </a:t>
            </a:r>
            <a:r>
              <a:rPr lang="en-US" dirty="0" err="1"/>
              <a:t>lucram</a:t>
            </a:r>
            <a:r>
              <a:rPr lang="en-US" dirty="0"/>
              <a:t> prost in </a:t>
            </a:r>
            <a:r>
              <a:rPr lang="en-US" dirty="0" err="1"/>
              <a:t>criza</a:t>
            </a:r>
            <a:r>
              <a:rPr lang="en-US" dirty="0"/>
              <a:t> de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unii</a:t>
            </a:r>
            <a:r>
              <a:rPr lang="en-US" dirty="0"/>
              <a:t> </a:t>
            </a:r>
            <a:r>
              <a:rPr lang="en-US" dirty="0" err="1"/>
              <a:t>criza</a:t>
            </a:r>
            <a:r>
              <a:rPr lang="en-US" dirty="0"/>
              <a:t> de </a:t>
            </a:r>
            <a:r>
              <a:rPr lang="en-US" dirty="0" err="1"/>
              <a:t>timp</a:t>
            </a:r>
            <a:r>
              <a:rPr lang="en-US" dirty="0"/>
              <a:t> ii </a:t>
            </a:r>
            <a:r>
              <a:rPr lang="en-US" dirty="0" err="1"/>
              <a:t>stimuleaza</a:t>
            </a:r>
            <a:endParaRPr lang="en-US" dirty="0"/>
          </a:p>
          <a:p>
            <a:pPr lvl="1"/>
            <a:r>
              <a:rPr lang="en-US" dirty="0" err="1"/>
              <a:t>Noutatea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: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fi</a:t>
            </a:r>
            <a:r>
              <a:rPr lang="en-US" dirty="0"/>
              <a:t> un factor inhibitor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unii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stimulator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altii</a:t>
            </a:r>
            <a:endParaRPr lang="en-US" dirty="0"/>
          </a:p>
          <a:p>
            <a:pPr lvl="1"/>
            <a:r>
              <a:rPr lang="en-US" dirty="0" err="1"/>
              <a:t>Dificultatea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induce o stare de </a:t>
            </a:r>
            <a:r>
              <a:rPr lang="en-US" dirty="0" err="1"/>
              <a:t>stres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constitui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un factor stimulator al </a:t>
            </a:r>
            <a:r>
              <a:rPr lang="en-US" dirty="0" err="1"/>
              <a:t>nevoii</a:t>
            </a:r>
            <a:r>
              <a:rPr lang="en-US" dirty="0"/>
              <a:t> de </a:t>
            </a:r>
            <a:r>
              <a:rPr lang="en-US" dirty="0" err="1"/>
              <a:t>competitie</a:t>
            </a:r>
            <a:endParaRPr lang="en-US" dirty="0"/>
          </a:p>
          <a:p>
            <a:pPr lvl="1"/>
            <a:r>
              <a:rPr lang="en-US" dirty="0" err="1"/>
              <a:t>Modul</a:t>
            </a:r>
            <a:r>
              <a:rPr lang="en-US" dirty="0"/>
              <a:t> de </a:t>
            </a:r>
            <a:r>
              <a:rPr lang="en-US" dirty="0" err="1"/>
              <a:t>formulare</a:t>
            </a:r>
            <a:r>
              <a:rPr lang="en-US" dirty="0"/>
              <a:t> a </a:t>
            </a:r>
            <a:r>
              <a:rPr lang="en-US" dirty="0" err="1"/>
              <a:t>problemei</a:t>
            </a:r>
            <a:r>
              <a:rPr lang="en-US" dirty="0"/>
              <a:t>: </a:t>
            </a:r>
            <a:r>
              <a:rPr lang="en-US" dirty="0" err="1"/>
              <a:t>problemele</a:t>
            </a:r>
            <a:r>
              <a:rPr lang="en-US" dirty="0"/>
              <a:t> </a:t>
            </a:r>
            <a:r>
              <a:rPr lang="en-US" dirty="0" err="1"/>
              <a:t>clar</a:t>
            </a:r>
            <a:r>
              <a:rPr lang="en-US" dirty="0"/>
              <a:t> formulate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usor</a:t>
            </a:r>
            <a:r>
              <a:rPr lang="en-US" dirty="0"/>
              <a:t> </a:t>
            </a:r>
            <a:r>
              <a:rPr lang="en-US" dirty="0" err="1"/>
              <a:t>rezolvate</a:t>
            </a:r>
            <a:endParaRPr lang="en-US" dirty="0"/>
          </a:p>
          <a:p>
            <a:pPr lvl="1"/>
            <a:r>
              <a:rPr lang="en-US" dirty="0" err="1"/>
              <a:t>Ambianta:o</a:t>
            </a:r>
            <a:r>
              <a:rPr lang="en-US" dirty="0"/>
              <a:t> </a:t>
            </a:r>
            <a:r>
              <a:rPr lang="en-US" dirty="0" err="1"/>
              <a:t>ambianta</a:t>
            </a:r>
            <a:r>
              <a:rPr lang="en-US" dirty="0"/>
              <a:t> cu </a:t>
            </a:r>
            <a:r>
              <a:rPr lang="en-US" dirty="0" err="1"/>
              <a:t>disconfort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afecta</a:t>
            </a:r>
            <a:r>
              <a:rPr lang="en-US" dirty="0"/>
              <a:t> </a:t>
            </a:r>
            <a:r>
              <a:rPr lang="en-US" dirty="0" err="1"/>
              <a:t>productivitatea</a:t>
            </a:r>
            <a:r>
              <a:rPr lang="en-US" dirty="0"/>
              <a:t> </a:t>
            </a:r>
            <a:r>
              <a:rPr lang="en-US" dirty="0" err="1"/>
              <a:t>rezolutiva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 flipH="1" flipV="1">
            <a:off x="2369740" y="-1287859"/>
            <a:ext cx="213519" cy="960438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en-US" b="1" dirty="0" err="1"/>
              <a:t>Factorii</a:t>
            </a:r>
            <a:r>
              <a:rPr lang="en-US" b="1" dirty="0"/>
              <a:t> </a:t>
            </a:r>
            <a:r>
              <a:rPr lang="en-US" b="1" dirty="0" err="1"/>
              <a:t>subiectivi</a:t>
            </a:r>
            <a:r>
              <a:rPr lang="en-US" b="1" dirty="0"/>
              <a:t> </a:t>
            </a:r>
            <a:r>
              <a:rPr lang="en-US" dirty="0"/>
              <a:t>care pot </a:t>
            </a:r>
            <a:r>
              <a:rPr lang="en-US" dirty="0" err="1"/>
              <a:t>afecta</a:t>
            </a:r>
            <a:r>
              <a:rPr lang="en-US" dirty="0"/>
              <a:t> </a:t>
            </a:r>
            <a:r>
              <a:rPr lang="en-US" dirty="0" err="1"/>
              <a:t>negativ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rezolvarii</a:t>
            </a:r>
            <a:r>
              <a:rPr lang="en-US" dirty="0"/>
              <a:t> de problem pot </a:t>
            </a:r>
            <a:r>
              <a:rPr lang="en-US" dirty="0" err="1"/>
              <a:t>fi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Tensiunea</a:t>
            </a:r>
            <a:r>
              <a:rPr lang="en-US" dirty="0"/>
              <a:t> </a:t>
            </a:r>
            <a:r>
              <a:rPr lang="en-US" dirty="0" err="1"/>
              <a:t>emotionala</a:t>
            </a:r>
            <a:r>
              <a:rPr lang="en-US" dirty="0"/>
              <a:t> </a:t>
            </a:r>
            <a:r>
              <a:rPr lang="en-US" dirty="0" err="1"/>
              <a:t>prea</a:t>
            </a:r>
            <a:r>
              <a:rPr lang="en-US" dirty="0"/>
              <a:t> </a:t>
            </a:r>
            <a:r>
              <a:rPr lang="en-US" dirty="0" err="1"/>
              <a:t>puternica</a:t>
            </a:r>
            <a:endParaRPr lang="en-US" dirty="0"/>
          </a:p>
          <a:p>
            <a:pPr lvl="1"/>
            <a:r>
              <a:rPr lang="en-US" dirty="0" err="1"/>
              <a:t>Lipsa</a:t>
            </a:r>
            <a:r>
              <a:rPr lang="en-US" dirty="0"/>
              <a:t> de </a:t>
            </a:r>
            <a:r>
              <a:rPr lang="en-US" dirty="0" err="1"/>
              <a:t>motivatie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motivatia</a:t>
            </a:r>
            <a:r>
              <a:rPr lang="en-US" dirty="0"/>
              <a:t> </a:t>
            </a:r>
            <a:r>
              <a:rPr lang="en-US" dirty="0" err="1"/>
              <a:t>prea</a:t>
            </a:r>
            <a:r>
              <a:rPr lang="en-US" dirty="0"/>
              <a:t> </a:t>
            </a:r>
            <a:r>
              <a:rPr lang="en-US" dirty="0" err="1"/>
              <a:t>puternica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teama</a:t>
            </a:r>
            <a:r>
              <a:rPr lang="en-US" dirty="0"/>
              <a:t> de </a:t>
            </a:r>
            <a:r>
              <a:rPr lang="en-US" dirty="0" err="1"/>
              <a:t>esec</a:t>
            </a:r>
            <a:r>
              <a:rPr lang="en-US" dirty="0"/>
              <a:t>, </a:t>
            </a:r>
            <a:r>
              <a:rPr lang="en-US" dirty="0" err="1"/>
              <a:t>teama</a:t>
            </a:r>
            <a:r>
              <a:rPr lang="en-US" dirty="0"/>
              <a:t> de </a:t>
            </a:r>
            <a:r>
              <a:rPr lang="en-US" dirty="0" err="1"/>
              <a:t>sanctiuni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anticiparea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recompense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mari</a:t>
            </a:r>
            <a:endParaRPr lang="en-US" dirty="0"/>
          </a:p>
          <a:p>
            <a:pPr lvl="1"/>
            <a:r>
              <a:rPr lang="en-US" dirty="0" err="1"/>
              <a:t>Oboseala</a:t>
            </a:r>
            <a:r>
              <a:rPr lang="en-US" dirty="0"/>
              <a:t> </a:t>
            </a:r>
            <a:r>
              <a:rPr lang="en-US" dirty="0" err="1"/>
              <a:t>intelectuala</a:t>
            </a:r>
            <a:r>
              <a:rPr lang="en-US" dirty="0"/>
              <a:t> care </a:t>
            </a:r>
            <a:r>
              <a:rPr lang="en-US" dirty="0" err="1"/>
              <a:t>afecteaza</a:t>
            </a:r>
            <a:r>
              <a:rPr lang="en-US" dirty="0"/>
              <a:t> </a:t>
            </a:r>
            <a:r>
              <a:rPr lang="en-US" dirty="0" err="1"/>
              <a:t>capacitatea</a:t>
            </a:r>
            <a:r>
              <a:rPr lang="en-US" dirty="0"/>
              <a:t> de </a:t>
            </a:r>
            <a:r>
              <a:rPr lang="en-US" dirty="0" err="1"/>
              <a:t>concentrare</a:t>
            </a:r>
            <a:r>
              <a:rPr lang="en-US" dirty="0"/>
              <a:t> ,</a:t>
            </a:r>
            <a:r>
              <a:rPr lang="en-US" dirty="0" err="1"/>
              <a:t>coerenta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 a </a:t>
            </a:r>
            <a:r>
              <a:rPr lang="en-US" dirty="0" err="1"/>
              <a:t>actiunilor</a:t>
            </a:r>
            <a:r>
              <a:rPr lang="en-US" dirty="0"/>
              <a:t>.</a:t>
            </a:r>
          </a:p>
          <a:p>
            <a:pPr lvl="1"/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575F6D"/>
      </a:dk2>
      <a:lt2>
        <a:srgbClr val="DBFF05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594</TotalTime>
  <Words>3847</Words>
  <Application>Microsoft Office PowerPoint</Application>
  <PresentationFormat>Expunere pe ecran (4:3)</PresentationFormat>
  <Paragraphs>124</Paragraphs>
  <Slides>47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Gandirea</vt:lpstr>
      <vt:lpstr>Perspective in abordarea gandirii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Gandirea ca proces cognitiv superior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Operatiile gandirii</vt:lpstr>
      <vt:lpstr>Prezentare PowerPoint</vt:lpstr>
      <vt:lpstr>Prezentare PowerPoint</vt:lpstr>
      <vt:lpstr>Prezentare PowerPoint</vt:lpstr>
      <vt:lpstr>Prezentare PowerPoint</vt:lpstr>
      <vt:lpstr>Prezentare PowerPoint</vt:lpstr>
      <vt:lpstr>Categorizarea-concept si prototip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Intelegerea</vt:lpstr>
      <vt:lpstr>Prezentare PowerPoint</vt:lpstr>
      <vt:lpstr>Rezolvarea de probleme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Gandirea</dc:title>
  <dc:creator>Valentina</dc:creator>
  <cp:lastModifiedBy>valentina.constantin@outlook.com</cp:lastModifiedBy>
  <cp:revision>56</cp:revision>
  <dcterms:created xsi:type="dcterms:W3CDTF">2006-08-16T00:00:00Z</dcterms:created>
  <dcterms:modified xsi:type="dcterms:W3CDTF">2020-12-11T06:42:09Z</dcterms:modified>
</cp:coreProperties>
</file>