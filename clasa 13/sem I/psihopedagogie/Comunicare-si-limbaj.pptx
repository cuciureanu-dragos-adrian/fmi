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1"/>
            <a:ext cx="7772400" cy="4419600"/>
          </a:xfrm>
        </p:spPr>
        <p:txBody>
          <a:bodyPr>
            <a:noAutofit/>
          </a:bodyPr>
          <a:lstStyle/>
          <a:p>
            <a:r>
              <a:rPr lang="en-US" sz="9600" dirty="0" err="1"/>
              <a:t>Comunicare</a:t>
            </a:r>
            <a:r>
              <a:rPr lang="en-US" sz="9600" dirty="0"/>
              <a:t> </a:t>
            </a:r>
            <a:r>
              <a:rPr lang="en-US" sz="9600" dirty="0" err="1"/>
              <a:t>si</a:t>
            </a:r>
            <a:r>
              <a:rPr lang="en-US" sz="9600" dirty="0"/>
              <a:t> </a:t>
            </a:r>
            <a:r>
              <a:rPr lang="en-US" sz="9600" dirty="0" err="1"/>
              <a:t>limbaj</a:t>
            </a:r>
            <a:endParaRPr lang="en-US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Definitie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explicative ale </a:t>
            </a:r>
            <a:r>
              <a:rPr lang="en-US" dirty="0" err="1"/>
              <a:t>comunicarii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Comunicarea</a:t>
            </a:r>
            <a:r>
              <a:rPr lang="en-US" i="1" dirty="0"/>
              <a:t> </a:t>
            </a:r>
            <a:r>
              <a:rPr lang="en-US" dirty="0" err="1"/>
              <a:t>reprezinta</a:t>
            </a:r>
            <a:r>
              <a:rPr lang="en-US" dirty="0"/>
              <a:t> o </a:t>
            </a:r>
            <a:r>
              <a:rPr lang="en-US" dirty="0" err="1"/>
              <a:t>conditie</a:t>
            </a:r>
            <a:r>
              <a:rPr lang="en-US" dirty="0"/>
              <a:t> general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totodata</a:t>
            </a:r>
            <a:r>
              <a:rPr lang="en-US" dirty="0"/>
              <a:t> </a:t>
            </a:r>
            <a:r>
              <a:rPr lang="en-US" dirty="0" err="1"/>
              <a:t>necesara</a:t>
            </a:r>
            <a:r>
              <a:rPr lang="en-US" dirty="0"/>
              <a:t> a </a:t>
            </a:r>
            <a:r>
              <a:rPr lang="en-US" dirty="0" err="1"/>
              <a:t>aparitiei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manifestarii</a:t>
            </a:r>
            <a:r>
              <a:rPr lang="en-US" dirty="0"/>
              <a:t> </a:t>
            </a:r>
            <a:r>
              <a:rPr lang="en-US" dirty="0" err="1"/>
              <a:t>vietii</a:t>
            </a:r>
            <a:r>
              <a:rPr lang="en-US" dirty="0"/>
              <a:t> </a:t>
            </a:r>
            <a:r>
              <a:rPr lang="en-US" dirty="0" err="1"/>
              <a:t>psihice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.-&gt;</a:t>
            </a:r>
            <a:r>
              <a:rPr lang="en-US" dirty="0" err="1"/>
              <a:t>joaca</a:t>
            </a:r>
            <a:r>
              <a:rPr lang="en-US" dirty="0"/>
              <a:t> un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esential,prin</a:t>
            </a:r>
            <a:r>
              <a:rPr lang="en-US" dirty="0"/>
              <a:t>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individul</a:t>
            </a:r>
            <a:r>
              <a:rPr lang="en-US" dirty="0"/>
              <a:t> </a:t>
            </a:r>
            <a:r>
              <a:rPr lang="en-US" dirty="0" err="1"/>
              <a:t>umanizandu-se,formandu-si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dezvoltandu-si</a:t>
            </a:r>
            <a:r>
              <a:rPr lang="en-US" dirty="0"/>
              <a:t> </a:t>
            </a:r>
            <a:r>
              <a:rPr lang="en-US" dirty="0" err="1"/>
              <a:t>personalitatea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totodata</a:t>
            </a:r>
            <a:r>
              <a:rPr lang="en-US" dirty="0"/>
              <a:t> </a:t>
            </a:r>
            <a:r>
              <a:rPr lang="en-US" dirty="0" err="1"/>
              <a:t>putand</a:t>
            </a:r>
            <a:r>
              <a:rPr lang="en-US" dirty="0"/>
              <a:t> la </a:t>
            </a:r>
            <a:r>
              <a:rPr lang="en-US" dirty="0" err="1"/>
              <a:t>randul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exercita</a:t>
            </a:r>
            <a:r>
              <a:rPr lang="en-US" dirty="0"/>
              <a:t> o </a:t>
            </a:r>
            <a:r>
              <a:rPr lang="en-US" dirty="0" err="1"/>
              <a:t>influenta</a:t>
            </a:r>
            <a:r>
              <a:rPr lang="en-US" dirty="0"/>
              <a:t> </a:t>
            </a:r>
            <a:r>
              <a:rPr lang="en-US" dirty="0" err="1"/>
              <a:t>formativa</a:t>
            </a:r>
            <a:r>
              <a:rPr lang="en-US" dirty="0"/>
              <a:t>, </a:t>
            </a:r>
            <a:r>
              <a:rPr lang="en-US" dirty="0" err="1"/>
              <a:t>transmitand</a:t>
            </a:r>
            <a:r>
              <a:rPr lang="en-US" dirty="0"/>
              <a:t> </a:t>
            </a:r>
            <a:r>
              <a:rPr lang="en-US" dirty="0" err="1"/>
              <a:t>experienta</a:t>
            </a:r>
            <a:r>
              <a:rPr lang="en-US" dirty="0"/>
              <a:t> </a:t>
            </a:r>
            <a:r>
              <a:rPr lang="en-US" dirty="0" err="1"/>
              <a:t>sociala</a:t>
            </a:r>
            <a:r>
              <a:rPr lang="en-US" dirty="0"/>
              <a:t>. </a:t>
            </a:r>
            <a:endParaRPr lang="en-US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Omul</a:t>
            </a:r>
            <a:r>
              <a:rPr lang="en-US" dirty="0"/>
              <a:t> nu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comunica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capabil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impartaseasca</a:t>
            </a:r>
            <a:r>
              <a:rPr lang="en-US" dirty="0"/>
              <a:t> </a:t>
            </a:r>
            <a:r>
              <a:rPr lang="en-US" dirty="0" err="1"/>
              <a:t>gandurile</a:t>
            </a:r>
            <a:r>
              <a:rPr lang="en-US" dirty="0"/>
              <a:t>, </a:t>
            </a:r>
            <a:r>
              <a:rPr lang="en-US" dirty="0" err="1"/>
              <a:t>ideile</a:t>
            </a:r>
            <a:r>
              <a:rPr lang="en-US" dirty="0"/>
              <a:t>, </a:t>
            </a:r>
            <a:r>
              <a:rPr lang="en-US" dirty="0" err="1"/>
              <a:t>sentimentele</a:t>
            </a:r>
            <a:r>
              <a:rPr lang="en-US" dirty="0"/>
              <a:t>, </a:t>
            </a:r>
            <a:r>
              <a:rPr lang="en-US" dirty="0" err="1"/>
              <a:t>experientele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cunostintele</a:t>
            </a:r>
            <a:r>
              <a:rPr lang="en-US" dirty="0"/>
              <a:t> sale in </a:t>
            </a:r>
            <a:r>
              <a:rPr lang="en-US" dirty="0" err="1"/>
              <a:t>absenta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limbi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carora</a:t>
            </a:r>
            <a:r>
              <a:rPr lang="en-US" dirty="0"/>
              <a:t> </a:t>
            </a:r>
            <a:r>
              <a:rPr lang="en-US" dirty="0" err="1"/>
              <a:t>fluxul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codificat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vehiculat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Verbul</a:t>
            </a:r>
            <a:r>
              <a:rPr lang="en-US" dirty="0"/>
              <a:t> </a:t>
            </a:r>
            <a:r>
              <a:rPr lang="en-US" i="1" dirty="0"/>
              <a:t>a </a:t>
            </a:r>
            <a:r>
              <a:rPr lang="en-US" i="1" dirty="0" err="1"/>
              <a:t>comunica</a:t>
            </a:r>
            <a:r>
              <a:rPr lang="en-US" i="1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substantivul</a:t>
            </a:r>
            <a:r>
              <a:rPr lang="en-US" dirty="0"/>
              <a:t> </a:t>
            </a:r>
            <a:r>
              <a:rPr lang="en-US" i="1" dirty="0" err="1"/>
              <a:t>comunicare</a:t>
            </a:r>
            <a:r>
              <a:rPr lang="en-US" i="1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polisemantice</a:t>
            </a:r>
            <a:r>
              <a:rPr lang="en-US" dirty="0"/>
              <a:t>. </a:t>
            </a:r>
            <a:r>
              <a:rPr lang="en-US" dirty="0" err="1"/>
              <a:t>Adesea,insa</a:t>
            </a:r>
            <a:r>
              <a:rPr lang="en-US" dirty="0"/>
              <a:t>, 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vorbitorilor</a:t>
            </a:r>
            <a:r>
              <a:rPr lang="en-US" dirty="0"/>
              <a:t> </a:t>
            </a:r>
            <a:r>
              <a:rPr lang="en-US" dirty="0" err="1"/>
              <a:t>iau</a:t>
            </a:r>
            <a:r>
              <a:rPr lang="en-US" dirty="0"/>
              <a:t> in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sensuri</a:t>
            </a:r>
            <a:r>
              <a:rPr lang="en-US" dirty="0"/>
              <a:t> </a:t>
            </a:r>
            <a:r>
              <a:rPr lang="en-US" dirty="0" err="1"/>
              <a:t>precum</a:t>
            </a:r>
            <a:r>
              <a:rPr lang="en-US" dirty="0"/>
              <a:t> </a:t>
            </a:r>
            <a:r>
              <a:rPr lang="en-US" i="1" dirty="0"/>
              <a:t>a </a:t>
            </a:r>
            <a:r>
              <a:rPr lang="en-US" i="1" dirty="0" err="1"/>
              <a:t>aduce</a:t>
            </a:r>
            <a:r>
              <a:rPr lang="en-US" i="1" dirty="0"/>
              <a:t> la </a:t>
            </a:r>
            <a:r>
              <a:rPr lang="en-US" i="1" dirty="0" err="1"/>
              <a:t>cunostinta</a:t>
            </a:r>
            <a:r>
              <a:rPr lang="en-US" i="1" dirty="0"/>
              <a:t>, a </a:t>
            </a:r>
            <a:r>
              <a:rPr lang="en-US" i="1" dirty="0" err="1"/>
              <a:t>informa</a:t>
            </a:r>
            <a:r>
              <a:rPr lang="en-US" i="1" dirty="0"/>
              <a:t>.-&gt; </a:t>
            </a:r>
            <a:r>
              <a:rPr lang="en-US" dirty="0"/>
              <a:t>in 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dictionar</a:t>
            </a:r>
            <a:r>
              <a:rPr lang="en-US" dirty="0"/>
              <a:t> </a:t>
            </a:r>
            <a:r>
              <a:rPr lang="en-US" dirty="0" err="1"/>
              <a:t>explicativ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mentionate</a:t>
            </a:r>
            <a:r>
              <a:rPr lang="en-US" dirty="0"/>
              <a:t> 3 </a:t>
            </a:r>
            <a:r>
              <a:rPr lang="en-US" dirty="0" err="1"/>
              <a:t>semnificatii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Instiintare,aducere</a:t>
            </a:r>
            <a:r>
              <a:rPr lang="en-US" dirty="0"/>
              <a:t> la </a:t>
            </a:r>
            <a:r>
              <a:rPr lang="en-US" dirty="0" err="1"/>
              <a:t>cunostinta</a:t>
            </a:r>
            <a:endParaRPr lang="en-US" dirty="0"/>
          </a:p>
          <a:p>
            <a:pPr lvl="1"/>
            <a:r>
              <a:rPr lang="en-US" dirty="0" err="1"/>
              <a:t>Contacte</a:t>
            </a:r>
            <a:r>
              <a:rPr lang="en-US" dirty="0"/>
              <a:t> </a:t>
            </a:r>
            <a:r>
              <a:rPr lang="en-US" dirty="0" err="1"/>
              <a:t>verbale</a:t>
            </a:r>
            <a:r>
              <a:rPr lang="en-US" dirty="0"/>
              <a:t> 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colectiv</a:t>
            </a:r>
            <a:endParaRPr lang="en-US" dirty="0"/>
          </a:p>
          <a:p>
            <a:pPr lvl="1"/>
            <a:r>
              <a:rPr lang="en-US" dirty="0" err="1"/>
              <a:t>Prezentare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ocazie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favorizeaza</a:t>
            </a:r>
            <a:r>
              <a:rPr lang="en-US" dirty="0"/>
              <a:t> </a:t>
            </a:r>
            <a:r>
              <a:rPr lang="en-US" dirty="0" err="1"/>
              <a:t>schimbul</a:t>
            </a:r>
            <a:r>
              <a:rPr lang="en-US" dirty="0"/>
              <a:t> de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spirituale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De-a </a:t>
            </a:r>
            <a:r>
              <a:rPr lang="en-US" dirty="0" err="1"/>
              <a:t>lungul</a:t>
            </a:r>
            <a:r>
              <a:rPr lang="en-US" dirty="0"/>
              <a:t> </a:t>
            </a:r>
            <a:r>
              <a:rPr lang="en-US" dirty="0" err="1"/>
              <a:t>timpului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formulate 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definitii</a:t>
            </a:r>
            <a:r>
              <a:rPr lang="en-US" dirty="0"/>
              <a:t>:</a:t>
            </a:r>
          </a:p>
          <a:p>
            <a:pPr marL="514350" indent="-514350"/>
            <a:r>
              <a:rPr lang="en-US" dirty="0"/>
              <a:t>Edward </a:t>
            </a:r>
            <a:r>
              <a:rPr lang="en-US" dirty="0" err="1"/>
              <a:t>O.Wilson</a:t>
            </a:r>
            <a:r>
              <a:rPr lang="en-US" dirty="0"/>
              <a:t>: </a:t>
            </a:r>
            <a:r>
              <a:rPr lang="en-US" dirty="0" err="1"/>
              <a:t>comunicarea</a:t>
            </a:r>
            <a:r>
              <a:rPr lang="en-US" dirty="0"/>
              <a:t>-”o </a:t>
            </a:r>
            <a:r>
              <a:rPr lang="en-US" dirty="0" err="1"/>
              <a:t>actiune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organism </a:t>
            </a:r>
            <a:r>
              <a:rPr lang="en-US" dirty="0" err="1"/>
              <a:t>sau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celule</a:t>
            </a:r>
            <a:r>
              <a:rPr lang="en-US" dirty="0"/>
              <a:t> care </a:t>
            </a:r>
            <a:r>
              <a:rPr lang="en-US" dirty="0" err="1"/>
              <a:t>altereaza</a:t>
            </a:r>
            <a:r>
              <a:rPr lang="en-US" dirty="0"/>
              <a:t> </a:t>
            </a:r>
            <a:r>
              <a:rPr lang="en-US" dirty="0" err="1"/>
              <a:t>modelele</a:t>
            </a:r>
            <a:r>
              <a:rPr lang="en-US" dirty="0"/>
              <a:t> </a:t>
            </a:r>
            <a:r>
              <a:rPr lang="en-US" dirty="0" err="1"/>
              <a:t>probabile</a:t>
            </a:r>
            <a:r>
              <a:rPr lang="en-US" dirty="0"/>
              <a:t> de </a:t>
            </a:r>
            <a:r>
              <a:rPr lang="en-US" dirty="0" err="1"/>
              <a:t>comportament</a:t>
            </a:r>
            <a:r>
              <a:rPr lang="en-US" dirty="0"/>
              <a:t> ale </a:t>
            </a:r>
            <a:r>
              <a:rPr lang="en-US" dirty="0" err="1"/>
              <a:t>altui</a:t>
            </a:r>
            <a:r>
              <a:rPr lang="en-US" dirty="0"/>
              <a:t> organism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altei</a:t>
            </a:r>
            <a:r>
              <a:rPr lang="en-US" dirty="0"/>
              <a:t> </a:t>
            </a:r>
            <a:r>
              <a:rPr lang="en-US" dirty="0" err="1"/>
              <a:t>celule</a:t>
            </a:r>
            <a:r>
              <a:rPr lang="en-US" dirty="0"/>
              <a:t>,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adaptativa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multi </a:t>
            </a:r>
            <a:r>
              <a:rPr lang="en-US" dirty="0" err="1"/>
              <a:t>participanti</a:t>
            </a:r>
            <a:r>
              <a:rPr lang="en-US" dirty="0"/>
              <a:t>.”</a:t>
            </a:r>
          </a:p>
          <a:p>
            <a:pPr marL="514350" indent="-514350"/>
            <a:r>
              <a:rPr lang="en-US" dirty="0"/>
              <a:t>Collin Cherry:”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leaga</a:t>
            </a:r>
            <a:r>
              <a:rPr lang="en-US" dirty="0"/>
              <a:t> </a:t>
            </a:r>
            <a:r>
              <a:rPr lang="en-US" dirty="0" err="1"/>
              <a:t>organismele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”</a:t>
            </a:r>
          </a:p>
          <a:p>
            <a:pPr marL="514350" indent="-514350"/>
            <a:r>
              <a:rPr lang="en-US" dirty="0"/>
              <a:t>Louis </a:t>
            </a:r>
            <a:r>
              <a:rPr lang="en-US" dirty="0" err="1"/>
              <a:t>Fordale</a:t>
            </a:r>
            <a:r>
              <a:rPr lang="en-US" dirty="0"/>
              <a:t>:”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un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stabilit,mentinut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modificat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semnale</a:t>
            </a:r>
            <a:r>
              <a:rPr lang="en-US" dirty="0"/>
              <a:t> </a:t>
            </a:r>
            <a:r>
              <a:rPr lang="en-US" dirty="0" err="1"/>
              <a:t>comune</a:t>
            </a:r>
            <a:r>
              <a:rPr lang="en-US" dirty="0"/>
              <a:t>(</a:t>
            </a:r>
            <a:r>
              <a:rPr lang="en-US" dirty="0" err="1"/>
              <a:t>impartasite</a:t>
            </a:r>
            <a:r>
              <a:rPr lang="en-US" dirty="0"/>
              <a:t>) care </a:t>
            </a:r>
            <a:r>
              <a:rPr lang="en-US" dirty="0" err="1"/>
              <a:t>actioneaza</a:t>
            </a:r>
            <a:r>
              <a:rPr lang="en-US" dirty="0"/>
              <a:t>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reguli</a:t>
            </a:r>
            <a:r>
              <a:rPr lang="en-US" dirty="0"/>
              <a:t>.”</a:t>
            </a:r>
          </a:p>
          <a:p>
            <a:pPr marL="514350" indent="-514350"/>
            <a:r>
              <a:rPr lang="en-US" dirty="0"/>
              <a:t>Charles Osgood:”in </a:t>
            </a:r>
            <a:r>
              <a:rPr lang="en-US" dirty="0" err="1"/>
              <a:t>sensul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general,se</a:t>
            </a:r>
            <a:r>
              <a:rPr lang="en-US" dirty="0"/>
              <a:t> </a:t>
            </a:r>
            <a:r>
              <a:rPr lang="en-US" dirty="0" err="1"/>
              <a:t>vorbeste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data </a:t>
            </a:r>
            <a:r>
              <a:rPr lang="en-US" dirty="0" err="1"/>
              <a:t>cand</a:t>
            </a:r>
            <a:r>
              <a:rPr lang="en-US" dirty="0"/>
              <a:t> un </a:t>
            </a:r>
            <a:r>
              <a:rPr lang="en-US" dirty="0" err="1"/>
              <a:t>sistem</a:t>
            </a:r>
            <a:r>
              <a:rPr lang="en-US" dirty="0"/>
              <a:t> ,</a:t>
            </a:r>
            <a:r>
              <a:rPr lang="en-US" dirty="0" err="1"/>
              <a:t>respectiv</a:t>
            </a:r>
            <a:r>
              <a:rPr lang="en-US" dirty="0"/>
              <a:t> o </a:t>
            </a:r>
            <a:r>
              <a:rPr lang="en-US" dirty="0" err="1"/>
              <a:t>sursa</a:t>
            </a:r>
            <a:r>
              <a:rPr lang="en-US" dirty="0"/>
              <a:t> </a:t>
            </a:r>
            <a:r>
              <a:rPr lang="en-US" dirty="0" err="1"/>
              <a:t>influenteaza</a:t>
            </a:r>
            <a:r>
              <a:rPr lang="en-US" dirty="0"/>
              <a:t> un alt </a:t>
            </a:r>
            <a:r>
              <a:rPr lang="en-US" dirty="0" err="1"/>
              <a:t>sistem,in</a:t>
            </a:r>
            <a:r>
              <a:rPr lang="en-US" dirty="0"/>
              <a:t> </a:t>
            </a:r>
            <a:r>
              <a:rPr lang="en-US" dirty="0" err="1"/>
              <a:t>speta</a:t>
            </a:r>
            <a:r>
              <a:rPr lang="en-US" dirty="0"/>
              <a:t> un </a:t>
            </a:r>
            <a:r>
              <a:rPr lang="en-US" dirty="0" err="1"/>
              <a:t>destinatar,prin</a:t>
            </a:r>
            <a:r>
              <a:rPr lang="en-US" dirty="0"/>
              <a:t> </a:t>
            </a:r>
            <a:r>
              <a:rPr lang="en-US" dirty="0" err="1"/>
              <a:t>mijlocirea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semnale</a:t>
            </a:r>
            <a:r>
              <a:rPr lang="en-US" dirty="0"/>
              <a:t> alternative care pot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transmise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canalul</a:t>
            </a:r>
            <a:r>
              <a:rPr lang="en-US" dirty="0"/>
              <a:t> care le </a:t>
            </a:r>
            <a:r>
              <a:rPr lang="en-US" dirty="0" err="1"/>
              <a:t>leaga</a:t>
            </a:r>
            <a:r>
              <a:rPr lang="en-US" dirty="0"/>
              <a:t>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dirty="0" err="1"/>
              <a:t>Perspectiva</a:t>
            </a:r>
            <a:r>
              <a:rPr lang="en-US" dirty="0"/>
              <a:t> </a:t>
            </a:r>
            <a:r>
              <a:rPr lang="en-US" dirty="0" err="1"/>
              <a:t>extina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, </a:t>
            </a:r>
            <a:r>
              <a:rPr lang="en-US" dirty="0" err="1"/>
              <a:t>impartasita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doi</a:t>
            </a:r>
            <a:r>
              <a:rPr lang="en-US" dirty="0"/>
              <a:t> </a:t>
            </a:r>
            <a:r>
              <a:rPr lang="en-US" dirty="0" err="1"/>
              <a:t>cercetatori</a:t>
            </a:r>
            <a:r>
              <a:rPr lang="en-US" dirty="0"/>
              <a:t> de </a:t>
            </a:r>
            <a:r>
              <a:rPr lang="en-US" dirty="0" err="1"/>
              <a:t>renume</a:t>
            </a:r>
            <a:r>
              <a:rPr lang="en-US" dirty="0"/>
              <a:t>, Shannon </a:t>
            </a:r>
            <a:r>
              <a:rPr lang="en-US" dirty="0" err="1"/>
              <a:t>si</a:t>
            </a:r>
            <a:r>
              <a:rPr lang="en-US" dirty="0"/>
              <a:t> Weaver: </a:t>
            </a:r>
            <a:r>
              <a:rPr lang="en-US" i="1" dirty="0" err="1"/>
              <a:t>termenul</a:t>
            </a:r>
            <a:r>
              <a:rPr lang="en-US" i="1" dirty="0"/>
              <a:t> de </a:t>
            </a:r>
            <a:r>
              <a:rPr lang="en-US" i="1" dirty="0" err="1"/>
              <a:t>comunicare</a:t>
            </a:r>
            <a:r>
              <a:rPr lang="en-US" i="1" dirty="0"/>
              <a:t> are un </a:t>
            </a:r>
            <a:r>
              <a:rPr lang="en-US" i="1" dirty="0" err="1"/>
              <a:t>sens</a:t>
            </a:r>
            <a:r>
              <a:rPr lang="en-US" i="1" dirty="0"/>
              <a:t> </a:t>
            </a:r>
            <a:r>
              <a:rPr lang="en-US" i="1" dirty="0" err="1"/>
              <a:t>foarte</a:t>
            </a:r>
            <a:r>
              <a:rPr lang="en-US" i="1" dirty="0"/>
              <a:t> </a:t>
            </a:r>
            <a:r>
              <a:rPr lang="en-US" i="1" dirty="0" err="1"/>
              <a:t>larg</a:t>
            </a:r>
            <a:r>
              <a:rPr lang="en-US" i="1" dirty="0"/>
              <a:t>: el </a:t>
            </a:r>
            <a:r>
              <a:rPr lang="en-US" i="1" dirty="0" err="1"/>
              <a:t>cuprinde</a:t>
            </a:r>
            <a:r>
              <a:rPr lang="en-US" i="1" dirty="0"/>
              <a:t> </a:t>
            </a:r>
            <a:r>
              <a:rPr lang="en-US" i="1" dirty="0" err="1"/>
              <a:t>toate</a:t>
            </a:r>
            <a:r>
              <a:rPr lang="en-US" i="1" dirty="0"/>
              <a:t> </a:t>
            </a:r>
            <a:r>
              <a:rPr lang="en-US" i="1" dirty="0" err="1"/>
              <a:t>procedeele</a:t>
            </a:r>
            <a:r>
              <a:rPr lang="en-US" i="1" dirty="0"/>
              <a:t> </a:t>
            </a:r>
            <a:r>
              <a:rPr lang="en-US" i="1" dirty="0" err="1"/>
              <a:t>prin</a:t>
            </a:r>
            <a:r>
              <a:rPr lang="en-US" i="1" dirty="0"/>
              <a:t> care un spirit </a:t>
            </a:r>
            <a:r>
              <a:rPr lang="en-US" i="1" dirty="0" err="1"/>
              <a:t>poate</a:t>
            </a:r>
            <a:r>
              <a:rPr lang="en-US" i="1" dirty="0"/>
              <a:t> </a:t>
            </a:r>
            <a:r>
              <a:rPr lang="en-US" i="1" dirty="0" err="1"/>
              <a:t>afecta</a:t>
            </a:r>
            <a:r>
              <a:rPr lang="en-US" i="1" dirty="0"/>
              <a:t> un alt spirit; </a:t>
            </a:r>
            <a:r>
              <a:rPr lang="en-US" i="1" dirty="0" err="1"/>
              <a:t>aceasta</a:t>
            </a:r>
            <a:r>
              <a:rPr lang="en-US" i="1" dirty="0"/>
              <a:t> include nu </a:t>
            </a:r>
            <a:r>
              <a:rPr lang="en-US" i="1" dirty="0" err="1"/>
              <a:t>numai</a:t>
            </a:r>
            <a:r>
              <a:rPr lang="en-US" i="1" dirty="0"/>
              <a:t> </a:t>
            </a:r>
            <a:r>
              <a:rPr lang="en-US" i="1" dirty="0" err="1"/>
              <a:t>limbajul</a:t>
            </a:r>
            <a:r>
              <a:rPr lang="en-US" i="1" dirty="0"/>
              <a:t> </a:t>
            </a:r>
            <a:r>
              <a:rPr lang="en-US" i="1" dirty="0" err="1"/>
              <a:t>scris</a:t>
            </a:r>
            <a:r>
              <a:rPr lang="en-US" i="1" dirty="0"/>
              <a:t> </a:t>
            </a:r>
            <a:r>
              <a:rPr lang="en-US" i="1" dirty="0" err="1"/>
              <a:t>sau</a:t>
            </a:r>
            <a:r>
              <a:rPr lang="en-US" i="1" dirty="0"/>
              <a:t> </a:t>
            </a:r>
            <a:r>
              <a:rPr lang="en-US" i="1" dirty="0" err="1"/>
              <a:t>vorbit</a:t>
            </a:r>
            <a:r>
              <a:rPr lang="en-US" i="1" dirty="0"/>
              <a:t>, </a:t>
            </a:r>
            <a:r>
              <a:rPr lang="en-US" i="1" dirty="0" err="1"/>
              <a:t>ci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muzica,artele</a:t>
            </a:r>
            <a:r>
              <a:rPr lang="en-US" i="1" dirty="0"/>
              <a:t> </a:t>
            </a:r>
            <a:r>
              <a:rPr lang="en-US" i="1" dirty="0" err="1"/>
              <a:t>vizuale,teatrul,baletul</a:t>
            </a:r>
            <a:r>
              <a:rPr lang="en-US" i="1" dirty="0"/>
              <a:t> </a:t>
            </a:r>
            <a:r>
              <a:rPr lang="en-US" i="1" dirty="0" err="1"/>
              <a:t>si,in</a:t>
            </a:r>
            <a:r>
              <a:rPr lang="en-US" i="1" dirty="0"/>
              <a:t> </a:t>
            </a:r>
            <a:r>
              <a:rPr lang="en-US" i="1" dirty="0" err="1"/>
              <a:t>fapt</a:t>
            </a:r>
            <a:r>
              <a:rPr lang="en-US" i="1" dirty="0"/>
              <a:t>, </a:t>
            </a:r>
            <a:r>
              <a:rPr lang="en-US" i="1" dirty="0" err="1"/>
              <a:t>toate</a:t>
            </a:r>
            <a:r>
              <a:rPr lang="en-US" i="1" dirty="0"/>
              <a:t> </a:t>
            </a:r>
            <a:r>
              <a:rPr lang="en-US" i="1" dirty="0" err="1"/>
              <a:t>comportamentele</a:t>
            </a:r>
            <a:r>
              <a:rPr lang="en-US" i="1" dirty="0"/>
              <a:t> </a:t>
            </a:r>
            <a:r>
              <a:rPr lang="en-US" i="1" dirty="0" err="1"/>
              <a:t>umane</a:t>
            </a:r>
            <a:r>
              <a:rPr lang="en-US" i="1" dirty="0"/>
              <a:t>. In </a:t>
            </a:r>
            <a:r>
              <a:rPr lang="en-US" i="1" dirty="0" err="1"/>
              <a:t>unele</a:t>
            </a:r>
            <a:r>
              <a:rPr lang="en-US" i="1" dirty="0"/>
              <a:t> </a:t>
            </a:r>
            <a:r>
              <a:rPr lang="en-US" i="1" dirty="0" err="1"/>
              <a:t>cazuri</a:t>
            </a:r>
            <a:r>
              <a:rPr lang="en-US" i="1" dirty="0"/>
              <a:t>, </a:t>
            </a:r>
            <a:r>
              <a:rPr lang="en-US" i="1" dirty="0" err="1"/>
              <a:t>este</a:t>
            </a:r>
            <a:r>
              <a:rPr lang="en-US" i="1" dirty="0"/>
              <a:t> de </a:t>
            </a:r>
            <a:r>
              <a:rPr lang="en-US" i="1" dirty="0" err="1"/>
              <a:t>dorit</a:t>
            </a:r>
            <a:r>
              <a:rPr lang="en-US" i="1" dirty="0"/>
              <a:t> a </a:t>
            </a:r>
            <a:r>
              <a:rPr lang="en-US" i="1" dirty="0" err="1"/>
              <a:t>largi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mai</a:t>
            </a:r>
            <a:r>
              <a:rPr lang="en-US" i="1" dirty="0"/>
              <a:t> </a:t>
            </a:r>
            <a:r>
              <a:rPr lang="en-US" i="1" dirty="0" err="1"/>
              <a:t>mult</a:t>
            </a:r>
            <a:r>
              <a:rPr lang="en-US" i="1" dirty="0"/>
              <a:t> </a:t>
            </a:r>
            <a:r>
              <a:rPr lang="en-US" i="1" dirty="0" err="1"/>
              <a:t>definitia</a:t>
            </a:r>
            <a:r>
              <a:rPr lang="en-US" i="1" dirty="0"/>
              <a:t> </a:t>
            </a:r>
            <a:r>
              <a:rPr lang="en-US" i="1" dirty="0" err="1"/>
              <a:t>comunicarii</a:t>
            </a:r>
            <a:r>
              <a:rPr lang="en-US" i="1" dirty="0"/>
              <a:t> </a:t>
            </a:r>
            <a:r>
              <a:rPr lang="en-US" i="1" dirty="0" err="1"/>
              <a:t>pentru</a:t>
            </a:r>
            <a:r>
              <a:rPr lang="en-US" i="1" dirty="0"/>
              <a:t> a include </a:t>
            </a:r>
            <a:r>
              <a:rPr lang="en-US" i="1" dirty="0" err="1"/>
              <a:t>toate</a:t>
            </a:r>
            <a:r>
              <a:rPr lang="en-US" i="1" dirty="0"/>
              <a:t> </a:t>
            </a:r>
            <a:r>
              <a:rPr lang="en-US" i="1" dirty="0" err="1"/>
              <a:t>procedeele</a:t>
            </a:r>
            <a:r>
              <a:rPr lang="en-US" i="1" dirty="0"/>
              <a:t> </a:t>
            </a:r>
            <a:r>
              <a:rPr lang="en-US" i="1" dirty="0" err="1"/>
              <a:t>prin</a:t>
            </a:r>
            <a:r>
              <a:rPr lang="en-US" i="1" dirty="0"/>
              <a:t> care un </a:t>
            </a:r>
            <a:r>
              <a:rPr lang="en-US" i="1" dirty="0" err="1"/>
              <a:t>mecanism</a:t>
            </a:r>
            <a:r>
              <a:rPr lang="en-US" i="1" dirty="0"/>
              <a:t> </a:t>
            </a:r>
            <a:r>
              <a:rPr lang="en-US" i="1" dirty="0" err="1"/>
              <a:t>afecteaza</a:t>
            </a:r>
            <a:r>
              <a:rPr lang="en-US" i="1" dirty="0"/>
              <a:t> un alt </a:t>
            </a:r>
            <a:r>
              <a:rPr lang="en-US" i="1" dirty="0" err="1"/>
              <a:t>mecanism</a:t>
            </a:r>
            <a:r>
              <a:rPr lang="en-US" i="1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sens</a:t>
            </a:r>
            <a:r>
              <a:rPr lang="en-US" dirty="0"/>
              <a:t> </a:t>
            </a:r>
            <a:r>
              <a:rPr lang="en-US" dirty="0" err="1"/>
              <a:t>larg</a:t>
            </a:r>
            <a:r>
              <a:rPr lang="en-US" dirty="0"/>
              <a:t>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defini</a:t>
            </a:r>
            <a:r>
              <a:rPr lang="en-US" dirty="0"/>
              <a:t> 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codare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transmitere</a:t>
            </a:r>
            <a:r>
              <a:rPr lang="en-US" dirty="0"/>
              <a:t> a </a:t>
            </a:r>
            <a:r>
              <a:rPr lang="en-US" dirty="0" err="1"/>
              <a:t>informatiilor</a:t>
            </a:r>
            <a:r>
              <a:rPr lang="en-US" dirty="0"/>
              <a:t>, in forma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, de la un </a:t>
            </a:r>
            <a:r>
              <a:rPr lang="en-US" dirty="0" err="1"/>
              <a:t>emitator</a:t>
            </a:r>
            <a:r>
              <a:rPr lang="en-US" dirty="0"/>
              <a:t> la un receptor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canal.-&gt; </a:t>
            </a:r>
            <a:r>
              <a:rPr lang="en-US" dirty="0" err="1"/>
              <a:t>atat</a:t>
            </a:r>
            <a:r>
              <a:rPr lang="en-US" dirty="0"/>
              <a:t> </a:t>
            </a:r>
            <a:r>
              <a:rPr lang="en-US" dirty="0" err="1"/>
              <a:t>receptorul</a:t>
            </a:r>
            <a:r>
              <a:rPr lang="en-US" dirty="0"/>
              <a:t> cat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emitatorul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beneficieze</a:t>
            </a:r>
            <a:r>
              <a:rPr lang="en-US" dirty="0"/>
              <a:t> de o </a:t>
            </a:r>
            <a:r>
              <a:rPr lang="en-US" dirty="0" err="1"/>
              <a:t>sfera</a:t>
            </a:r>
            <a:r>
              <a:rPr lang="en-US" dirty="0"/>
              <a:t> </a:t>
            </a:r>
            <a:r>
              <a:rPr lang="en-US" dirty="0" err="1"/>
              <a:t>comuna</a:t>
            </a:r>
            <a:r>
              <a:rPr lang="en-US" dirty="0"/>
              <a:t> a </a:t>
            </a:r>
            <a:r>
              <a:rPr lang="en-US" dirty="0" err="1"/>
              <a:t>registrului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r>
              <a:rPr lang="en-US" dirty="0" err="1"/>
              <a:t>Comunicarea</a:t>
            </a:r>
            <a:r>
              <a:rPr lang="en-US" dirty="0"/>
              <a:t>, </a:t>
            </a:r>
            <a:r>
              <a:rPr lang="en-US" dirty="0" err="1"/>
              <a:t>vazuta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transmitere</a:t>
            </a:r>
            <a:r>
              <a:rPr lang="en-US" dirty="0"/>
              <a:t> a </a:t>
            </a:r>
            <a:r>
              <a:rPr lang="en-US" dirty="0" err="1"/>
              <a:t>informatiilor,este</a:t>
            </a:r>
            <a:r>
              <a:rPr lang="en-US" dirty="0"/>
              <a:t> </a:t>
            </a:r>
            <a:r>
              <a:rPr lang="en-US" dirty="0" err="1"/>
              <a:t>guvernata</a:t>
            </a:r>
            <a:r>
              <a:rPr lang="en-US" dirty="0"/>
              <a:t> de 3 </a:t>
            </a:r>
            <a:r>
              <a:rPr lang="en-US" dirty="0" err="1"/>
              <a:t>niveluri</a:t>
            </a:r>
            <a:r>
              <a:rPr lang="en-US" dirty="0"/>
              <a:t> ale </a:t>
            </a:r>
            <a:r>
              <a:rPr lang="en-US" dirty="0" err="1"/>
              <a:t>regulilor</a:t>
            </a:r>
            <a:r>
              <a:rPr lang="en-US" dirty="0"/>
              <a:t> </a:t>
            </a:r>
            <a:r>
              <a:rPr lang="en-US" dirty="0" err="1"/>
              <a:t>semiotice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sintactic</a:t>
            </a:r>
            <a:r>
              <a:rPr lang="en-US" dirty="0"/>
              <a:t>(</a:t>
            </a:r>
            <a:r>
              <a:rPr lang="en-US" dirty="0" err="1"/>
              <a:t>proprietatile</a:t>
            </a:r>
            <a:r>
              <a:rPr lang="en-US" dirty="0"/>
              <a:t> </a:t>
            </a:r>
            <a:r>
              <a:rPr lang="en-US" dirty="0" err="1"/>
              <a:t>formale</a:t>
            </a:r>
            <a:r>
              <a:rPr lang="en-US" dirty="0"/>
              <a:t> ale </a:t>
            </a:r>
            <a:r>
              <a:rPr lang="en-US" dirty="0" err="1"/>
              <a:t>semnelor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simbolurilor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Nivelul</a:t>
            </a:r>
            <a:r>
              <a:rPr lang="en-US" dirty="0"/>
              <a:t> pragmatic(</a:t>
            </a:r>
            <a:r>
              <a:rPr lang="en-US" dirty="0" err="1"/>
              <a:t>relatiile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semne</a:t>
            </a:r>
            <a:r>
              <a:rPr lang="en-US" dirty="0"/>
              <a:t>, </a:t>
            </a:r>
            <a:r>
              <a:rPr lang="en-US" dirty="0" err="1"/>
              <a:t>expresii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utilizatorii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Nivelul</a:t>
            </a:r>
            <a:r>
              <a:rPr lang="en-US" dirty="0"/>
              <a:t> semantic(</a:t>
            </a:r>
            <a:r>
              <a:rPr lang="en-US" dirty="0" err="1"/>
              <a:t>studiul</a:t>
            </a:r>
            <a:r>
              <a:rPr lang="en-US" dirty="0"/>
              <a:t> </a:t>
            </a:r>
            <a:r>
              <a:rPr lang="en-US" dirty="0" err="1"/>
              <a:t>relatiilor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scheme, </a:t>
            </a:r>
            <a:r>
              <a:rPr lang="en-US" dirty="0" err="1"/>
              <a:t>simboluri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implicate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de </a:t>
            </a:r>
            <a:r>
              <a:rPr lang="en-US" dirty="0" err="1"/>
              <a:t>baza</a:t>
            </a:r>
            <a:r>
              <a:rPr lang="en-US" dirty="0"/>
              <a:t>: </a:t>
            </a:r>
            <a:r>
              <a:rPr lang="en-US" b="1" dirty="0"/>
              <a:t>un </a:t>
            </a:r>
            <a:r>
              <a:rPr lang="en-US" b="1" dirty="0" err="1"/>
              <a:t>emitator</a:t>
            </a:r>
            <a:r>
              <a:rPr lang="en-US" b="1" dirty="0"/>
              <a:t>, un cod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caruia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exprime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transmise,</a:t>
            </a:r>
            <a:r>
              <a:rPr lang="en-US" b="1" dirty="0" err="1"/>
              <a:t>un</a:t>
            </a:r>
            <a:r>
              <a:rPr lang="en-US" b="1" dirty="0"/>
              <a:t> canal de </a:t>
            </a:r>
            <a:r>
              <a:rPr lang="en-US" b="1" dirty="0" err="1"/>
              <a:t>comunicare,un</a:t>
            </a:r>
            <a:r>
              <a:rPr lang="en-US" b="1" dirty="0"/>
              <a:t> </a:t>
            </a:r>
            <a:r>
              <a:rPr lang="en-US" b="1" dirty="0" err="1"/>
              <a:t>mesaj</a:t>
            </a:r>
            <a:r>
              <a:rPr lang="en-US" b="1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unitatii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un </a:t>
            </a:r>
            <a:r>
              <a:rPr lang="en-US" dirty="0" err="1"/>
              <a:t>continut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forma, </a:t>
            </a:r>
            <a:r>
              <a:rPr lang="en-US" b="1" dirty="0" err="1"/>
              <a:t>receptorul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destinatarul</a:t>
            </a:r>
            <a:r>
              <a:rPr lang="en-US" b="1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feed-back-</a:t>
            </a:r>
            <a:r>
              <a:rPr lang="en-US" b="1" dirty="0" err="1"/>
              <a:t>ul</a:t>
            </a:r>
            <a:r>
              <a:rPr lang="en-US" b="1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b="1" dirty="0" err="1"/>
              <a:t>conexiunea</a:t>
            </a:r>
            <a:r>
              <a:rPr lang="en-US" b="1" dirty="0"/>
              <a:t> </a:t>
            </a:r>
            <a:r>
              <a:rPr lang="en-US" b="1" dirty="0" err="1"/>
              <a:t>inversa</a:t>
            </a:r>
            <a:r>
              <a:rPr lang="en-US" dirty="0" err="1"/>
              <a:t>,,prin</a:t>
            </a:r>
            <a:r>
              <a:rPr lang="en-US" dirty="0"/>
              <a:t> care </a:t>
            </a:r>
            <a:r>
              <a:rPr lang="en-US" dirty="0" err="1"/>
              <a:t>emitatorul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informat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primirii</a:t>
            </a:r>
            <a:r>
              <a:rPr lang="en-US" dirty="0"/>
              <a:t> </a:t>
            </a:r>
            <a:r>
              <a:rPr lang="en-US" dirty="0" err="1"/>
              <a:t>mesajului,a</a:t>
            </a:r>
            <a:r>
              <a:rPr lang="en-US" dirty="0"/>
              <a:t> </a:t>
            </a:r>
            <a:r>
              <a:rPr lang="en-US" dirty="0" err="1"/>
              <a:t>intelegerii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a </a:t>
            </a:r>
            <a:r>
              <a:rPr lang="en-US" dirty="0" err="1"/>
              <a:t>acestuia</a:t>
            </a:r>
            <a:r>
              <a:rPr lang="en-US" dirty="0"/>
              <a:t>, a </a:t>
            </a:r>
            <a:r>
              <a:rPr lang="en-US" dirty="0" err="1"/>
              <a:t>nevoii</a:t>
            </a:r>
            <a:r>
              <a:rPr lang="en-US" dirty="0"/>
              <a:t> de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informatie</a:t>
            </a:r>
            <a:r>
              <a:rPr lang="en-US" dirty="0"/>
              <a:t> </a:t>
            </a:r>
            <a:r>
              <a:rPr lang="en-US" dirty="0" err="1"/>
              <a:t>ori,din</a:t>
            </a:r>
            <a:r>
              <a:rPr lang="en-US" dirty="0"/>
              <a:t> contra, de </a:t>
            </a:r>
            <a:r>
              <a:rPr lang="en-US" dirty="0" err="1"/>
              <a:t>incheiere</a:t>
            </a:r>
            <a:r>
              <a:rPr lang="en-US" dirty="0"/>
              <a:t> a </a:t>
            </a:r>
            <a:r>
              <a:rPr lang="en-US" dirty="0" err="1"/>
              <a:t>comunicarii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dirty="0" err="1"/>
              <a:t>Comunicarea</a:t>
            </a:r>
            <a:r>
              <a:rPr lang="en-US" dirty="0"/>
              <a:t> nu se </a:t>
            </a:r>
            <a:r>
              <a:rPr lang="en-US" dirty="0" err="1"/>
              <a:t>finalizeaza</a:t>
            </a:r>
            <a:r>
              <a:rPr lang="en-US" dirty="0"/>
              <a:t> </a:t>
            </a:r>
            <a:r>
              <a:rPr lang="en-US" dirty="0" err="1"/>
              <a:t>odata</a:t>
            </a:r>
            <a:r>
              <a:rPr lang="en-US" dirty="0"/>
              <a:t> cu </a:t>
            </a:r>
            <a:r>
              <a:rPr lang="en-US" dirty="0" err="1"/>
              <a:t>preluarea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dirty="0" err="1"/>
              <a:t>receptarea</a:t>
            </a:r>
            <a:r>
              <a:rPr lang="en-US" dirty="0"/>
              <a:t> </a:t>
            </a:r>
            <a:r>
              <a:rPr lang="en-US" dirty="0" err="1"/>
              <a:t>informatiei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exercita</a:t>
            </a:r>
            <a:r>
              <a:rPr lang="en-US" dirty="0"/>
              <a:t> o </a:t>
            </a:r>
            <a:r>
              <a:rPr lang="en-US" dirty="0" err="1"/>
              <a:t>influenta</a:t>
            </a:r>
            <a:r>
              <a:rPr lang="en-US" dirty="0"/>
              <a:t> </a:t>
            </a:r>
            <a:r>
              <a:rPr lang="en-US" dirty="0" err="1"/>
              <a:t>efectiva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opiniilor,ideilor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comportamentului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o </a:t>
            </a:r>
            <a:r>
              <a:rPr lang="en-US" dirty="0" err="1"/>
              <a:t>recepteaza</a:t>
            </a:r>
            <a:r>
              <a:rPr lang="en-US" dirty="0"/>
              <a:t> .-&gt;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efect</a:t>
            </a:r>
            <a:r>
              <a:rPr lang="en-US" dirty="0"/>
              <a:t> </a:t>
            </a: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un </a:t>
            </a:r>
            <a:r>
              <a:rPr lang="en-US" dirty="0" err="1"/>
              <a:t>caracter</a:t>
            </a:r>
            <a:r>
              <a:rPr lang="en-US" dirty="0"/>
              <a:t>  intentional, </a:t>
            </a:r>
            <a:r>
              <a:rPr lang="en-US" dirty="0" err="1"/>
              <a:t>niciun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nu se </a:t>
            </a:r>
            <a:r>
              <a:rPr lang="en-US" dirty="0" err="1"/>
              <a:t>desfasoara</a:t>
            </a:r>
            <a:r>
              <a:rPr lang="en-US" dirty="0"/>
              <a:t> in </a:t>
            </a:r>
            <a:r>
              <a:rPr lang="en-US" dirty="0" err="1"/>
              <a:t>absenta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scop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disting</a:t>
            </a:r>
            <a:r>
              <a:rPr lang="en-US" dirty="0"/>
              <a:t> 4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de </a:t>
            </a:r>
            <a:r>
              <a:rPr lang="en-US" dirty="0" err="1"/>
              <a:t>scopuri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Achizitionarea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endParaRPr lang="en-US" dirty="0"/>
          </a:p>
          <a:p>
            <a:pPr lvl="1"/>
            <a:r>
              <a:rPr lang="en-US" dirty="0" err="1"/>
              <a:t>Procesarea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endParaRPr lang="en-US" dirty="0"/>
          </a:p>
          <a:p>
            <a:pPr lvl="1"/>
            <a:r>
              <a:rPr lang="en-US" dirty="0" err="1"/>
              <a:t>Generarea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endParaRPr lang="en-US" dirty="0"/>
          </a:p>
          <a:p>
            <a:pPr lvl="1"/>
            <a:r>
              <a:rPr lang="en-US" dirty="0" err="1"/>
              <a:t>Diseminarea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4525963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procesului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pot </a:t>
            </a:r>
            <a:r>
              <a:rPr lang="en-US" dirty="0" err="1"/>
              <a:t>interveni</a:t>
            </a:r>
            <a:r>
              <a:rPr lang="en-US" dirty="0"/>
              <a:t> </a:t>
            </a:r>
            <a:r>
              <a:rPr lang="en-US" dirty="0" err="1"/>
              <a:t>perturbari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 </a:t>
            </a:r>
            <a:r>
              <a:rPr lang="en-US" dirty="0" err="1"/>
              <a:t>filtrelor</a:t>
            </a:r>
            <a:r>
              <a:rPr lang="en-US" dirty="0"/>
              <a:t>, </a:t>
            </a:r>
            <a:r>
              <a:rPr lang="en-US" dirty="0" err="1"/>
              <a:t>zgomotelor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dirty="0" err="1"/>
              <a:t>barierelor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pot </a:t>
            </a:r>
            <a:r>
              <a:rPr lang="en-US" dirty="0" err="1"/>
              <a:t>vicia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transmis.Perturbarile</a:t>
            </a:r>
            <a:r>
              <a:rPr lang="en-US" dirty="0"/>
              <a:t> pot </a:t>
            </a:r>
            <a:r>
              <a:rPr lang="en-US" dirty="0" err="1"/>
              <a:t>fi</a:t>
            </a:r>
            <a:r>
              <a:rPr lang="en-US" dirty="0"/>
              <a:t> de </a:t>
            </a:r>
            <a:r>
              <a:rPr lang="en-US" dirty="0" err="1"/>
              <a:t>natura</a:t>
            </a:r>
            <a:endParaRPr lang="en-US" dirty="0"/>
          </a:p>
          <a:p>
            <a:pPr lvl="1"/>
            <a:r>
              <a:rPr lang="en-US" dirty="0" err="1"/>
              <a:t>Interna</a:t>
            </a:r>
            <a:r>
              <a:rPr lang="en-US" dirty="0"/>
              <a:t>(</a:t>
            </a:r>
            <a:r>
              <a:rPr lang="en-US" dirty="0" err="1"/>
              <a:t>factori</a:t>
            </a:r>
            <a:r>
              <a:rPr lang="en-US" dirty="0"/>
              <a:t> </a:t>
            </a:r>
            <a:r>
              <a:rPr lang="en-US" dirty="0" err="1"/>
              <a:t>fiziologici,perceptivi,semantici</a:t>
            </a:r>
            <a:r>
              <a:rPr lang="en-US" dirty="0"/>
              <a:t>, </a:t>
            </a:r>
            <a:r>
              <a:rPr lang="en-US" dirty="0" err="1"/>
              <a:t>interpersonali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intrapersonali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Externa</a:t>
            </a:r>
            <a:r>
              <a:rPr lang="en-US" dirty="0"/>
              <a:t>(</a:t>
            </a:r>
            <a:r>
              <a:rPr lang="en-US" dirty="0" err="1"/>
              <a:t>poluare</a:t>
            </a:r>
            <a:r>
              <a:rPr lang="en-US" dirty="0"/>
              <a:t> </a:t>
            </a:r>
            <a:r>
              <a:rPr lang="en-US" dirty="0" err="1"/>
              <a:t>fonica</a:t>
            </a:r>
            <a:r>
              <a:rPr lang="en-US" dirty="0"/>
              <a:t> </a:t>
            </a:r>
            <a:r>
              <a:rPr lang="en-US" dirty="0" err="1"/>
              <a:t>puternica,intreruperi</a:t>
            </a:r>
            <a:r>
              <a:rPr lang="en-US" dirty="0"/>
              <a:t> </a:t>
            </a:r>
            <a:r>
              <a:rPr lang="en-US" dirty="0" err="1"/>
              <a:t>succesive</a:t>
            </a:r>
            <a:r>
              <a:rPr lang="en-US" dirty="0"/>
              <a:t> ale </a:t>
            </a:r>
            <a:r>
              <a:rPr lang="en-US" dirty="0" err="1"/>
              <a:t>procesului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)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Comunicarea</a:t>
            </a:r>
            <a:r>
              <a:rPr lang="en-US" dirty="0"/>
              <a:t> se </a:t>
            </a:r>
            <a:r>
              <a:rPr lang="en-US" dirty="0" err="1"/>
              <a:t>diferentiaza</a:t>
            </a:r>
            <a:r>
              <a:rPr lang="en-US" dirty="0"/>
              <a:t> de </a:t>
            </a:r>
            <a:r>
              <a:rPr lang="en-US" dirty="0" err="1"/>
              <a:t>celelalte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psiho-sociale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particularitati</a:t>
            </a:r>
            <a:r>
              <a:rPr lang="en-US" dirty="0"/>
              <a:t> </a:t>
            </a:r>
            <a:r>
              <a:rPr lang="en-US" dirty="0" err="1"/>
              <a:t>distincte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Are </a:t>
            </a:r>
            <a:r>
              <a:rPr lang="en-US" dirty="0" err="1"/>
              <a:t>rolul</a:t>
            </a:r>
            <a:r>
              <a:rPr lang="en-US" dirty="0"/>
              <a:t> de a-I </a:t>
            </a:r>
            <a:r>
              <a:rPr lang="en-US" dirty="0" err="1"/>
              <a:t>pune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oameni</a:t>
            </a:r>
            <a:r>
              <a:rPr lang="en-US" dirty="0"/>
              <a:t> in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unii</a:t>
            </a:r>
            <a:r>
              <a:rPr lang="en-US" dirty="0"/>
              <a:t> cu </a:t>
            </a:r>
            <a:r>
              <a:rPr lang="en-US" dirty="0" err="1"/>
              <a:t>ceilalti</a:t>
            </a:r>
            <a:endParaRPr lang="en-US" dirty="0"/>
          </a:p>
          <a:p>
            <a:pPr lvl="1"/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continutului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, se </a:t>
            </a:r>
            <a:r>
              <a:rPr lang="en-US" dirty="0" err="1"/>
              <a:t>urmareste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scopuri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transmiterea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semnificatii</a:t>
            </a:r>
            <a:endParaRPr lang="en-US" dirty="0"/>
          </a:p>
          <a:p>
            <a:pPr lvl="1"/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are o </a:t>
            </a:r>
            <a:r>
              <a:rPr lang="en-US" dirty="0" err="1"/>
              <a:t>tripla</a:t>
            </a:r>
            <a:r>
              <a:rPr lang="en-US" dirty="0"/>
              <a:t> </a:t>
            </a:r>
            <a:r>
              <a:rPr lang="en-US" dirty="0" err="1"/>
              <a:t>dimensiune</a:t>
            </a:r>
            <a:r>
              <a:rPr lang="en-US" dirty="0"/>
              <a:t>: 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exteriorizata</a:t>
            </a:r>
            <a:r>
              <a:rPr lang="en-US" dirty="0"/>
              <a:t>(</a:t>
            </a:r>
            <a:r>
              <a:rPr lang="en-US" dirty="0" err="1"/>
              <a:t>actiunile</a:t>
            </a:r>
            <a:r>
              <a:rPr lang="en-US" dirty="0"/>
              <a:t> </a:t>
            </a:r>
            <a:r>
              <a:rPr lang="en-US" dirty="0" err="1"/>
              <a:t>verbale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non-</a:t>
            </a:r>
            <a:r>
              <a:rPr lang="en-US" dirty="0" err="1"/>
              <a:t>verbale</a:t>
            </a:r>
            <a:r>
              <a:rPr lang="en-US" dirty="0"/>
              <a:t> </a:t>
            </a:r>
            <a:r>
              <a:rPr lang="en-US" dirty="0" err="1"/>
              <a:t>observate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interlocutor), </a:t>
            </a:r>
            <a:r>
              <a:rPr lang="en-US" dirty="0" err="1"/>
              <a:t>metacomunicarea</a:t>
            </a:r>
            <a:r>
              <a:rPr lang="en-US" dirty="0"/>
              <a:t> (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intelege</a:t>
            </a:r>
            <a:r>
              <a:rPr lang="en-US" dirty="0"/>
              <a:t> </a:t>
            </a:r>
            <a:r>
              <a:rPr lang="en-US" dirty="0" err="1"/>
              <a:t>dincolo</a:t>
            </a:r>
            <a:r>
              <a:rPr lang="en-US" dirty="0"/>
              <a:t> de </a:t>
            </a:r>
            <a:r>
              <a:rPr lang="en-US" dirty="0" err="1"/>
              <a:t>cuvinte</a:t>
            </a:r>
            <a:r>
              <a:rPr lang="en-US" dirty="0"/>
              <a:t>), </a:t>
            </a:r>
            <a:r>
              <a:rPr lang="en-US" dirty="0" err="1"/>
              <a:t>intracomunicarea</a:t>
            </a:r>
            <a:r>
              <a:rPr lang="en-US" dirty="0"/>
              <a:t>(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realizata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interior,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sinelui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se </a:t>
            </a:r>
            <a:r>
              <a:rPr lang="en-US" dirty="0" err="1"/>
              <a:t>desfasoara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context.</a:t>
            </a:r>
          </a:p>
          <a:p>
            <a:pPr lvl="1"/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are un </a:t>
            </a:r>
            <a:r>
              <a:rPr lang="en-US" dirty="0" err="1"/>
              <a:t>caracter</a:t>
            </a:r>
            <a:r>
              <a:rPr lang="en-US" dirty="0"/>
              <a:t> </a:t>
            </a:r>
            <a:r>
              <a:rPr lang="en-US" dirty="0" err="1"/>
              <a:t>dinamic</a:t>
            </a:r>
            <a:endParaRPr lang="en-US" dirty="0"/>
          </a:p>
          <a:p>
            <a:pPr lvl="1"/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are un </a:t>
            </a:r>
            <a:r>
              <a:rPr lang="en-US" dirty="0" err="1"/>
              <a:t>caracter</a:t>
            </a:r>
            <a:r>
              <a:rPr lang="en-US" dirty="0"/>
              <a:t> </a:t>
            </a:r>
            <a:r>
              <a:rPr lang="en-US" dirty="0" err="1"/>
              <a:t>ireversibil</a:t>
            </a:r>
            <a:endParaRPr lang="en-US" dirty="0"/>
          </a:p>
          <a:p>
            <a:pPr lvl="1"/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are un </a:t>
            </a:r>
            <a:r>
              <a:rPr lang="en-US" dirty="0" err="1"/>
              <a:t>continut</a:t>
            </a:r>
            <a:r>
              <a:rPr lang="en-US" dirty="0"/>
              <a:t> manifest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latent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 pot </a:t>
            </a:r>
            <a:r>
              <a:rPr lang="en-US" dirty="0" err="1"/>
              <a:t>diferentia</a:t>
            </a:r>
            <a:r>
              <a:rPr lang="en-US" dirty="0"/>
              <a:t> 4 </a:t>
            </a:r>
            <a:r>
              <a:rPr lang="en-US" dirty="0" err="1"/>
              <a:t>nivele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verbala</a:t>
            </a:r>
            <a:endParaRPr lang="en-US" dirty="0"/>
          </a:p>
          <a:p>
            <a:pPr lvl="1"/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nonverbala</a:t>
            </a:r>
            <a:endParaRPr lang="en-US" dirty="0"/>
          </a:p>
          <a:p>
            <a:pPr lvl="1"/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paraverbala</a:t>
            </a:r>
            <a:endParaRPr lang="en-US" dirty="0"/>
          </a:p>
          <a:p>
            <a:pPr lvl="1"/>
            <a:r>
              <a:rPr lang="en-US" dirty="0" err="1"/>
              <a:t>Metacomunicarea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3810000"/>
          </a:xfrm>
        </p:spPr>
        <p:txBody>
          <a:bodyPr/>
          <a:lstStyle/>
          <a:p>
            <a:r>
              <a:rPr lang="en-US" i="1" dirty="0" err="1"/>
              <a:t>Comunicarea</a:t>
            </a:r>
            <a:r>
              <a:rPr lang="en-US" i="1" dirty="0"/>
              <a:t> </a:t>
            </a:r>
            <a:r>
              <a:rPr lang="en-US" i="1" dirty="0" err="1"/>
              <a:t>verbala</a:t>
            </a:r>
            <a:r>
              <a:rPr lang="en-US" i="1" dirty="0"/>
              <a:t> </a:t>
            </a:r>
            <a:r>
              <a:rPr lang="en-US" dirty="0"/>
              <a:t>-&gt;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evidenta</a:t>
            </a:r>
            <a:r>
              <a:rPr lang="en-US" dirty="0"/>
              <a:t> forma de </a:t>
            </a:r>
            <a:r>
              <a:rPr lang="en-US" dirty="0" err="1"/>
              <a:t>comunicare,cea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usor</a:t>
            </a:r>
            <a:r>
              <a:rPr lang="en-US" dirty="0"/>
              <a:t> de </a:t>
            </a:r>
            <a:r>
              <a:rPr lang="en-US" dirty="0" err="1"/>
              <a:t>identificat</a:t>
            </a:r>
            <a:r>
              <a:rPr lang="en-US" dirty="0"/>
              <a:t>.-&gt; </a:t>
            </a:r>
            <a:r>
              <a:rPr lang="en-US" dirty="0" err="1"/>
              <a:t>presupune</a:t>
            </a:r>
            <a:r>
              <a:rPr lang="en-US" dirty="0"/>
              <a:t> </a:t>
            </a:r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, 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coduri</a:t>
            </a:r>
            <a:r>
              <a:rPr lang="en-US" dirty="0"/>
              <a:t> </a:t>
            </a:r>
            <a:r>
              <a:rPr lang="en-US" dirty="0" err="1"/>
              <a:t>verbale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ajuta</a:t>
            </a:r>
            <a:r>
              <a:rPr lang="en-US" dirty="0"/>
              <a:t> la </a:t>
            </a:r>
            <a:r>
              <a:rPr lang="en-US" dirty="0" err="1"/>
              <a:t>transmiterea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descifrarea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i="1" dirty="0" err="1"/>
              <a:t>Comunicarea</a:t>
            </a:r>
            <a:r>
              <a:rPr lang="en-US" i="1" dirty="0"/>
              <a:t> </a:t>
            </a:r>
            <a:r>
              <a:rPr lang="en-US" i="1" dirty="0" err="1"/>
              <a:t>nonverbala</a:t>
            </a:r>
            <a:r>
              <a:rPr lang="en-US" i="1" dirty="0"/>
              <a:t> </a:t>
            </a:r>
            <a:r>
              <a:rPr lang="en-US" dirty="0"/>
              <a:t>-&gt;</a:t>
            </a:r>
            <a:r>
              <a:rPr lang="en-US" dirty="0" err="1"/>
              <a:t>apare</a:t>
            </a:r>
            <a:r>
              <a:rPr lang="en-US" dirty="0"/>
              <a:t> ca un element de </a:t>
            </a:r>
            <a:r>
              <a:rPr lang="en-US" dirty="0" err="1"/>
              <a:t>intarire</a:t>
            </a:r>
            <a:r>
              <a:rPr lang="en-US" dirty="0"/>
              <a:t> a </a:t>
            </a:r>
            <a:r>
              <a:rPr lang="en-US" dirty="0" err="1"/>
              <a:t>comunicarii</a:t>
            </a:r>
            <a:r>
              <a:rPr lang="en-US" dirty="0"/>
              <a:t> </a:t>
            </a:r>
            <a:r>
              <a:rPr lang="en-US" dirty="0" err="1"/>
              <a:t>verbale</a:t>
            </a:r>
            <a:r>
              <a:rPr lang="en-US" dirty="0"/>
              <a:t>.-&gt;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des </a:t>
            </a:r>
            <a:r>
              <a:rPr lang="en-US" dirty="0" err="1"/>
              <a:t>intalnite</a:t>
            </a:r>
            <a:r>
              <a:rPr lang="en-US" dirty="0"/>
              <a:t> </a:t>
            </a:r>
            <a:r>
              <a:rPr lang="en-US" dirty="0" err="1"/>
              <a:t>forme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nonverbala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Mimica</a:t>
            </a:r>
            <a:endParaRPr lang="en-US" i="1" dirty="0"/>
          </a:p>
          <a:p>
            <a:pPr lvl="1"/>
            <a:r>
              <a:rPr lang="en-US" i="1" dirty="0" err="1"/>
              <a:t>Gestica</a:t>
            </a:r>
            <a:endParaRPr lang="en-US" i="1" dirty="0"/>
          </a:p>
          <a:p>
            <a:pPr lvl="1"/>
            <a:r>
              <a:rPr lang="en-US" i="1" dirty="0" err="1"/>
              <a:t>Postura</a:t>
            </a:r>
            <a:endParaRPr lang="en-US" i="1" dirty="0"/>
          </a:p>
          <a:p>
            <a:pPr lvl="1"/>
            <a:r>
              <a:rPr lang="en-US" i="1" dirty="0" err="1"/>
              <a:t>Atitudinea</a:t>
            </a:r>
            <a:endParaRPr lang="en-US" i="1" dirty="0"/>
          </a:p>
          <a:p>
            <a:pPr lvl="1"/>
            <a:r>
              <a:rPr lang="en-US" i="1" dirty="0" err="1"/>
              <a:t>Vestimentatia</a:t>
            </a:r>
            <a:endParaRPr lang="en-US" i="1" dirty="0"/>
          </a:p>
          <a:p>
            <a:pPr lvl="1"/>
            <a:r>
              <a:rPr lang="en-US" i="1" dirty="0" err="1"/>
              <a:t>Proximica</a:t>
            </a:r>
            <a:endParaRPr lang="en-US" i="1" dirty="0"/>
          </a:p>
          <a:p>
            <a:pPr lvl="1"/>
            <a:r>
              <a:rPr lang="en-US" i="1" dirty="0" err="1"/>
              <a:t>Comunicarea</a:t>
            </a:r>
            <a:r>
              <a:rPr lang="en-US" i="1" dirty="0"/>
              <a:t> cu </a:t>
            </a:r>
            <a:r>
              <a:rPr lang="en-US" i="1" dirty="0" err="1"/>
              <a:t>timpul</a:t>
            </a:r>
            <a:endParaRPr lang="en-US" i="1" dirty="0"/>
          </a:p>
          <a:p>
            <a:pPr>
              <a:buNone/>
            </a:pPr>
            <a:r>
              <a:rPr lang="en-US" i="1" dirty="0"/>
              <a:t>-&gt;</a:t>
            </a:r>
            <a:r>
              <a:rPr lang="en-US" dirty="0" err="1"/>
              <a:t>acestea</a:t>
            </a:r>
            <a:r>
              <a:rPr lang="en-US" dirty="0"/>
              <a:t> </a:t>
            </a:r>
            <a:r>
              <a:rPr lang="en-US" dirty="0" err="1"/>
              <a:t>confirma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infirma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verbal</a:t>
            </a:r>
            <a:endParaRPr lang="en-US" i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i="1" dirty="0" err="1"/>
              <a:t>Comunicarea</a:t>
            </a:r>
            <a:r>
              <a:rPr lang="en-US" i="1" dirty="0"/>
              <a:t> </a:t>
            </a:r>
            <a:r>
              <a:rPr lang="en-US" i="1" dirty="0" err="1"/>
              <a:t>paraverbala</a:t>
            </a:r>
            <a:r>
              <a:rPr lang="en-US" i="1" dirty="0"/>
              <a:t> </a:t>
            </a:r>
            <a:r>
              <a:rPr lang="en-US" dirty="0" err="1"/>
              <a:t>prezinta</a:t>
            </a:r>
            <a:r>
              <a:rPr lang="en-US" dirty="0"/>
              <a:t> un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profund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, operand cu </a:t>
            </a:r>
            <a:r>
              <a:rPr lang="en-US" dirty="0" err="1"/>
              <a:t>aspecte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forme</a:t>
            </a:r>
            <a:r>
              <a:rPr lang="en-US" dirty="0"/>
              <a:t> ale </a:t>
            </a:r>
            <a:r>
              <a:rPr lang="en-US" dirty="0" err="1"/>
              <a:t>comunicarii</a:t>
            </a:r>
            <a:r>
              <a:rPr lang="en-US" dirty="0"/>
              <a:t> </a:t>
            </a:r>
            <a:r>
              <a:rPr lang="en-US" dirty="0" err="1"/>
              <a:t>verbale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nonverbale</a:t>
            </a:r>
            <a:r>
              <a:rPr lang="en-US" dirty="0"/>
              <a:t>.-&gt;la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accentul</a:t>
            </a:r>
            <a:r>
              <a:rPr lang="en-US" dirty="0"/>
              <a:t> </a:t>
            </a:r>
            <a:r>
              <a:rPr lang="en-US" dirty="0" err="1"/>
              <a:t>cade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maniera</a:t>
            </a:r>
            <a:r>
              <a:rPr lang="en-US" dirty="0"/>
              <a:t> de </a:t>
            </a:r>
            <a:r>
              <a:rPr lang="en-US" dirty="0" err="1"/>
              <a:t>exprimare,pe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formelor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integrarea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in 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propriul-zis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i="1" dirty="0" err="1"/>
              <a:t>Metacomunicarea</a:t>
            </a:r>
            <a:r>
              <a:rPr lang="en-US" i="1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ultimul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al </a:t>
            </a:r>
            <a:r>
              <a:rPr lang="en-US" dirty="0" err="1"/>
              <a:t>comunicarii</a:t>
            </a:r>
            <a:r>
              <a:rPr lang="en-US" dirty="0"/>
              <a:t>,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profund</a:t>
            </a:r>
            <a:r>
              <a:rPr lang="en-US" dirty="0"/>
              <a:t>.-&gt;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operatia</a:t>
            </a:r>
            <a:r>
              <a:rPr lang="en-US" dirty="0"/>
              <a:t> de control al </a:t>
            </a:r>
            <a:r>
              <a:rPr lang="en-US" dirty="0" err="1"/>
              <a:t>comunicarii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parteneri</a:t>
            </a:r>
            <a:r>
              <a:rPr lang="en-US" dirty="0"/>
              <a:t>.-&gt; </a:t>
            </a:r>
            <a:r>
              <a:rPr lang="en-US" dirty="0" err="1"/>
              <a:t>stabileste</a:t>
            </a:r>
            <a:r>
              <a:rPr lang="en-US" dirty="0"/>
              <a:t> </a:t>
            </a:r>
            <a:r>
              <a:rPr lang="en-US" dirty="0" err="1"/>
              <a:t>conditiile</a:t>
            </a:r>
            <a:r>
              <a:rPr lang="en-US" dirty="0"/>
              <a:t> de </a:t>
            </a:r>
            <a:r>
              <a:rPr lang="en-US" dirty="0" err="1"/>
              <a:t>interpretare</a:t>
            </a:r>
            <a:r>
              <a:rPr lang="en-US" dirty="0"/>
              <a:t> a </a:t>
            </a:r>
            <a:r>
              <a:rPr lang="en-US" dirty="0" err="1"/>
              <a:t>discursului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destinatar</a:t>
            </a:r>
            <a:r>
              <a:rPr lang="en-US" dirty="0"/>
              <a:t>, </a:t>
            </a:r>
            <a:r>
              <a:rPr lang="en-US" dirty="0" err="1"/>
              <a:t>impunand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obligativitatea</a:t>
            </a:r>
            <a:r>
              <a:rPr lang="en-US" dirty="0"/>
              <a:t> </a:t>
            </a:r>
            <a:r>
              <a:rPr lang="en-US" dirty="0" err="1"/>
              <a:t>reactiei</a:t>
            </a:r>
            <a:r>
              <a:rPr lang="en-US" dirty="0"/>
              <a:t> de </a:t>
            </a:r>
            <a:r>
              <a:rPr lang="en-US" dirty="0" err="1"/>
              <a:t>raspuns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i="1" dirty="0" err="1"/>
              <a:t>Teorii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modele</a:t>
            </a:r>
            <a:r>
              <a:rPr lang="en-US" i="1" dirty="0"/>
              <a:t> ale </a:t>
            </a:r>
            <a:r>
              <a:rPr lang="en-US" i="1" dirty="0" err="1"/>
              <a:t>comunicarii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dirty="0" err="1"/>
              <a:t>C.Shannon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W.Weaver</a:t>
            </a:r>
            <a:r>
              <a:rPr lang="en-US" dirty="0"/>
              <a:t> au </a:t>
            </a:r>
            <a:r>
              <a:rPr lang="en-US" dirty="0" err="1"/>
              <a:t>publicat</a:t>
            </a:r>
            <a:r>
              <a:rPr lang="en-US" dirty="0"/>
              <a:t> in 1949 </a:t>
            </a:r>
            <a:r>
              <a:rPr lang="en-US" dirty="0" err="1"/>
              <a:t>cartea</a:t>
            </a:r>
            <a:r>
              <a:rPr lang="en-US" dirty="0"/>
              <a:t> </a:t>
            </a:r>
            <a:r>
              <a:rPr lang="en-US" i="1" dirty="0" err="1"/>
              <a:t>Teoria</a:t>
            </a:r>
            <a:r>
              <a:rPr lang="en-US" i="1" dirty="0"/>
              <a:t> </a:t>
            </a:r>
            <a:r>
              <a:rPr lang="en-US" i="1" dirty="0" err="1"/>
              <a:t>matematica</a:t>
            </a:r>
            <a:r>
              <a:rPr lang="en-US" i="1" dirty="0"/>
              <a:t> a </a:t>
            </a:r>
            <a:r>
              <a:rPr lang="en-US" i="1" dirty="0" err="1"/>
              <a:t>comunicarii</a:t>
            </a:r>
            <a:r>
              <a:rPr lang="en-US" i="1" dirty="0"/>
              <a:t> </a:t>
            </a:r>
            <a:r>
              <a:rPr lang="en-US" dirty="0"/>
              <a:t>-&gt; </a:t>
            </a:r>
            <a:r>
              <a:rPr lang="en-US" dirty="0" err="1"/>
              <a:t>identifica</a:t>
            </a:r>
            <a:r>
              <a:rPr lang="en-US" dirty="0"/>
              <a:t> 3 </a:t>
            </a:r>
            <a:r>
              <a:rPr lang="en-US" dirty="0" err="1"/>
              <a:t>niveluri</a:t>
            </a:r>
            <a:r>
              <a:rPr lang="en-US" dirty="0"/>
              <a:t> </a:t>
            </a:r>
            <a:r>
              <a:rPr lang="en-US" dirty="0" err="1"/>
              <a:t>semnificative</a:t>
            </a:r>
            <a:r>
              <a:rPr lang="en-US" dirty="0"/>
              <a:t> in </a:t>
            </a:r>
            <a:r>
              <a:rPr lang="en-US" dirty="0" err="1"/>
              <a:t>studiul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Problemele</a:t>
            </a:r>
            <a:r>
              <a:rPr lang="en-US" dirty="0"/>
              <a:t> </a:t>
            </a:r>
            <a:r>
              <a:rPr lang="en-US" dirty="0" err="1"/>
              <a:t>tehnice</a:t>
            </a:r>
            <a:endParaRPr lang="en-US" dirty="0"/>
          </a:p>
          <a:p>
            <a:pPr lvl="1"/>
            <a:r>
              <a:rPr lang="en-US" dirty="0" err="1"/>
              <a:t>Problemele</a:t>
            </a:r>
            <a:r>
              <a:rPr lang="en-US" dirty="0"/>
              <a:t> </a:t>
            </a:r>
            <a:r>
              <a:rPr lang="en-US" dirty="0" err="1"/>
              <a:t>semantice</a:t>
            </a:r>
            <a:endParaRPr lang="en-US" dirty="0"/>
          </a:p>
          <a:p>
            <a:pPr lvl="1"/>
            <a:r>
              <a:rPr lang="en-US" dirty="0" err="1"/>
              <a:t>Problemele</a:t>
            </a:r>
            <a:r>
              <a:rPr lang="en-US" dirty="0"/>
              <a:t> de </a:t>
            </a:r>
            <a:r>
              <a:rPr lang="en-US" dirty="0" err="1"/>
              <a:t>eficienta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de 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doi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linear:</a:t>
            </a:r>
          </a:p>
          <a:p>
            <a:pPr>
              <a:buNone/>
            </a:pPr>
            <a:r>
              <a:rPr lang="en-US" i="1" dirty="0" err="1"/>
              <a:t>Sursa</a:t>
            </a:r>
            <a:r>
              <a:rPr lang="en-US" i="1" dirty="0"/>
              <a:t> </a:t>
            </a:r>
            <a:r>
              <a:rPr lang="en-US" dirty="0"/>
              <a:t>-&gt;</a:t>
            </a:r>
            <a:r>
              <a:rPr lang="en-US" dirty="0" err="1"/>
              <a:t>locul</a:t>
            </a:r>
            <a:r>
              <a:rPr lang="en-US" dirty="0"/>
              <a:t> in care </a:t>
            </a:r>
            <a:r>
              <a:rPr lang="en-US" dirty="0" err="1"/>
              <a:t>decizia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luata,acesta</a:t>
            </a:r>
            <a:r>
              <a:rPr lang="en-US" dirty="0"/>
              <a:t> </a:t>
            </a:r>
            <a:r>
              <a:rPr lang="en-US" dirty="0" err="1"/>
              <a:t>decizand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a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trimis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i="1" dirty="0" err="1"/>
              <a:t>Zgomotul</a:t>
            </a:r>
            <a:r>
              <a:rPr lang="en-US" i="1" dirty="0"/>
              <a:t> -&gt;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adaugire</a:t>
            </a:r>
            <a:r>
              <a:rPr lang="en-US" dirty="0"/>
              <a:t> la </a:t>
            </a:r>
            <a:r>
              <a:rPr lang="en-US" dirty="0" err="1"/>
              <a:t>semnal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transmitere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receptie</a:t>
            </a:r>
            <a:r>
              <a:rPr lang="en-US" dirty="0"/>
              <a:t>, care nu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intentionata</a:t>
            </a:r>
            <a:r>
              <a:rPr lang="en-US" dirty="0"/>
              <a:t> de </a:t>
            </a:r>
            <a:r>
              <a:rPr lang="en-US" dirty="0" err="1"/>
              <a:t>sursa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i="1" dirty="0" err="1"/>
              <a:t>Informatia</a:t>
            </a:r>
            <a:r>
              <a:rPr lang="en-US" i="1" dirty="0"/>
              <a:t> </a:t>
            </a:r>
            <a:r>
              <a:rPr lang="en-US" dirty="0"/>
              <a:t>-&gt;o </a:t>
            </a:r>
            <a:r>
              <a:rPr lang="en-US" dirty="0" err="1"/>
              <a:t>masura</a:t>
            </a:r>
            <a:r>
              <a:rPr lang="en-US" dirty="0"/>
              <a:t> a </a:t>
            </a:r>
            <a:r>
              <a:rPr lang="en-US" dirty="0" err="1"/>
              <a:t>predictibilitatii</a:t>
            </a:r>
            <a:r>
              <a:rPr lang="en-US" dirty="0"/>
              <a:t> </a:t>
            </a:r>
            <a:r>
              <a:rPr lang="en-US" dirty="0" err="1"/>
              <a:t>semnalului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i="1" dirty="0" err="1"/>
              <a:t>Redundanta</a:t>
            </a:r>
            <a:r>
              <a:rPr lang="en-US" dirty="0"/>
              <a:t>-&gt;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previzibil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conventional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mesaj</a:t>
            </a:r>
            <a:r>
              <a:rPr lang="en-US" dirty="0"/>
              <a:t>, </a:t>
            </a:r>
            <a:r>
              <a:rPr lang="en-US" dirty="0" err="1"/>
              <a:t>fenomenul</a:t>
            </a:r>
            <a:r>
              <a:rPr lang="en-US" dirty="0"/>
              <a:t> opus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i="1" dirty="0" err="1"/>
              <a:t>entropia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i="1" dirty="0" err="1"/>
              <a:t>Canalul</a:t>
            </a:r>
            <a:r>
              <a:rPr lang="en-US" i="1" dirty="0"/>
              <a:t>-&gt;</a:t>
            </a:r>
            <a:r>
              <a:rPr lang="en-US" dirty="0" err="1"/>
              <a:t>mijlocul</a:t>
            </a:r>
            <a:r>
              <a:rPr lang="en-US" dirty="0"/>
              <a:t> </a:t>
            </a:r>
            <a:r>
              <a:rPr lang="en-US" dirty="0" err="1"/>
              <a:t>fizic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transmis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i="1" dirty="0" err="1"/>
              <a:t>Codul</a:t>
            </a:r>
            <a:r>
              <a:rPr lang="en-US" i="1" dirty="0"/>
              <a:t>-&gt;</a:t>
            </a:r>
            <a:r>
              <a:rPr lang="en-US" dirty="0"/>
              <a:t>un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intelesuri</a:t>
            </a:r>
            <a:r>
              <a:rPr lang="en-US" dirty="0"/>
              <a:t> </a:t>
            </a:r>
            <a:r>
              <a:rPr lang="en-US" dirty="0" err="1"/>
              <a:t>comun</a:t>
            </a:r>
            <a:r>
              <a:rPr lang="en-US" dirty="0"/>
              <a:t> </a:t>
            </a:r>
            <a:r>
              <a:rPr lang="en-US" dirty="0" err="1"/>
              <a:t>membrilor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culturi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subculturi</a:t>
            </a:r>
            <a:endParaRPr lang="en-US" dirty="0"/>
          </a:p>
          <a:p>
            <a:pPr>
              <a:buNone/>
            </a:pPr>
            <a:r>
              <a:rPr lang="en-US" i="1" dirty="0" err="1"/>
              <a:t>Mediumul</a:t>
            </a:r>
            <a:r>
              <a:rPr lang="en-US" i="1" dirty="0"/>
              <a:t>(media)-&gt;</a:t>
            </a:r>
            <a:r>
              <a:rPr lang="en-US" dirty="0" err="1"/>
              <a:t>mijloacele</a:t>
            </a:r>
            <a:r>
              <a:rPr lang="en-US" dirty="0"/>
              <a:t> </a:t>
            </a:r>
            <a:r>
              <a:rPr lang="en-US" dirty="0" err="1"/>
              <a:t>tehnice</a:t>
            </a:r>
            <a:r>
              <a:rPr lang="en-US" dirty="0"/>
              <a:t> de </a:t>
            </a:r>
            <a:r>
              <a:rPr lang="en-US" dirty="0" err="1"/>
              <a:t>convertire</a:t>
            </a:r>
            <a:r>
              <a:rPr lang="en-US" dirty="0"/>
              <a:t> a </a:t>
            </a:r>
            <a:r>
              <a:rPr lang="en-US" dirty="0" err="1"/>
              <a:t>mesajului</a:t>
            </a:r>
            <a:r>
              <a:rPr lang="en-US" dirty="0"/>
              <a:t> in </a:t>
            </a:r>
            <a:r>
              <a:rPr lang="en-US" dirty="0" err="1"/>
              <a:t>semnal</a:t>
            </a:r>
            <a:r>
              <a:rPr lang="en-US" dirty="0"/>
              <a:t>.</a:t>
            </a:r>
            <a:endParaRPr lang="en-US" i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Laswell</a:t>
            </a:r>
            <a:r>
              <a:rPr lang="en-US" dirty="0"/>
              <a:t> a </a:t>
            </a:r>
            <a:r>
              <a:rPr lang="en-US" dirty="0" err="1"/>
              <a:t>elaborat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primele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ale </a:t>
            </a:r>
            <a:r>
              <a:rPr lang="en-US" dirty="0" err="1"/>
              <a:t>comunicarii</a:t>
            </a:r>
            <a:r>
              <a:rPr lang="en-US" dirty="0"/>
              <a:t>.-&gt;</a:t>
            </a:r>
            <a:r>
              <a:rPr lang="en-US" dirty="0" err="1"/>
              <a:t>sustine</a:t>
            </a:r>
            <a:r>
              <a:rPr lang="en-US" dirty="0"/>
              <a:t> ca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intelege</a:t>
            </a:r>
            <a:r>
              <a:rPr lang="en-US" dirty="0"/>
              <a:t> </a:t>
            </a:r>
            <a:r>
              <a:rPr lang="en-US" dirty="0" err="1"/>
              <a:t>procesele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 in </a:t>
            </a:r>
            <a:r>
              <a:rPr lang="en-US" dirty="0" err="1"/>
              <a:t>masa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necesar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intelegem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etapele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. : cine…</a:t>
            </a:r>
            <a:r>
              <a:rPr lang="en-US" dirty="0" err="1"/>
              <a:t>spune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….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canal…cui..cu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efect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 err="1"/>
              <a:t>Gerbner</a:t>
            </a:r>
            <a:r>
              <a:rPr lang="en-US" dirty="0"/>
              <a:t> a </a:t>
            </a:r>
            <a:r>
              <a:rPr lang="en-US" dirty="0" err="1"/>
              <a:t>incercat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elaboreze</a:t>
            </a:r>
            <a:r>
              <a:rPr lang="en-US" dirty="0"/>
              <a:t> un alt model-&gt; </a:t>
            </a:r>
            <a:r>
              <a:rPr lang="en-US" dirty="0" err="1"/>
              <a:t>pune</a:t>
            </a:r>
            <a:r>
              <a:rPr lang="en-US" dirty="0"/>
              <a:t> in contact </a:t>
            </a:r>
            <a:r>
              <a:rPr lang="en-US" dirty="0" err="1"/>
              <a:t>mesajul</a:t>
            </a:r>
            <a:r>
              <a:rPr lang="en-US" dirty="0"/>
              <a:t> cu </a:t>
            </a:r>
            <a:r>
              <a:rPr lang="en-US" dirty="0" err="1"/>
              <a:t>realitatea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care </a:t>
            </a:r>
            <a:r>
              <a:rPr lang="en-US" dirty="0" err="1"/>
              <a:t>relateaza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concepe</a:t>
            </a:r>
            <a:r>
              <a:rPr lang="en-US" dirty="0"/>
              <a:t> </a:t>
            </a:r>
            <a:r>
              <a:rPr lang="en-US" dirty="0" err="1"/>
              <a:t>comunicarea</a:t>
            </a:r>
            <a:r>
              <a:rPr lang="en-US" dirty="0"/>
              <a:t> ca </a:t>
            </a:r>
            <a:r>
              <a:rPr lang="en-US" dirty="0" err="1"/>
              <a:t>pe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care </a:t>
            </a:r>
            <a:r>
              <a:rPr lang="en-US" dirty="0" err="1"/>
              <a:t>consta</a:t>
            </a:r>
            <a:r>
              <a:rPr lang="en-US" dirty="0"/>
              <a:t> in 2 </a:t>
            </a:r>
            <a:r>
              <a:rPr lang="en-US" dirty="0" err="1"/>
              <a:t>dimensiuni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alterneaza</a:t>
            </a:r>
            <a:r>
              <a:rPr lang="en-US" dirty="0"/>
              <a:t>: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perceptiva</a:t>
            </a:r>
            <a:r>
              <a:rPr lang="en-US" dirty="0"/>
              <a:t>(de </a:t>
            </a:r>
            <a:r>
              <a:rPr lang="en-US" dirty="0" err="1"/>
              <a:t>receptie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(</a:t>
            </a:r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modalitatii</a:t>
            </a:r>
            <a:r>
              <a:rPr lang="en-US" dirty="0"/>
              <a:t> de </a:t>
            </a:r>
            <a:r>
              <a:rPr lang="en-US" dirty="0" err="1"/>
              <a:t>transmitere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control)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Newcomb </a:t>
            </a:r>
            <a:r>
              <a:rPr lang="en-US" dirty="0" err="1"/>
              <a:t>introduce,prin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, o forma total </a:t>
            </a:r>
            <a:r>
              <a:rPr lang="en-US" dirty="0" err="1"/>
              <a:t>distincta</a:t>
            </a:r>
            <a:r>
              <a:rPr lang="en-US" dirty="0"/>
              <a:t> de </a:t>
            </a:r>
            <a:r>
              <a:rPr lang="en-US" dirty="0" err="1"/>
              <a:t>cea</a:t>
            </a:r>
            <a:r>
              <a:rPr lang="en-US" dirty="0"/>
              <a:t> a </a:t>
            </a:r>
            <a:r>
              <a:rPr lang="en-US" dirty="0" err="1"/>
              <a:t>proceselor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triunghiulara</a:t>
            </a:r>
            <a:r>
              <a:rPr lang="en-US" dirty="0"/>
              <a:t>.-&gt; introduce </a:t>
            </a:r>
            <a:r>
              <a:rPr lang="en-US" dirty="0" err="1"/>
              <a:t>studiul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 in context societal</a:t>
            </a:r>
          </a:p>
          <a:p>
            <a:pPr>
              <a:buNone/>
            </a:pPr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Jakobson</a:t>
            </a:r>
            <a:r>
              <a:rPr lang="en-US" dirty="0"/>
              <a:t> </a:t>
            </a:r>
            <a:r>
              <a:rPr lang="en-US" dirty="0" err="1"/>
              <a:t>seamana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liniar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triunghiular</a:t>
            </a:r>
            <a:r>
              <a:rPr lang="en-US" dirty="0"/>
              <a:t>.-&gt;</a:t>
            </a:r>
            <a:r>
              <a:rPr lang="en-US" dirty="0" err="1"/>
              <a:t>pleaca</a:t>
            </a:r>
            <a:r>
              <a:rPr lang="en-US" dirty="0"/>
              <a:t> de la </a:t>
            </a:r>
            <a:r>
              <a:rPr lang="en-US" dirty="0" err="1"/>
              <a:t>modelarea</a:t>
            </a:r>
            <a:r>
              <a:rPr lang="en-US" dirty="0"/>
              <a:t> </a:t>
            </a:r>
            <a:r>
              <a:rPr lang="en-US" dirty="0" err="1"/>
              <a:t>factorilor</a:t>
            </a:r>
            <a:r>
              <a:rPr lang="en-US" dirty="0"/>
              <a:t> </a:t>
            </a:r>
            <a:r>
              <a:rPr lang="en-US" dirty="0" err="1"/>
              <a:t>constitutivi</a:t>
            </a:r>
            <a:r>
              <a:rPr lang="en-US" dirty="0"/>
              <a:t> </a:t>
            </a:r>
            <a:r>
              <a:rPr lang="en-US" dirty="0" err="1"/>
              <a:t>ai</a:t>
            </a:r>
            <a:r>
              <a:rPr lang="en-US" dirty="0"/>
              <a:t> </a:t>
            </a:r>
            <a:r>
              <a:rPr lang="en-US" dirty="0" err="1"/>
              <a:t>actului</a:t>
            </a:r>
            <a:r>
              <a:rPr lang="en-US" dirty="0"/>
              <a:t> de </a:t>
            </a:r>
            <a:r>
              <a:rPr lang="en-US" dirty="0" err="1"/>
              <a:t>comunicare,apoi</a:t>
            </a:r>
            <a:r>
              <a:rPr lang="en-US" dirty="0"/>
              <a:t> </a:t>
            </a:r>
            <a:r>
              <a:rPr lang="en-US" dirty="0" err="1"/>
              <a:t>modeleaza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</a:t>
            </a:r>
            <a:r>
              <a:rPr lang="en-US" dirty="0" err="1"/>
              <a:t>actul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le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fiecarui</a:t>
            </a:r>
            <a:r>
              <a:rPr lang="en-US" dirty="0"/>
              <a:t> factor </a:t>
            </a:r>
            <a:r>
              <a:rPr lang="en-US" dirty="0" err="1"/>
              <a:t>constitutiv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Jakobson</a:t>
            </a:r>
            <a:r>
              <a:rPr lang="en-US" dirty="0"/>
              <a:t> </a:t>
            </a:r>
            <a:r>
              <a:rPr lang="en-US" dirty="0" err="1"/>
              <a:t>descrie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 ale </a:t>
            </a:r>
            <a:r>
              <a:rPr lang="en-US" dirty="0" err="1"/>
              <a:t>limbajului</a:t>
            </a:r>
            <a:r>
              <a:rPr lang="en-US" dirty="0"/>
              <a:t>:</a:t>
            </a:r>
          </a:p>
          <a:p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emotionala</a:t>
            </a:r>
            <a:r>
              <a:rPr lang="en-US" dirty="0"/>
              <a:t>-&gt;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expeditor</a:t>
            </a:r>
          </a:p>
          <a:p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persuasiva</a:t>
            </a:r>
            <a:r>
              <a:rPr lang="en-US" dirty="0"/>
              <a:t>-&gt;</a:t>
            </a:r>
            <a:r>
              <a:rPr lang="en-US" dirty="0" err="1"/>
              <a:t>efectul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destinatarului</a:t>
            </a:r>
            <a:endParaRPr lang="en-US" dirty="0"/>
          </a:p>
          <a:p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referentiala</a:t>
            </a:r>
            <a:r>
              <a:rPr lang="en-US" dirty="0"/>
              <a:t>-&gt;</a:t>
            </a:r>
            <a:r>
              <a:rPr lang="en-US" dirty="0" err="1"/>
              <a:t>orientarea</a:t>
            </a:r>
            <a:r>
              <a:rPr lang="en-US" dirty="0"/>
              <a:t> </a:t>
            </a:r>
            <a:r>
              <a:rPr lang="en-US" dirty="0" err="1"/>
              <a:t>reala</a:t>
            </a:r>
            <a:r>
              <a:rPr lang="en-US" dirty="0"/>
              <a:t> a </a:t>
            </a:r>
            <a:r>
              <a:rPr lang="en-US" dirty="0" err="1"/>
              <a:t>mesajului</a:t>
            </a:r>
            <a:endParaRPr lang="en-US" dirty="0"/>
          </a:p>
          <a:p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empatica</a:t>
            </a:r>
            <a:r>
              <a:rPr lang="en-US" dirty="0"/>
              <a:t>-&gt;</a:t>
            </a:r>
            <a:r>
              <a:rPr lang="en-US" dirty="0" err="1"/>
              <a:t>mentine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expeditor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adresant</a:t>
            </a:r>
            <a:endParaRPr lang="en-US" dirty="0"/>
          </a:p>
          <a:p>
            <a:r>
              <a:rPr lang="en-US" dirty="0" err="1"/>
              <a:t>Functia</a:t>
            </a:r>
            <a:r>
              <a:rPr lang="en-US" dirty="0"/>
              <a:t> de </a:t>
            </a:r>
            <a:r>
              <a:rPr lang="en-US" dirty="0" err="1"/>
              <a:t>metalimbaj</a:t>
            </a:r>
            <a:r>
              <a:rPr lang="en-US" dirty="0"/>
              <a:t>-&gt;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codului</a:t>
            </a:r>
            <a:r>
              <a:rPr lang="en-US" dirty="0"/>
              <a:t> </a:t>
            </a:r>
            <a:r>
              <a:rPr lang="en-US" dirty="0" err="1"/>
              <a:t>utilizat</a:t>
            </a:r>
            <a:r>
              <a:rPr lang="en-US" dirty="0"/>
              <a:t> in </a:t>
            </a:r>
            <a:r>
              <a:rPr lang="en-US" dirty="0" err="1"/>
              <a:t>comunicare</a:t>
            </a:r>
            <a:endParaRPr lang="en-US" dirty="0"/>
          </a:p>
          <a:p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poetica</a:t>
            </a:r>
            <a:r>
              <a:rPr lang="en-US" dirty="0"/>
              <a:t>-&gt;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 cu el </a:t>
            </a:r>
            <a:r>
              <a:rPr lang="en-US" dirty="0" err="1"/>
              <a:t>insusi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Limba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limbajul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err="1"/>
              <a:t>Limbajul</a:t>
            </a:r>
            <a:r>
              <a:rPr lang="en-US" i="1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evoluata,mai</a:t>
            </a:r>
            <a:r>
              <a:rPr lang="en-US" dirty="0"/>
              <a:t> </a:t>
            </a:r>
            <a:r>
              <a:rPr lang="en-US" dirty="0" err="1"/>
              <a:t>rafinata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bogata</a:t>
            </a:r>
            <a:r>
              <a:rPr lang="en-US" dirty="0"/>
              <a:t> forma de </a:t>
            </a:r>
            <a:r>
              <a:rPr lang="en-US" dirty="0" err="1"/>
              <a:t>comunicare</a:t>
            </a:r>
            <a:r>
              <a:rPr lang="en-US" dirty="0"/>
              <a:t>.-&gt; </a:t>
            </a:r>
            <a:r>
              <a:rPr lang="en-US" dirty="0" err="1"/>
              <a:t>dpdv</a:t>
            </a:r>
            <a:r>
              <a:rPr lang="en-US" dirty="0"/>
              <a:t> al </a:t>
            </a:r>
            <a:r>
              <a:rPr lang="en-US" dirty="0" err="1"/>
              <a:t>semioticii</a:t>
            </a:r>
            <a:r>
              <a:rPr lang="en-US" dirty="0"/>
              <a:t>-un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/>
              <a:t>semne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reguli</a:t>
            </a:r>
            <a:r>
              <a:rPr lang="en-US" dirty="0"/>
              <a:t> in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fixarii</a:t>
            </a:r>
            <a:r>
              <a:rPr lang="en-US" dirty="0"/>
              <a:t>, </a:t>
            </a:r>
            <a:r>
              <a:rPr lang="en-US" dirty="0" err="1"/>
              <a:t>prelucrarii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transmiterii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.</a:t>
            </a:r>
          </a:p>
          <a:p>
            <a:r>
              <a:rPr lang="en-US" i="1" dirty="0" err="1"/>
              <a:t>Regulile</a:t>
            </a:r>
            <a:r>
              <a:rPr lang="en-US" i="1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guverneaza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semne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de 3 </a:t>
            </a:r>
            <a:r>
              <a:rPr lang="en-US" dirty="0" err="1"/>
              <a:t>tipuri</a:t>
            </a:r>
            <a:r>
              <a:rPr lang="en-US" dirty="0"/>
              <a:t>:</a:t>
            </a:r>
          </a:p>
          <a:p>
            <a:pPr lvl="1"/>
            <a:r>
              <a:rPr lang="en-US" i="1" dirty="0" err="1"/>
              <a:t>Sintactice</a:t>
            </a:r>
            <a:endParaRPr lang="en-US" i="1" dirty="0"/>
          </a:p>
          <a:p>
            <a:pPr lvl="1"/>
            <a:r>
              <a:rPr lang="en-US" i="1" dirty="0" err="1"/>
              <a:t>Semantice</a:t>
            </a:r>
            <a:endParaRPr lang="en-US" i="1" dirty="0"/>
          </a:p>
          <a:p>
            <a:pPr lvl="1"/>
            <a:r>
              <a:rPr lang="en-US" i="1" dirty="0" err="1"/>
              <a:t>Pragmatice</a:t>
            </a:r>
            <a:endParaRPr lang="en-US" i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dirty="0" err="1"/>
              <a:t>Limbajul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supunerii</a:t>
            </a:r>
            <a:r>
              <a:rPr lang="en-US" dirty="0"/>
              <a:t> </a:t>
            </a:r>
            <a:r>
              <a:rPr lang="en-US" dirty="0" err="1"/>
              <a:t>functiei</a:t>
            </a:r>
            <a:r>
              <a:rPr lang="en-US" dirty="0"/>
              <a:t> </a:t>
            </a:r>
            <a:r>
              <a:rPr lang="en-US" dirty="0" err="1"/>
              <a:t>semiotice</a:t>
            </a:r>
            <a:r>
              <a:rPr lang="en-US" dirty="0"/>
              <a:t> la </a:t>
            </a:r>
            <a:r>
              <a:rPr lang="en-US" dirty="0" err="1"/>
              <a:t>rigorile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 </a:t>
            </a:r>
            <a:r>
              <a:rPr lang="en-US" dirty="0" err="1"/>
              <a:t>sociale</a:t>
            </a:r>
            <a:r>
              <a:rPr lang="en-US" dirty="0"/>
              <a:t>, </a:t>
            </a:r>
            <a:r>
              <a:rPr lang="en-US" dirty="0" err="1"/>
              <a:t>impunandu</a:t>
            </a:r>
            <a:r>
              <a:rPr lang="en-US" dirty="0"/>
              <a:t>-se </a:t>
            </a:r>
            <a:r>
              <a:rPr lang="en-US" dirty="0" err="1"/>
              <a:t>relativitatea</a:t>
            </a:r>
            <a:r>
              <a:rPr lang="en-US" dirty="0"/>
              <a:t> </a:t>
            </a:r>
            <a:r>
              <a:rPr lang="en-US" dirty="0" err="1"/>
              <a:t>semnelor</a:t>
            </a:r>
            <a:r>
              <a:rPr lang="en-US" dirty="0"/>
              <a:t> </a:t>
            </a:r>
            <a:r>
              <a:rPr lang="en-US" dirty="0" err="1"/>
              <a:t>lingvistice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retinand</a:t>
            </a:r>
            <a:r>
              <a:rPr lang="en-US" dirty="0"/>
              <a:t> </a:t>
            </a:r>
            <a:r>
              <a:rPr lang="en-US" dirty="0" err="1"/>
              <a:t>expresia</a:t>
            </a:r>
            <a:r>
              <a:rPr lang="en-US" dirty="0"/>
              <a:t> </a:t>
            </a:r>
            <a:r>
              <a:rPr lang="en-US" dirty="0" err="1"/>
              <a:t>lingvistica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adecvata</a:t>
            </a:r>
            <a:r>
              <a:rPr lang="en-US" dirty="0"/>
              <a:t>, </a:t>
            </a:r>
            <a:r>
              <a:rPr lang="en-US" dirty="0" err="1"/>
              <a:t>limbajul</a:t>
            </a:r>
            <a:r>
              <a:rPr lang="en-US" dirty="0"/>
              <a:t> verbal </a:t>
            </a:r>
            <a:r>
              <a:rPr lang="en-US" dirty="0" err="1"/>
              <a:t>aparand</a:t>
            </a:r>
            <a:r>
              <a:rPr lang="en-US" dirty="0"/>
              <a:t> la </a:t>
            </a:r>
            <a:r>
              <a:rPr lang="en-US" dirty="0" err="1"/>
              <a:t>intersectia</a:t>
            </a:r>
            <a:r>
              <a:rPr lang="en-US" dirty="0"/>
              <a:t> </a:t>
            </a:r>
            <a:r>
              <a:rPr lang="en-US" dirty="0" err="1"/>
              <a:t>functiei</a:t>
            </a:r>
            <a:r>
              <a:rPr lang="en-US" dirty="0"/>
              <a:t> </a:t>
            </a:r>
            <a:r>
              <a:rPr lang="en-US" dirty="0" err="1"/>
              <a:t>semiotice</a:t>
            </a:r>
            <a:r>
              <a:rPr lang="en-US" dirty="0"/>
              <a:t> cu </a:t>
            </a:r>
            <a:r>
              <a:rPr lang="en-US" dirty="0" err="1"/>
              <a:t>comunicarea</a:t>
            </a:r>
            <a:r>
              <a:rPr lang="en-US" dirty="0"/>
              <a:t>.</a:t>
            </a:r>
          </a:p>
          <a:p>
            <a:r>
              <a:rPr lang="en-US" dirty="0" err="1"/>
              <a:t>Asimiland</a:t>
            </a:r>
            <a:r>
              <a:rPr lang="en-US" dirty="0"/>
              <a:t> </a:t>
            </a:r>
            <a:r>
              <a:rPr lang="en-US" dirty="0" err="1"/>
              <a:t>limba,activitatea</a:t>
            </a:r>
            <a:r>
              <a:rPr lang="en-US" dirty="0"/>
              <a:t> </a:t>
            </a:r>
            <a:r>
              <a:rPr lang="en-US" dirty="0" err="1"/>
              <a:t>omului</a:t>
            </a:r>
            <a:r>
              <a:rPr lang="en-US" dirty="0"/>
              <a:t> se </a:t>
            </a:r>
            <a:r>
              <a:rPr lang="en-US" dirty="0" err="1"/>
              <a:t>particularizeaza</a:t>
            </a:r>
            <a:r>
              <a:rPr lang="en-US" dirty="0"/>
              <a:t>, </a:t>
            </a:r>
            <a:r>
              <a:rPr lang="en-US" dirty="0" err="1"/>
              <a:t>limbajul</a:t>
            </a:r>
            <a:r>
              <a:rPr lang="en-US" dirty="0"/>
              <a:t> verbal </a:t>
            </a:r>
            <a:r>
              <a:rPr lang="en-US" dirty="0" err="1"/>
              <a:t>restructurand</a:t>
            </a:r>
            <a:r>
              <a:rPr lang="en-US" dirty="0"/>
              <a:t> </a:t>
            </a:r>
            <a:r>
              <a:rPr lang="en-US" dirty="0" err="1"/>
              <a:t>intreaga</a:t>
            </a:r>
            <a:r>
              <a:rPr lang="en-US" dirty="0"/>
              <a:t> </a:t>
            </a:r>
            <a:r>
              <a:rPr lang="en-US" dirty="0" err="1"/>
              <a:t>activitate</a:t>
            </a:r>
            <a:r>
              <a:rPr lang="en-US" dirty="0"/>
              <a:t> </a:t>
            </a:r>
            <a:r>
              <a:rPr lang="en-US" dirty="0" err="1"/>
              <a:t>psihica</a:t>
            </a:r>
            <a:r>
              <a:rPr lang="en-US" dirty="0"/>
              <a:t> a </a:t>
            </a:r>
            <a:r>
              <a:rPr lang="en-US" dirty="0" err="1"/>
              <a:t>omului</a:t>
            </a:r>
            <a:r>
              <a:rPr lang="en-US" dirty="0"/>
              <a:t>; </a:t>
            </a:r>
            <a:r>
              <a:rPr lang="en-US" dirty="0" err="1"/>
              <a:t>capacitatea</a:t>
            </a:r>
            <a:r>
              <a:rPr lang="en-US" dirty="0"/>
              <a:t> de a 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-&gt;</a:t>
            </a: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importanta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totodata</a:t>
            </a:r>
            <a:r>
              <a:rPr lang="en-US" dirty="0"/>
              <a:t> </a:t>
            </a:r>
            <a:r>
              <a:rPr lang="en-US" dirty="0" err="1"/>
              <a:t>unica</a:t>
            </a:r>
            <a:r>
              <a:rPr lang="en-US" dirty="0"/>
              <a:t> a </a:t>
            </a:r>
            <a:r>
              <a:rPr lang="en-US" dirty="0" err="1"/>
              <a:t>constiintei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definitie</a:t>
            </a:r>
            <a:r>
              <a:rPr lang="en-US" dirty="0"/>
              <a:t> a </a:t>
            </a:r>
            <a:r>
              <a:rPr lang="en-US" dirty="0" err="1"/>
              <a:t>limbajului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urmatoarea</a:t>
            </a:r>
            <a:r>
              <a:rPr lang="en-US" dirty="0"/>
              <a:t>: </a:t>
            </a:r>
            <a:r>
              <a:rPr lang="en-US" i="1" dirty="0" err="1"/>
              <a:t>limbajul</a:t>
            </a:r>
            <a:r>
              <a:rPr lang="en-US" i="1" dirty="0"/>
              <a:t> </a:t>
            </a:r>
            <a:r>
              <a:rPr lang="en-US" i="1" dirty="0" err="1"/>
              <a:t>reprezinta</a:t>
            </a:r>
            <a:r>
              <a:rPr lang="en-US" i="1" dirty="0"/>
              <a:t> </a:t>
            </a:r>
            <a:r>
              <a:rPr lang="en-US" i="1" dirty="0" err="1"/>
              <a:t>activitatea</a:t>
            </a:r>
            <a:r>
              <a:rPr lang="en-US" i="1" dirty="0"/>
              <a:t> de </a:t>
            </a:r>
            <a:r>
              <a:rPr lang="en-US" i="1" dirty="0" err="1"/>
              <a:t>comunicare</a:t>
            </a:r>
            <a:r>
              <a:rPr lang="en-US" i="1" dirty="0"/>
              <a:t> </a:t>
            </a:r>
            <a:r>
              <a:rPr lang="en-US" i="1" dirty="0" err="1"/>
              <a:t>interumana</a:t>
            </a:r>
            <a:r>
              <a:rPr lang="en-US" i="1" dirty="0"/>
              <a:t> </a:t>
            </a:r>
            <a:r>
              <a:rPr lang="en-US" i="1" dirty="0" err="1"/>
              <a:t>realizata</a:t>
            </a:r>
            <a:r>
              <a:rPr lang="en-US" i="1" dirty="0"/>
              <a:t> </a:t>
            </a:r>
            <a:r>
              <a:rPr lang="en-US" i="1" dirty="0" err="1"/>
              <a:t>prin</a:t>
            </a:r>
            <a:r>
              <a:rPr lang="en-US" i="1" dirty="0"/>
              <a:t> </a:t>
            </a:r>
            <a:r>
              <a:rPr lang="en-US" i="1" dirty="0" err="1"/>
              <a:t>intermediul</a:t>
            </a:r>
            <a:r>
              <a:rPr lang="en-US" i="1" dirty="0"/>
              <a:t> </a:t>
            </a:r>
            <a:r>
              <a:rPr lang="en-US" i="1" dirty="0" err="1"/>
              <a:t>limbii</a:t>
            </a:r>
            <a:r>
              <a:rPr lang="en-US" i="1" dirty="0"/>
              <a:t>. </a:t>
            </a:r>
          </a:p>
          <a:p>
            <a:r>
              <a:rPr lang="en-US" dirty="0" err="1"/>
              <a:t>limbajul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“</a:t>
            </a:r>
            <a:r>
              <a:rPr lang="en-US" i="1" dirty="0" err="1"/>
              <a:t>activitate</a:t>
            </a:r>
            <a:r>
              <a:rPr lang="en-US" i="1" dirty="0"/>
              <a:t> </a:t>
            </a:r>
            <a:r>
              <a:rPr lang="en-US" i="1" dirty="0" err="1"/>
              <a:t>verbala</a:t>
            </a:r>
            <a:r>
              <a:rPr lang="en-US" i="1" dirty="0"/>
              <a:t>, </a:t>
            </a:r>
            <a:r>
              <a:rPr lang="en-US" i="1" dirty="0" err="1"/>
              <a:t>comunicarea</a:t>
            </a:r>
            <a:r>
              <a:rPr lang="en-US" i="1" dirty="0"/>
              <a:t> </a:t>
            </a:r>
            <a:r>
              <a:rPr lang="en-US" i="1" dirty="0" err="1"/>
              <a:t>prin</a:t>
            </a:r>
            <a:r>
              <a:rPr lang="en-US" i="1" dirty="0"/>
              <a:t> </a:t>
            </a:r>
            <a:r>
              <a:rPr lang="en-US" i="1" dirty="0" err="1"/>
              <a:t>intermediul</a:t>
            </a:r>
            <a:r>
              <a:rPr lang="en-US" i="1" dirty="0"/>
              <a:t> </a:t>
            </a:r>
            <a:r>
              <a:rPr lang="en-US" i="1" dirty="0" err="1"/>
              <a:t>limbii:una</a:t>
            </a:r>
            <a:r>
              <a:rPr lang="en-US" i="1" dirty="0"/>
              <a:t> </a:t>
            </a:r>
            <a:r>
              <a:rPr lang="en-US" i="1" dirty="0" err="1"/>
              <a:t>dintre</a:t>
            </a:r>
            <a:r>
              <a:rPr lang="en-US" i="1" dirty="0"/>
              <a:t> </a:t>
            </a:r>
            <a:r>
              <a:rPr lang="en-US" i="1" dirty="0" err="1"/>
              <a:t>formele</a:t>
            </a:r>
            <a:r>
              <a:rPr lang="en-US" i="1" dirty="0"/>
              <a:t> </a:t>
            </a:r>
            <a:r>
              <a:rPr lang="en-US" i="1" dirty="0" err="1"/>
              <a:t>activitatii</a:t>
            </a:r>
            <a:r>
              <a:rPr lang="en-US" i="1" dirty="0"/>
              <a:t> </a:t>
            </a:r>
            <a:r>
              <a:rPr lang="en-US" i="1" dirty="0" err="1"/>
              <a:t>comunicative</a:t>
            </a:r>
            <a:r>
              <a:rPr lang="en-US" i="1" dirty="0"/>
              <a:t> ale </a:t>
            </a:r>
            <a:r>
              <a:rPr lang="en-US" i="1" dirty="0" err="1"/>
              <a:t>omului</a:t>
            </a:r>
            <a:r>
              <a:rPr lang="en-US" i="1" dirty="0"/>
              <a:t>.”, </a:t>
            </a:r>
            <a:r>
              <a:rPr lang="en-US" dirty="0" err="1"/>
              <a:t>reprezentand</a:t>
            </a:r>
            <a:r>
              <a:rPr lang="en-US" dirty="0"/>
              <a:t> </a:t>
            </a:r>
            <a:r>
              <a:rPr lang="en-US" dirty="0" err="1"/>
              <a:t>instrumentul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important al </a:t>
            </a:r>
            <a:r>
              <a:rPr lang="en-US" dirty="0" err="1"/>
              <a:t>gandirii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al </a:t>
            </a:r>
            <a:r>
              <a:rPr lang="en-US" dirty="0" err="1"/>
              <a:t>constiintei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477000"/>
          </a:xfrm>
        </p:spPr>
        <p:txBody>
          <a:bodyPr/>
          <a:lstStyle/>
          <a:p>
            <a:r>
              <a:rPr lang="en-US" dirty="0" err="1"/>
              <a:t>Aspectul</a:t>
            </a:r>
            <a:r>
              <a:rPr lang="en-US" dirty="0"/>
              <a:t> </a:t>
            </a:r>
            <a:r>
              <a:rPr lang="en-US" dirty="0" err="1"/>
              <a:t>psihologic</a:t>
            </a:r>
            <a:r>
              <a:rPr lang="en-US" dirty="0"/>
              <a:t> al </a:t>
            </a:r>
            <a:r>
              <a:rPr lang="en-US" dirty="0" err="1"/>
              <a:t>limbajului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indicat</a:t>
            </a:r>
            <a:r>
              <a:rPr lang="en-US" dirty="0"/>
              <a:t> de </a:t>
            </a:r>
            <a:r>
              <a:rPr lang="en-US" dirty="0" err="1"/>
              <a:t>vorbire</a:t>
            </a:r>
            <a:r>
              <a:rPr lang="en-US" dirty="0"/>
              <a:t>. </a:t>
            </a:r>
          </a:p>
          <a:p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verbala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limbii,fiind</a:t>
            </a:r>
            <a:r>
              <a:rPr lang="en-US" dirty="0"/>
              <a:t> o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simbolica</a:t>
            </a:r>
            <a:r>
              <a:rPr lang="en-US" dirty="0"/>
              <a:t>.</a:t>
            </a:r>
          </a:p>
          <a:p>
            <a:r>
              <a:rPr lang="en-US" dirty="0" err="1"/>
              <a:t>Cuvantul</a:t>
            </a:r>
            <a:r>
              <a:rPr lang="en-US" dirty="0"/>
              <a:t> se </a:t>
            </a:r>
            <a:r>
              <a:rPr lang="en-US" dirty="0" err="1"/>
              <a:t>instituie</a:t>
            </a:r>
            <a:r>
              <a:rPr lang="en-US" dirty="0"/>
              <a:t> </a:t>
            </a:r>
            <a:r>
              <a:rPr lang="en-US" dirty="0" err="1"/>
              <a:t>inca</a:t>
            </a:r>
            <a:r>
              <a:rPr lang="en-US" dirty="0"/>
              <a:t> de la </a:t>
            </a:r>
            <a:r>
              <a:rPr lang="en-US" dirty="0" err="1"/>
              <a:t>insusirea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copil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instrument al </a:t>
            </a:r>
            <a:r>
              <a:rPr lang="en-US" dirty="0" err="1"/>
              <a:t>gandirii</a:t>
            </a:r>
            <a:r>
              <a:rPr lang="en-US" dirty="0"/>
              <a:t> sale.</a:t>
            </a:r>
          </a:p>
          <a:p>
            <a:r>
              <a:rPr lang="en-US" i="1" dirty="0" err="1"/>
              <a:t>Limba</a:t>
            </a:r>
            <a:r>
              <a:rPr lang="en-US" i="1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totalitatea</a:t>
            </a:r>
            <a:r>
              <a:rPr lang="en-US" dirty="0"/>
              <a:t>  </a:t>
            </a:r>
            <a:r>
              <a:rPr lang="en-US" dirty="0" err="1"/>
              <a:t>mijloacelor</a:t>
            </a:r>
            <a:r>
              <a:rPr lang="en-US" dirty="0"/>
              <a:t> </a:t>
            </a:r>
            <a:r>
              <a:rPr lang="en-US" dirty="0" err="1"/>
              <a:t>lingvistice</a:t>
            </a:r>
            <a:r>
              <a:rPr lang="en-US" dirty="0"/>
              <a:t>(</a:t>
            </a:r>
            <a:r>
              <a:rPr lang="en-US" dirty="0" err="1"/>
              <a:t>fonetice,lexicale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gramaticale</a:t>
            </a:r>
            <a:r>
              <a:rPr lang="en-US" dirty="0"/>
              <a:t>), </a:t>
            </a:r>
            <a:r>
              <a:rPr lang="en-US" dirty="0" err="1"/>
              <a:t>dispunand</a:t>
            </a:r>
            <a:r>
              <a:rPr lang="en-US" dirty="0"/>
              <a:t> de o </a:t>
            </a:r>
            <a:r>
              <a:rPr lang="en-US" dirty="0" err="1"/>
              <a:t>organizare</a:t>
            </a:r>
            <a:r>
              <a:rPr lang="en-US" dirty="0"/>
              <a:t> </a:t>
            </a:r>
            <a:r>
              <a:rPr lang="en-US" dirty="0" err="1"/>
              <a:t>ierarhica</a:t>
            </a:r>
            <a:r>
              <a:rPr lang="en-US" dirty="0"/>
              <a:t>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reguli</a:t>
            </a:r>
            <a:r>
              <a:rPr lang="en-US" dirty="0"/>
              <a:t> de </a:t>
            </a:r>
            <a:r>
              <a:rPr lang="en-US" dirty="0" err="1"/>
              <a:t>ordonare</a:t>
            </a:r>
            <a:r>
              <a:rPr lang="en-US" dirty="0"/>
              <a:t>.</a:t>
            </a:r>
            <a:endParaRPr lang="en-US" i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6294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Aparitia</a:t>
            </a:r>
            <a:r>
              <a:rPr lang="en-US" dirty="0"/>
              <a:t> </a:t>
            </a:r>
            <a:r>
              <a:rPr lang="en-US" dirty="0" err="1"/>
              <a:t>limbii</a:t>
            </a:r>
            <a:r>
              <a:rPr lang="en-US" dirty="0"/>
              <a:t> </a:t>
            </a:r>
            <a:r>
              <a:rPr lang="en-US" dirty="0" err="1"/>
              <a:t>marcheaza</a:t>
            </a:r>
            <a:r>
              <a:rPr lang="en-US" dirty="0"/>
              <a:t> </a:t>
            </a:r>
            <a:r>
              <a:rPr lang="en-US" dirty="0" err="1"/>
              <a:t>trecerea</a:t>
            </a:r>
            <a:r>
              <a:rPr lang="en-US" dirty="0"/>
              <a:t> de la </a:t>
            </a:r>
            <a:r>
              <a:rPr lang="en-US" dirty="0" err="1"/>
              <a:t>indiciu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semnal</a:t>
            </a:r>
            <a:r>
              <a:rPr lang="en-US" dirty="0"/>
              <a:t> la </a:t>
            </a:r>
            <a:r>
              <a:rPr lang="en-US" dirty="0" err="1"/>
              <a:t>simbol</a:t>
            </a:r>
            <a:r>
              <a:rPr lang="en-US" dirty="0"/>
              <a:t>,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substitut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categorii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,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referentiala</a:t>
            </a:r>
            <a:r>
              <a:rPr lang="en-US" dirty="0"/>
              <a:t> a </a:t>
            </a:r>
            <a:r>
              <a:rPr lang="en-US" dirty="0" err="1"/>
              <a:t>limbii</a:t>
            </a:r>
            <a:r>
              <a:rPr lang="en-US" dirty="0"/>
              <a:t> </a:t>
            </a:r>
            <a:r>
              <a:rPr lang="en-US" dirty="0" err="1"/>
              <a:t>neputand</a:t>
            </a:r>
            <a:r>
              <a:rPr lang="en-US" dirty="0"/>
              <a:t> </a:t>
            </a:r>
            <a:r>
              <a:rPr lang="en-US" dirty="0" err="1"/>
              <a:t>fi</a:t>
            </a:r>
            <a:r>
              <a:rPr lang="en-US" dirty="0"/>
              <a:t> </a:t>
            </a:r>
            <a:r>
              <a:rPr lang="en-US" dirty="0" err="1"/>
              <a:t>realizata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de </a:t>
            </a:r>
            <a:r>
              <a:rPr lang="en-US" dirty="0" err="1"/>
              <a:t>subiectul</a:t>
            </a:r>
            <a:r>
              <a:rPr lang="en-US" dirty="0"/>
              <a:t> </a:t>
            </a:r>
            <a:r>
              <a:rPr lang="en-US" dirty="0" err="1"/>
              <a:t>constient</a:t>
            </a:r>
            <a:r>
              <a:rPr lang="en-US" dirty="0"/>
              <a:t>, </a:t>
            </a:r>
            <a:r>
              <a:rPr lang="en-US" dirty="0" err="1"/>
              <a:t>respectand</a:t>
            </a:r>
            <a:r>
              <a:rPr lang="en-US" dirty="0"/>
              <a:t> </a:t>
            </a:r>
            <a:r>
              <a:rPr lang="en-US" dirty="0" err="1"/>
              <a:t>normele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</a:t>
            </a:r>
            <a:r>
              <a:rPr lang="en-US" dirty="0" err="1"/>
              <a:t>lingvistic</a:t>
            </a:r>
            <a:r>
              <a:rPr lang="en-US" dirty="0"/>
              <a:t>.</a:t>
            </a:r>
          </a:p>
          <a:p>
            <a:r>
              <a:rPr lang="en-US" dirty="0" err="1"/>
              <a:t>Limba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un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abtract,complex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verbala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oameni</a:t>
            </a:r>
            <a:r>
              <a:rPr lang="en-US" dirty="0"/>
              <a:t>.</a:t>
            </a:r>
          </a:p>
          <a:p>
            <a:r>
              <a:rPr lang="en-US" dirty="0"/>
              <a:t>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oricarei</a:t>
            </a:r>
            <a:r>
              <a:rPr lang="en-US" dirty="0"/>
              <a:t> </a:t>
            </a:r>
            <a:r>
              <a:rPr lang="en-US" dirty="0" err="1"/>
              <a:t>limbi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cuvantul</a:t>
            </a:r>
            <a:r>
              <a:rPr lang="en-US" dirty="0"/>
              <a:t>,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unitate</a:t>
            </a:r>
            <a:r>
              <a:rPr lang="en-US" dirty="0"/>
              <a:t> </a:t>
            </a:r>
            <a:r>
              <a:rPr lang="en-US" dirty="0" err="1"/>
              <a:t>elementara</a:t>
            </a:r>
            <a:r>
              <a:rPr lang="en-US" dirty="0"/>
              <a:t> de </a:t>
            </a:r>
            <a:r>
              <a:rPr lang="en-US" dirty="0" err="1"/>
              <a:t>transmitere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inteles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 err="1"/>
              <a:t>limbile</a:t>
            </a:r>
            <a:r>
              <a:rPr lang="en-US" dirty="0"/>
              <a:t> </a:t>
            </a:r>
            <a:r>
              <a:rPr lang="en-US" dirty="0" err="1"/>
              <a:t>vorbite,cuvintele</a:t>
            </a:r>
            <a:r>
              <a:rPr lang="en-US" dirty="0"/>
              <a:t> se </a:t>
            </a:r>
            <a:r>
              <a:rPr lang="en-US" dirty="0" err="1"/>
              <a:t>compun</a:t>
            </a:r>
            <a:r>
              <a:rPr lang="en-US" dirty="0"/>
              <a:t> din </a:t>
            </a:r>
            <a:r>
              <a:rPr lang="en-US" dirty="0" err="1"/>
              <a:t>siruri</a:t>
            </a:r>
            <a:r>
              <a:rPr lang="en-US" dirty="0"/>
              <a:t> de </a:t>
            </a:r>
            <a:r>
              <a:rPr lang="en-US" dirty="0" err="1"/>
              <a:t>foneme</a:t>
            </a:r>
            <a:r>
              <a:rPr lang="en-US" dirty="0"/>
              <a:t>(</a:t>
            </a:r>
            <a:r>
              <a:rPr lang="en-US" dirty="0" err="1"/>
              <a:t>sunete</a:t>
            </a:r>
            <a:r>
              <a:rPr lang="en-US" dirty="0"/>
              <a:t> </a:t>
            </a:r>
            <a:r>
              <a:rPr lang="en-US" dirty="0" err="1"/>
              <a:t>elementare</a:t>
            </a:r>
            <a:r>
              <a:rPr lang="en-US" dirty="0"/>
              <a:t>) articulate </a:t>
            </a:r>
            <a:r>
              <a:rPr lang="en-US" dirty="0" err="1"/>
              <a:t>succesiv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 fontScale="85000" lnSpcReduction="10000"/>
          </a:bodyPr>
          <a:lstStyle/>
          <a:p>
            <a:r>
              <a:rPr lang="en-US" i="1" dirty="0" err="1"/>
              <a:t>Relatia</a:t>
            </a:r>
            <a:r>
              <a:rPr lang="en-US" i="1" dirty="0"/>
              <a:t> </a:t>
            </a:r>
            <a:r>
              <a:rPr lang="en-US" i="1" dirty="0" err="1"/>
              <a:t>limbaj-limba,limbaj-comunicare</a:t>
            </a:r>
            <a:endParaRPr lang="en-US" i="1" dirty="0"/>
          </a:p>
          <a:p>
            <a:pPr>
              <a:buNone/>
            </a:pPr>
            <a:r>
              <a:rPr lang="en-US" dirty="0"/>
              <a:t>In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al </a:t>
            </a:r>
            <a:r>
              <a:rPr lang="en-US" dirty="0" err="1"/>
              <a:t>individului</a:t>
            </a:r>
            <a:r>
              <a:rPr lang="en-US" dirty="0"/>
              <a:t>, </a:t>
            </a:r>
            <a:r>
              <a:rPr lang="en-US" dirty="0" err="1"/>
              <a:t>limba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fenomen</a:t>
            </a:r>
            <a:r>
              <a:rPr lang="en-US" dirty="0"/>
              <a:t> social, </a:t>
            </a:r>
            <a:r>
              <a:rPr lang="en-US" dirty="0" err="1"/>
              <a:t>avand</a:t>
            </a:r>
            <a:r>
              <a:rPr lang="en-US" dirty="0"/>
              <a:t> o </a:t>
            </a:r>
            <a:r>
              <a:rPr lang="en-US" dirty="0" err="1"/>
              <a:t>dezvoltare</a:t>
            </a:r>
            <a:r>
              <a:rPr lang="en-US" dirty="0"/>
              <a:t> in </a:t>
            </a:r>
            <a:r>
              <a:rPr lang="en-US" dirty="0" err="1"/>
              <a:t>timp</a:t>
            </a:r>
            <a:r>
              <a:rPr lang="en-US" dirty="0"/>
              <a:t>, </a:t>
            </a:r>
            <a:r>
              <a:rPr lang="en-US" dirty="0" err="1"/>
              <a:t>depinzand</a:t>
            </a:r>
            <a:r>
              <a:rPr lang="en-US" dirty="0"/>
              <a:t> de </a:t>
            </a:r>
            <a:r>
              <a:rPr lang="en-US" dirty="0" err="1"/>
              <a:t>existenta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colectivitati</a:t>
            </a:r>
            <a:r>
              <a:rPr lang="en-US" dirty="0"/>
              <a:t>,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popor</a:t>
            </a:r>
            <a:r>
              <a:rPr lang="en-US" dirty="0"/>
              <a:t>,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natiuni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 err="1"/>
              <a:t>Limbajul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manifestare</a:t>
            </a:r>
            <a:r>
              <a:rPr lang="en-US" dirty="0"/>
              <a:t> </a:t>
            </a:r>
            <a:r>
              <a:rPr lang="en-US" dirty="0" err="1"/>
              <a:t>personala</a:t>
            </a:r>
            <a:r>
              <a:rPr lang="en-US" dirty="0"/>
              <a:t>, </a:t>
            </a:r>
            <a:r>
              <a:rPr lang="en-US" dirty="0" err="1"/>
              <a:t>purtand</a:t>
            </a:r>
            <a:r>
              <a:rPr lang="en-US" dirty="0"/>
              <a:t> </a:t>
            </a:r>
            <a:r>
              <a:rPr lang="en-US" dirty="0" err="1"/>
              <a:t>amprenta</a:t>
            </a:r>
            <a:r>
              <a:rPr lang="en-US" dirty="0"/>
              <a:t> </a:t>
            </a:r>
            <a:r>
              <a:rPr lang="en-US" dirty="0" err="1"/>
              <a:t>individului</a:t>
            </a:r>
            <a:r>
              <a:rPr lang="en-US" dirty="0"/>
              <a:t>.-&gt; </a:t>
            </a:r>
            <a:r>
              <a:rPr lang="en-US" dirty="0" err="1"/>
              <a:t>individualizarea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in plan </a:t>
            </a:r>
            <a:r>
              <a:rPr lang="en-US" dirty="0" err="1"/>
              <a:t>fiziologic</a:t>
            </a:r>
            <a:r>
              <a:rPr lang="en-US" dirty="0"/>
              <a:t> cat </a:t>
            </a:r>
            <a:r>
              <a:rPr lang="en-US" dirty="0" err="1"/>
              <a:t>si</a:t>
            </a:r>
            <a:r>
              <a:rPr lang="en-US" dirty="0"/>
              <a:t> in plan </a:t>
            </a:r>
            <a:r>
              <a:rPr lang="en-US" dirty="0" err="1"/>
              <a:t>psihologic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Se </a:t>
            </a:r>
            <a:r>
              <a:rPr lang="en-US" dirty="0" err="1"/>
              <a:t>considera</a:t>
            </a:r>
            <a:r>
              <a:rPr lang="en-US" dirty="0"/>
              <a:t> ca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comunicare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 de </a:t>
            </a:r>
            <a:r>
              <a:rPr lang="en-US" dirty="0" err="1"/>
              <a:t>coincidenta</a:t>
            </a:r>
            <a:r>
              <a:rPr lang="en-US" dirty="0"/>
              <a:t> </a:t>
            </a:r>
            <a:r>
              <a:rPr lang="en-US" dirty="0" err="1"/>
              <a:t>partiala</a:t>
            </a:r>
            <a:r>
              <a:rPr lang="en-US" dirty="0"/>
              <a:t> a </a:t>
            </a:r>
            <a:r>
              <a:rPr lang="en-US" dirty="0" err="1"/>
              <a:t>sferelor</a:t>
            </a:r>
            <a:r>
              <a:rPr lang="en-US" dirty="0"/>
              <a:t>,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notiuni</a:t>
            </a:r>
            <a:r>
              <a:rPr lang="en-US" dirty="0"/>
              <a:t> </a:t>
            </a:r>
            <a:r>
              <a:rPr lang="en-US" dirty="0" err="1"/>
              <a:t>continand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ireductibile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la </a:t>
            </a:r>
            <a:r>
              <a:rPr lang="en-US" dirty="0" err="1"/>
              <a:t>altele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 err="1"/>
              <a:t>Limbajul</a:t>
            </a:r>
            <a:r>
              <a:rPr lang="en-US" dirty="0"/>
              <a:t> </a:t>
            </a:r>
            <a:r>
              <a:rPr lang="en-US" dirty="0" err="1"/>
              <a:t>depaseste</a:t>
            </a:r>
            <a:r>
              <a:rPr lang="en-US" dirty="0"/>
              <a:t> </a:t>
            </a:r>
            <a:r>
              <a:rPr lang="en-US" dirty="0" err="1"/>
              <a:t>limitele</a:t>
            </a:r>
            <a:r>
              <a:rPr lang="en-US" dirty="0"/>
              <a:t> </a:t>
            </a:r>
            <a:r>
              <a:rPr lang="en-US" dirty="0" err="1"/>
              <a:t>comunicarii</a:t>
            </a:r>
            <a:r>
              <a:rPr lang="en-US" dirty="0"/>
              <a:t> </a:t>
            </a:r>
            <a:r>
              <a:rPr lang="en-US" dirty="0" err="1"/>
              <a:t>propriu-zise</a:t>
            </a:r>
            <a:r>
              <a:rPr lang="en-US" dirty="0"/>
              <a:t>  </a:t>
            </a:r>
            <a:r>
              <a:rPr lang="en-US" dirty="0" err="1"/>
              <a:t>desfasurandu</a:t>
            </a:r>
            <a:r>
              <a:rPr lang="en-US" dirty="0"/>
              <a:t>-se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interumana</a:t>
            </a:r>
            <a:r>
              <a:rPr lang="en-US" dirty="0"/>
              <a:t> nu are loc, la </a:t>
            </a:r>
            <a:r>
              <a:rPr lang="en-US" dirty="0" err="1"/>
              <a:t>randul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depasind</a:t>
            </a:r>
            <a:r>
              <a:rPr lang="en-US" dirty="0"/>
              <a:t> </a:t>
            </a:r>
            <a:r>
              <a:rPr lang="en-US" dirty="0" err="1"/>
              <a:t>limitele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verbal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angajata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comportamente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</a:t>
            </a:r>
            <a:r>
              <a:rPr lang="en-US" dirty="0" err="1"/>
              <a:t>vietii</a:t>
            </a:r>
            <a:r>
              <a:rPr lang="en-US" dirty="0"/>
              <a:t> </a:t>
            </a:r>
            <a:r>
              <a:rPr lang="en-US" dirty="0" err="1"/>
              <a:t>psihice</a:t>
            </a:r>
            <a:r>
              <a:rPr lang="en-US" dirty="0"/>
              <a:t> a </a:t>
            </a:r>
            <a:r>
              <a:rPr lang="en-US" dirty="0" err="1"/>
              <a:t>omului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neurofiziologice</a:t>
            </a:r>
            <a:r>
              <a:rPr lang="en-US" dirty="0"/>
              <a:t> ale </a:t>
            </a:r>
            <a:r>
              <a:rPr lang="en-US" dirty="0" err="1"/>
              <a:t>limbajului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marea</a:t>
            </a:r>
            <a:r>
              <a:rPr lang="en-US" dirty="0"/>
              <a:t> </a:t>
            </a:r>
            <a:r>
              <a:rPr lang="en-US" dirty="0" err="1"/>
              <a:t>majoritate</a:t>
            </a:r>
            <a:r>
              <a:rPr lang="en-US" dirty="0"/>
              <a:t> a </a:t>
            </a:r>
            <a:r>
              <a:rPr lang="en-US" dirty="0" err="1"/>
              <a:t>dreptacilor</a:t>
            </a:r>
            <a:r>
              <a:rPr lang="en-US" dirty="0"/>
              <a:t>, 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localizate</a:t>
            </a:r>
            <a:r>
              <a:rPr lang="en-US" dirty="0"/>
              <a:t> in </a:t>
            </a:r>
            <a:r>
              <a:rPr lang="en-US" dirty="0" err="1"/>
              <a:t>emisfera</a:t>
            </a:r>
            <a:r>
              <a:rPr lang="en-US" dirty="0"/>
              <a:t> </a:t>
            </a:r>
            <a:r>
              <a:rPr lang="en-US" dirty="0" err="1"/>
              <a:t>stanga</a:t>
            </a:r>
            <a:r>
              <a:rPr lang="en-US" dirty="0"/>
              <a:t>.</a:t>
            </a:r>
          </a:p>
          <a:p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</a:t>
            </a:r>
            <a:r>
              <a:rPr lang="en-US" dirty="0" err="1"/>
              <a:t>referitoare</a:t>
            </a:r>
            <a:r>
              <a:rPr lang="en-US" dirty="0"/>
              <a:t> la </a:t>
            </a:r>
            <a:r>
              <a:rPr lang="en-US" dirty="0" err="1"/>
              <a:t>localizarea</a:t>
            </a:r>
            <a:r>
              <a:rPr lang="en-US" dirty="0"/>
              <a:t> </a:t>
            </a:r>
            <a:r>
              <a:rPr lang="en-US" dirty="0" err="1"/>
              <a:t>functiilor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</a:t>
            </a:r>
            <a:r>
              <a:rPr lang="en-US" dirty="0" err="1"/>
              <a:t>provin</a:t>
            </a:r>
            <a:r>
              <a:rPr lang="en-US" dirty="0"/>
              <a:t> din </a:t>
            </a:r>
            <a:r>
              <a:rPr lang="en-US" dirty="0" err="1"/>
              <a:t>studii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efectelor</a:t>
            </a:r>
            <a:r>
              <a:rPr lang="en-US" dirty="0"/>
              <a:t> </a:t>
            </a:r>
            <a:r>
              <a:rPr lang="en-US" dirty="0" err="1"/>
              <a:t>leziunilor</a:t>
            </a:r>
            <a:r>
              <a:rPr lang="en-US" dirty="0"/>
              <a:t> </a:t>
            </a:r>
            <a:r>
              <a:rPr lang="en-US" dirty="0" err="1"/>
              <a:t>cerebrale</a:t>
            </a:r>
            <a:r>
              <a:rPr lang="en-US" dirty="0"/>
              <a:t>.-&gt;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deficienta</a:t>
            </a:r>
            <a:r>
              <a:rPr lang="en-US" dirty="0"/>
              <a:t> in </a:t>
            </a:r>
            <a:r>
              <a:rPr lang="en-US" dirty="0" err="1"/>
              <a:t>producerea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,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al </a:t>
            </a:r>
            <a:r>
              <a:rPr lang="en-US" dirty="0" err="1"/>
              <a:t>leziunilor</a:t>
            </a:r>
            <a:r>
              <a:rPr lang="en-US" dirty="0"/>
              <a:t> </a:t>
            </a:r>
            <a:r>
              <a:rPr lang="en-US" dirty="0" err="1"/>
              <a:t>cerebrale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afazia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/>
          <a:lstStyle/>
          <a:p>
            <a:r>
              <a:rPr lang="en-US" dirty="0"/>
              <a:t>Paul </a:t>
            </a:r>
            <a:r>
              <a:rPr lang="en-US" dirty="0" err="1"/>
              <a:t>Broca</a:t>
            </a:r>
            <a:r>
              <a:rPr lang="en-US" dirty="0"/>
              <a:t> a </a:t>
            </a:r>
            <a:r>
              <a:rPr lang="en-US" dirty="0" err="1"/>
              <a:t>efectuat</a:t>
            </a:r>
            <a:r>
              <a:rPr lang="en-US" dirty="0"/>
              <a:t> o </a:t>
            </a:r>
            <a:r>
              <a:rPr lang="en-US" dirty="0" err="1"/>
              <a:t>cercetare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efectelor</a:t>
            </a:r>
            <a:r>
              <a:rPr lang="en-US" dirty="0"/>
              <a:t> </a:t>
            </a:r>
            <a:r>
              <a:rPr lang="en-US" dirty="0" err="1"/>
              <a:t>leziunilor</a:t>
            </a:r>
            <a:r>
              <a:rPr lang="en-US" dirty="0"/>
              <a:t> </a:t>
            </a:r>
            <a:r>
              <a:rPr lang="en-US" dirty="0" err="1"/>
              <a:t>cerebrale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comportamentului</a:t>
            </a:r>
            <a:r>
              <a:rPr lang="en-US" dirty="0"/>
              <a:t> verbal-&gt;o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pacienti</a:t>
            </a:r>
            <a:r>
              <a:rPr lang="en-US" dirty="0"/>
              <a:t> </a:t>
            </a:r>
            <a:r>
              <a:rPr lang="en-US" dirty="0" err="1"/>
              <a:t>posedau</a:t>
            </a:r>
            <a:r>
              <a:rPr lang="en-US" dirty="0"/>
              <a:t> </a:t>
            </a:r>
            <a:r>
              <a:rPr lang="en-US" dirty="0" err="1"/>
              <a:t>leziuni</a:t>
            </a:r>
            <a:r>
              <a:rPr lang="en-US" dirty="0"/>
              <a:t> in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frontala</a:t>
            </a:r>
            <a:r>
              <a:rPr lang="en-US" dirty="0"/>
              <a:t> a </a:t>
            </a:r>
            <a:r>
              <a:rPr lang="en-US" dirty="0" err="1"/>
              <a:t>cortexului</a:t>
            </a:r>
            <a:r>
              <a:rPr lang="en-US" dirty="0"/>
              <a:t> </a:t>
            </a:r>
            <a:r>
              <a:rPr lang="en-US" dirty="0" err="1"/>
              <a:t>stang</a:t>
            </a:r>
            <a:r>
              <a:rPr lang="en-US" dirty="0"/>
              <a:t>,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genera o </a:t>
            </a:r>
            <a:r>
              <a:rPr lang="en-US" dirty="0" err="1"/>
              <a:t>dizabilitate</a:t>
            </a:r>
            <a:r>
              <a:rPr lang="en-US" dirty="0"/>
              <a:t> in </a:t>
            </a:r>
            <a:r>
              <a:rPr lang="en-US" dirty="0" err="1"/>
              <a:t>capacitatea</a:t>
            </a:r>
            <a:r>
              <a:rPr lang="en-US" dirty="0"/>
              <a:t> de a </a:t>
            </a:r>
            <a:r>
              <a:rPr lang="en-US" dirty="0" err="1"/>
              <a:t>vorbi</a:t>
            </a:r>
            <a:r>
              <a:rPr lang="en-US" dirty="0"/>
              <a:t>, in </a:t>
            </a:r>
            <a:r>
              <a:rPr lang="en-US" dirty="0" err="1"/>
              <a:t>ciuda</a:t>
            </a:r>
            <a:r>
              <a:rPr lang="en-US" dirty="0"/>
              <a:t> </a:t>
            </a:r>
            <a:r>
              <a:rPr lang="en-US" dirty="0" err="1"/>
              <a:t>pastrarii</a:t>
            </a:r>
            <a:r>
              <a:rPr lang="en-US" dirty="0"/>
              <a:t> </a:t>
            </a:r>
            <a:r>
              <a:rPr lang="en-US" dirty="0" err="1"/>
              <a:t>intacte</a:t>
            </a:r>
            <a:r>
              <a:rPr lang="en-US" dirty="0"/>
              <a:t> a </a:t>
            </a:r>
            <a:r>
              <a:rPr lang="en-US" dirty="0" err="1"/>
              <a:t>aparatului</a:t>
            </a:r>
            <a:r>
              <a:rPr lang="en-US" dirty="0"/>
              <a:t> vocal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abilitatii</a:t>
            </a:r>
            <a:r>
              <a:rPr lang="en-US" dirty="0"/>
              <a:t> de a </a:t>
            </a:r>
            <a:r>
              <a:rPr lang="en-US" dirty="0" err="1"/>
              <a:t>intelege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.-&gt; </a:t>
            </a:r>
            <a:r>
              <a:rPr lang="en-US" dirty="0" err="1"/>
              <a:t>afazia</a:t>
            </a:r>
            <a:r>
              <a:rPr lang="en-US" dirty="0"/>
              <a:t> </a:t>
            </a:r>
            <a:r>
              <a:rPr lang="en-US" dirty="0" err="1"/>
              <a:t>Broca</a:t>
            </a:r>
            <a:r>
              <a:rPr lang="en-US" dirty="0"/>
              <a:t>-&gt;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creierului</a:t>
            </a:r>
            <a:r>
              <a:rPr lang="en-US" dirty="0"/>
              <a:t>-&gt;aria </a:t>
            </a:r>
            <a:r>
              <a:rPr lang="en-US" dirty="0" err="1"/>
              <a:t>Broca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Carl </a:t>
            </a:r>
            <a:r>
              <a:rPr lang="en-US" dirty="0" err="1"/>
              <a:t>Wernicke</a:t>
            </a:r>
            <a:r>
              <a:rPr lang="en-US" dirty="0"/>
              <a:t> a </a:t>
            </a:r>
            <a:r>
              <a:rPr lang="en-US" dirty="0" err="1"/>
              <a:t>identificat</a:t>
            </a:r>
            <a:r>
              <a:rPr lang="en-US" dirty="0"/>
              <a:t> o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zona</a:t>
            </a:r>
            <a:r>
              <a:rPr lang="en-US" dirty="0"/>
              <a:t> a </a:t>
            </a:r>
            <a:r>
              <a:rPr lang="en-US" dirty="0" err="1"/>
              <a:t>creierului</a:t>
            </a:r>
            <a:r>
              <a:rPr lang="en-US" dirty="0"/>
              <a:t> </a:t>
            </a:r>
            <a:r>
              <a:rPr lang="en-US" dirty="0" err="1"/>
              <a:t>implicata</a:t>
            </a:r>
            <a:r>
              <a:rPr lang="en-US" dirty="0"/>
              <a:t> in </a:t>
            </a:r>
            <a:r>
              <a:rPr lang="en-US" dirty="0" err="1"/>
              <a:t>limbaj</a:t>
            </a:r>
            <a:r>
              <a:rPr lang="en-US" dirty="0"/>
              <a:t>, </a:t>
            </a:r>
            <a:r>
              <a:rPr lang="en-US" dirty="0" err="1"/>
              <a:t>situata</a:t>
            </a:r>
            <a:r>
              <a:rPr lang="en-US" dirty="0"/>
              <a:t> in </a:t>
            </a:r>
            <a:r>
              <a:rPr lang="en-US" dirty="0" err="1"/>
              <a:t>emisfera</a:t>
            </a:r>
            <a:r>
              <a:rPr lang="en-US" dirty="0"/>
              <a:t> </a:t>
            </a:r>
            <a:r>
              <a:rPr lang="en-US" dirty="0" err="1"/>
              <a:t>stanga</a:t>
            </a:r>
            <a:r>
              <a:rPr lang="en-US" dirty="0"/>
              <a:t>, in </a:t>
            </a:r>
            <a:r>
              <a:rPr lang="en-US" dirty="0" err="1"/>
              <a:t>zona</a:t>
            </a:r>
            <a:r>
              <a:rPr lang="en-US" dirty="0"/>
              <a:t> </a:t>
            </a:r>
            <a:r>
              <a:rPr lang="en-US" dirty="0" err="1"/>
              <a:t>lobului</a:t>
            </a:r>
            <a:r>
              <a:rPr lang="en-US" dirty="0"/>
              <a:t> temporal </a:t>
            </a:r>
            <a:r>
              <a:rPr lang="en-US" dirty="0" err="1"/>
              <a:t>cunoscuta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girusul</a:t>
            </a:r>
            <a:r>
              <a:rPr lang="en-US" dirty="0"/>
              <a:t> temporal. </a:t>
            </a:r>
            <a:r>
              <a:rPr lang="en-US" dirty="0" err="1"/>
              <a:t>Leziuni</a:t>
            </a:r>
            <a:r>
              <a:rPr lang="en-US" dirty="0"/>
              <a:t>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zonei</a:t>
            </a:r>
            <a:r>
              <a:rPr lang="en-US" dirty="0"/>
              <a:t> </a:t>
            </a:r>
            <a:r>
              <a:rPr lang="en-US" dirty="0" err="1"/>
              <a:t>Wernicke</a:t>
            </a:r>
            <a:r>
              <a:rPr lang="en-US" dirty="0"/>
              <a:t> </a:t>
            </a:r>
            <a:r>
              <a:rPr lang="en-US" dirty="0" err="1"/>
              <a:t>conduceau</a:t>
            </a:r>
            <a:r>
              <a:rPr lang="en-US" dirty="0"/>
              <a:t> la </a:t>
            </a:r>
            <a:r>
              <a:rPr lang="en-US" dirty="0" err="1"/>
              <a:t>aparitia</a:t>
            </a:r>
            <a:r>
              <a:rPr lang="en-US" dirty="0"/>
              <a:t> </a:t>
            </a:r>
            <a:r>
              <a:rPr lang="en-US" dirty="0" err="1"/>
              <a:t>afaziei</a:t>
            </a:r>
            <a:r>
              <a:rPr lang="en-US" dirty="0"/>
              <a:t> </a:t>
            </a:r>
            <a:r>
              <a:rPr lang="en-US" dirty="0" err="1"/>
              <a:t>Wernicke</a:t>
            </a:r>
            <a:r>
              <a:rPr lang="en-US" dirty="0"/>
              <a:t>(</a:t>
            </a:r>
            <a:r>
              <a:rPr lang="en-US" dirty="0" err="1"/>
              <a:t>incapacitatea</a:t>
            </a:r>
            <a:r>
              <a:rPr lang="en-US" dirty="0"/>
              <a:t> de a </a:t>
            </a:r>
            <a:r>
              <a:rPr lang="en-US" dirty="0" err="1"/>
              <a:t>intelege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auzul</a:t>
            </a:r>
            <a:r>
              <a:rPr lang="en-US" dirty="0"/>
              <a:t> </a:t>
            </a:r>
            <a:r>
              <a:rPr lang="en-US" dirty="0" err="1"/>
              <a:t>ramanea</a:t>
            </a:r>
            <a:r>
              <a:rPr lang="en-US" dirty="0"/>
              <a:t> </a:t>
            </a:r>
            <a:r>
              <a:rPr lang="en-US" dirty="0" err="1"/>
              <a:t>neafectat</a:t>
            </a:r>
            <a:r>
              <a:rPr lang="en-US" dirty="0"/>
              <a:t>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r>
              <a:rPr lang="en-US" dirty="0" err="1"/>
              <a:t>Modelul</a:t>
            </a:r>
            <a:r>
              <a:rPr lang="en-US" dirty="0"/>
              <a:t> </a:t>
            </a:r>
            <a:r>
              <a:rPr lang="en-US" dirty="0" err="1"/>
              <a:t>Wernicke-Geschwind</a:t>
            </a:r>
            <a:r>
              <a:rPr lang="en-US" dirty="0"/>
              <a:t> -&gt; </a:t>
            </a:r>
            <a:r>
              <a:rPr lang="en-US" dirty="0" err="1"/>
              <a:t>descrie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cum </a:t>
            </a: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se </a:t>
            </a:r>
            <a:r>
              <a:rPr lang="en-US" dirty="0" err="1"/>
              <a:t>translateaza</a:t>
            </a:r>
            <a:r>
              <a:rPr lang="en-US" dirty="0"/>
              <a:t> din </a:t>
            </a:r>
            <a:r>
              <a:rPr lang="en-US" dirty="0" err="1"/>
              <a:t>ariile</a:t>
            </a:r>
            <a:r>
              <a:rPr lang="en-US" dirty="0"/>
              <a:t> </a:t>
            </a:r>
            <a:r>
              <a:rPr lang="en-US" dirty="0" err="1"/>
              <a:t>laterale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in </a:t>
            </a:r>
            <a:r>
              <a:rPr lang="en-US" dirty="0" err="1"/>
              <a:t>zona</a:t>
            </a:r>
            <a:r>
              <a:rPr lang="en-US" dirty="0"/>
              <a:t> </a:t>
            </a:r>
            <a:r>
              <a:rPr lang="en-US" dirty="0" err="1"/>
              <a:t>frontala</a:t>
            </a:r>
            <a:r>
              <a:rPr lang="en-US" dirty="0"/>
              <a:t> a </a:t>
            </a:r>
            <a:r>
              <a:rPr lang="en-US" dirty="0" err="1"/>
              <a:t>emisferei</a:t>
            </a:r>
            <a:r>
              <a:rPr lang="en-US" dirty="0"/>
              <a:t> </a:t>
            </a:r>
            <a:r>
              <a:rPr lang="en-US" dirty="0" err="1"/>
              <a:t>stangi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cercetatori</a:t>
            </a:r>
            <a:r>
              <a:rPr lang="en-US" dirty="0"/>
              <a:t> au </a:t>
            </a:r>
            <a:r>
              <a:rPr lang="en-US" dirty="0" err="1"/>
              <a:t>sugerat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ca </a:t>
            </a:r>
            <a:r>
              <a:rPr lang="en-US" dirty="0" err="1"/>
              <a:t>emisfera</a:t>
            </a:r>
            <a:r>
              <a:rPr lang="en-US" dirty="0"/>
              <a:t> </a:t>
            </a:r>
            <a:r>
              <a:rPr lang="en-US" dirty="0" err="1"/>
              <a:t>dreapta</a:t>
            </a:r>
            <a:r>
              <a:rPr lang="en-US" dirty="0"/>
              <a:t> </a:t>
            </a:r>
            <a:r>
              <a:rPr lang="en-US" dirty="0" err="1"/>
              <a:t>joaca</a:t>
            </a:r>
            <a:r>
              <a:rPr lang="en-US" dirty="0"/>
              <a:t> un </a:t>
            </a:r>
            <a:r>
              <a:rPr lang="en-US" dirty="0" err="1"/>
              <a:t>rol</a:t>
            </a:r>
            <a:r>
              <a:rPr lang="en-US" dirty="0"/>
              <a:t> important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tulburare</a:t>
            </a:r>
            <a:r>
              <a:rPr lang="en-US" dirty="0"/>
              <a:t> </a:t>
            </a:r>
            <a:r>
              <a:rPr lang="en-US" dirty="0" err="1"/>
              <a:t>cunoscuta</a:t>
            </a:r>
            <a:r>
              <a:rPr lang="en-US" dirty="0"/>
              <a:t> sub </a:t>
            </a:r>
            <a:r>
              <a:rPr lang="en-US" dirty="0" err="1"/>
              <a:t>numele</a:t>
            </a:r>
            <a:r>
              <a:rPr lang="en-US" dirty="0"/>
              <a:t> de </a:t>
            </a:r>
            <a:r>
              <a:rPr lang="en-US" dirty="0" err="1"/>
              <a:t>dislexie</a:t>
            </a:r>
            <a:r>
              <a:rPr lang="en-US" dirty="0"/>
              <a:t> </a:t>
            </a:r>
            <a:r>
              <a:rPr lang="en-US" dirty="0" err="1"/>
              <a:t>profunda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i="1" dirty="0" err="1"/>
              <a:t>Diferentele</a:t>
            </a:r>
            <a:r>
              <a:rPr lang="en-US" i="1" dirty="0"/>
              <a:t> de gen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limbajul</a:t>
            </a:r>
            <a:endParaRPr lang="en-US" i="1" dirty="0"/>
          </a:p>
          <a:p>
            <a:pPr>
              <a:buNone/>
            </a:pPr>
            <a:r>
              <a:rPr lang="en-US" dirty="0" err="1"/>
              <a:t>Fetele</a:t>
            </a:r>
            <a:r>
              <a:rPr lang="en-US" dirty="0"/>
              <a:t> </a:t>
            </a:r>
            <a:r>
              <a:rPr lang="en-US" dirty="0" err="1"/>
              <a:t>tind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prezinte</a:t>
            </a:r>
            <a:r>
              <a:rPr lang="en-US" dirty="0"/>
              <a:t> o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abilitate</a:t>
            </a:r>
            <a:r>
              <a:rPr lang="en-US" dirty="0"/>
              <a:t> </a:t>
            </a:r>
            <a:r>
              <a:rPr lang="en-US" dirty="0" err="1"/>
              <a:t>verbala</a:t>
            </a:r>
            <a:r>
              <a:rPr lang="en-US" dirty="0"/>
              <a:t> in </a:t>
            </a:r>
            <a:r>
              <a:rPr lang="en-US" dirty="0" err="1"/>
              <a:t>comparatie</a:t>
            </a:r>
            <a:r>
              <a:rPr lang="en-US" dirty="0"/>
              <a:t> cu </a:t>
            </a:r>
            <a:r>
              <a:rPr lang="en-US" dirty="0" err="1"/>
              <a:t>baietii</a:t>
            </a:r>
            <a:r>
              <a:rPr lang="en-US" dirty="0"/>
              <a:t>, in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acestia</a:t>
            </a:r>
            <a:r>
              <a:rPr lang="en-US" dirty="0"/>
              <a:t> </a:t>
            </a:r>
            <a:r>
              <a:rPr lang="en-US" dirty="0" err="1"/>
              <a:t>tind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detina</a:t>
            </a:r>
            <a:r>
              <a:rPr lang="en-US" dirty="0"/>
              <a:t> </a:t>
            </a:r>
            <a:r>
              <a:rPr lang="en-US" dirty="0" err="1"/>
              <a:t>performante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in </a:t>
            </a:r>
            <a:r>
              <a:rPr lang="en-US" dirty="0" err="1"/>
              <a:t>sarcinile</a:t>
            </a:r>
            <a:r>
              <a:rPr lang="en-US" dirty="0"/>
              <a:t> </a:t>
            </a:r>
            <a:r>
              <a:rPr lang="en-US" dirty="0" err="1"/>
              <a:t>matematice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spatiale.Cele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genuri</a:t>
            </a:r>
            <a:r>
              <a:rPr lang="en-US" dirty="0"/>
              <a:t> </a:t>
            </a:r>
            <a:r>
              <a:rPr lang="en-US" dirty="0" err="1"/>
              <a:t>difera</a:t>
            </a:r>
            <a:r>
              <a:rPr lang="en-US" dirty="0"/>
              <a:t> </a:t>
            </a:r>
            <a:r>
              <a:rPr lang="en-US" dirty="0" err="1"/>
              <a:t>notabil</a:t>
            </a:r>
            <a:r>
              <a:rPr lang="en-US" dirty="0"/>
              <a:t> in </a:t>
            </a:r>
            <a:r>
              <a:rPr lang="en-US" dirty="0" err="1"/>
              <a:t>performante</a:t>
            </a:r>
            <a:r>
              <a:rPr lang="en-US" dirty="0"/>
              <a:t> </a:t>
            </a:r>
            <a:r>
              <a:rPr lang="en-US" dirty="0" err="1"/>
              <a:t>incepand</a:t>
            </a:r>
            <a:r>
              <a:rPr lang="en-US" dirty="0"/>
              <a:t> cu </a:t>
            </a:r>
            <a:r>
              <a:rPr lang="en-US" dirty="0" err="1"/>
              <a:t>varsta</a:t>
            </a:r>
            <a:r>
              <a:rPr lang="en-US" dirty="0"/>
              <a:t> de </a:t>
            </a:r>
            <a:r>
              <a:rPr lang="en-US" dirty="0" err="1"/>
              <a:t>aproximativ</a:t>
            </a:r>
            <a:r>
              <a:rPr lang="en-US" dirty="0"/>
              <a:t> 11 </a:t>
            </a:r>
            <a:r>
              <a:rPr lang="en-US" dirty="0" err="1"/>
              <a:t>ani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 err="1"/>
              <a:t>Barbatii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femeile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egal</a:t>
            </a:r>
            <a:r>
              <a:rPr lang="en-US" dirty="0"/>
              <a:t> </a:t>
            </a:r>
            <a:r>
              <a:rPr lang="en-US" dirty="0" err="1"/>
              <a:t>predispusi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piarda</a:t>
            </a:r>
            <a:r>
              <a:rPr lang="en-US" dirty="0"/>
              <a:t> </a:t>
            </a:r>
            <a:r>
              <a:rPr lang="en-US" dirty="0" err="1"/>
              <a:t>capacitatea</a:t>
            </a:r>
            <a:r>
              <a:rPr lang="en-US" dirty="0"/>
              <a:t> de a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limbajul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leziunilor</a:t>
            </a:r>
            <a:r>
              <a:rPr lang="en-US" dirty="0"/>
              <a:t> in </a:t>
            </a:r>
            <a:r>
              <a:rPr lang="en-US" dirty="0" err="1"/>
              <a:t>emisfera</a:t>
            </a:r>
            <a:r>
              <a:rPr lang="en-US" dirty="0"/>
              <a:t> </a:t>
            </a:r>
            <a:r>
              <a:rPr lang="en-US" dirty="0" err="1"/>
              <a:t>stanga</a:t>
            </a:r>
            <a:r>
              <a:rPr lang="en-US" dirty="0"/>
              <a:t>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dovezi</a:t>
            </a:r>
            <a:r>
              <a:rPr lang="en-US" dirty="0"/>
              <a:t> ale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organizari</a:t>
            </a:r>
            <a:r>
              <a:rPr lang="en-US" dirty="0"/>
              <a:t> </a:t>
            </a:r>
            <a:r>
              <a:rPr lang="en-US" dirty="0" err="1"/>
              <a:t>cerebrale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in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fiecarei</a:t>
            </a:r>
            <a:r>
              <a:rPr lang="en-US" dirty="0"/>
              <a:t> </a:t>
            </a:r>
            <a:r>
              <a:rPr lang="en-US" dirty="0" err="1"/>
              <a:t>emisfere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Producerea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2 </a:t>
            </a:r>
            <a:r>
              <a:rPr lang="en-US" dirty="0" err="1"/>
              <a:t>aspecte</a:t>
            </a:r>
            <a:r>
              <a:rPr lang="en-US" dirty="0"/>
              <a:t>: </a:t>
            </a:r>
            <a:r>
              <a:rPr lang="en-US" dirty="0" err="1"/>
              <a:t>producerea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intelegerea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dirty="0" err="1"/>
              <a:t>producerea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se </a:t>
            </a:r>
            <a:r>
              <a:rPr lang="en-US" dirty="0" err="1"/>
              <a:t>porneste</a:t>
            </a:r>
            <a:r>
              <a:rPr lang="en-US" dirty="0"/>
              <a:t> de la un </a:t>
            </a:r>
            <a:r>
              <a:rPr lang="en-US" dirty="0" err="1"/>
              <a:t>gand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transpus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propozitie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in final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rostite</a:t>
            </a:r>
            <a:r>
              <a:rPr lang="en-US" dirty="0"/>
              <a:t> </a:t>
            </a:r>
            <a:r>
              <a:rPr lang="en-US" dirty="0" err="1"/>
              <a:t>sunetele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compun</a:t>
            </a:r>
            <a:r>
              <a:rPr lang="en-US" dirty="0"/>
              <a:t> </a:t>
            </a:r>
            <a:r>
              <a:rPr lang="en-US" dirty="0" err="1"/>
              <a:t>propozitia</a:t>
            </a:r>
            <a:r>
              <a:rPr lang="en-US" dirty="0"/>
              <a:t>.</a:t>
            </a:r>
          </a:p>
          <a:p>
            <a:r>
              <a:rPr lang="en-US" dirty="0" err="1"/>
              <a:t>Omul</a:t>
            </a:r>
            <a:r>
              <a:rPr lang="en-US" dirty="0"/>
              <a:t> </a:t>
            </a:r>
            <a:r>
              <a:rPr lang="en-US" dirty="0" err="1"/>
              <a:t>atinge</a:t>
            </a:r>
            <a:r>
              <a:rPr lang="en-US" dirty="0"/>
              <a:t> </a:t>
            </a:r>
            <a:r>
              <a:rPr lang="en-US" dirty="0" err="1"/>
              <a:t>performante</a:t>
            </a:r>
            <a:r>
              <a:rPr lang="en-US" dirty="0"/>
              <a:t> </a:t>
            </a:r>
            <a:r>
              <a:rPr lang="en-US" dirty="0" err="1"/>
              <a:t>inalte</a:t>
            </a:r>
            <a:r>
              <a:rPr lang="en-US" dirty="0"/>
              <a:t> in </a:t>
            </a:r>
            <a:r>
              <a:rPr lang="en-US" dirty="0" err="1"/>
              <a:t>recunoasterea</a:t>
            </a:r>
            <a:r>
              <a:rPr lang="en-US" dirty="0"/>
              <a:t> </a:t>
            </a:r>
            <a:r>
              <a:rPr lang="en-US" dirty="0" err="1"/>
              <a:t>vorbirii.Procesul</a:t>
            </a:r>
            <a:r>
              <a:rPr lang="en-US" dirty="0"/>
              <a:t> </a:t>
            </a:r>
            <a:r>
              <a:rPr lang="en-US" dirty="0" err="1"/>
              <a:t>desfasurandu</a:t>
            </a:r>
            <a:r>
              <a:rPr lang="en-US" dirty="0"/>
              <a:t>-se automatic,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se </a:t>
            </a:r>
            <a:r>
              <a:rPr lang="en-US" dirty="0" err="1"/>
              <a:t>aud</a:t>
            </a:r>
            <a:r>
              <a:rPr lang="en-US" dirty="0"/>
              <a:t> </a:t>
            </a:r>
            <a:r>
              <a:rPr lang="en-US" dirty="0" err="1"/>
              <a:t>cuvintele</a:t>
            </a:r>
            <a:r>
              <a:rPr lang="en-US" dirty="0"/>
              <a:t>, 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realizandu</a:t>
            </a:r>
            <a:r>
              <a:rPr lang="en-US" dirty="0"/>
              <a:t>-se </a:t>
            </a:r>
            <a:r>
              <a:rPr lang="en-US" dirty="0" err="1"/>
              <a:t>fara</a:t>
            </a:r>
            <a:r>
              <a:rPr lang="en-US" dirty="0"/>
              <a:t> effort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putina</a:t>
            </a:r>
            <a:r>
              <a:rPr lang="en-US" dirty="0"/>
              <a:t> </a:t>
            </a:r>
            <a:r>
              <a:rPr lang="en-US" dirty="0" err="1"/>
              <a:t>dificultate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Teoriile</a:t>
            </a:r>
            <a:r>
              <a:rPr lang="en-US" i="1" dirty="0"/>
              <a:t> </a:t>
            </a:r>
            <a:r>
              <a:rPr lang="en-US" i="1" dirty="0" err="1"/>
              <a:t>retelelor</a:t>
            </a:r>
            <a:r>
              <a:rPr lang="en-US" i="1" dirty="0"/>
              <a:t> </a:t>
            </a:r>
            <a:r>
              <a:rPr lang="en-US" i="1" dirty="0" err="1"/>
              <a:t>semantice</a:t>
            </a:r>
            <a:r>
              <a:rPr lang="en-US" i="1" dirty="0"/>
              <a:t> </a:t>
            </a:r>
            <a:r>
              <a:rPr lang="en-US" dirty="0" err="1"/>
              <a:t>tind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explice</a:t>
            </a:r>
            <a:r>
              <a:rPr lang="en-US" dirty="0"/>
              <a:t> in </a:t>
            </a:r>
            <a:r>
              <a:rPr lang="en-US" dirty="0" err="1"/>
              <a:t>prezent</a:t>
            </a:r>
            <a:r>
              <a:rPr lang="en-US" dirty="0"/>
              <a:t>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cuvant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sens.</a:t>
            </a:r>
            <a:endParaRPr lang="en-US" i="1" dirty="0"/>
          </a:p>
          <a:p>
            <a:r>
              <a:rPr lang="en-US" dirty="0" err="1"/>
              <a:t>Investigarea</a:t>
            </a:r>
            <a:r>
              <a:rPr lang="en-US" dirty="0"/>
              <a:t> </a:t>
            </a:r>
            <a:r>
              <a:rPr lang="en-US" dirty="0" err="1"/>
              <a:t>producerii</a:t>
            </a:r>
            <a:r>
              <a:rPr lang="en-US" dirty="0"/>
              <a:t> </a:t>
            </a:r>
            <a:r>
              <a:rPr lang="en-US" dirty="0" err="1"/>
              <a:t>vorbirii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dificila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investigarea</a:t>
            </a:r>
            <a:r>
              <a:rPr lang="en-US" dirty="0"/>
              <a:t> </a:t>
            </a:r>
            <a:r>
              <a:rPr lang="en-US" dirty="0" err="1"/>
              <a:t>intelegerii</a:t>
            </a:r>
            <a:r>
              <a:rPr lang="en-US" dirty="0"/>
              <a:t>.</a:t>
            </a:r>
          </a:p>
          <a:p>
            <a:r>
              <a:rPr lang="en-US" dirty="0" err="1"/>
              <a:t>Procesul</a:t>
            </a:r>
            <a:r>
              <a:rPr lang="en-US" dirty="0"/>
              <a:t> de </a:t>
            </a:r>
            <a:r>
              <a:rPr lang="en-US" dirty="0" err="1"/>
              <a:t>producerea</a:t>
            </a:r>
            <a:r>
              <a:rPr lang="en-US" dirty="0"/>
              <a:t> a </a:t>
            </a:r>
            <a:r>
              <a:rPr lang="en-US" dirty="0" err="1"/>
              <a:t>vorbirii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imparti</a:t>
            </a:r>
            <a:r>
              <a:rPr lang="en-US" dirty="0"/>
              <a:t> in 3 zone: </a:t>
            </a:r>
            <a:r>
              <a:rPr lang="en-US" dirty="0" err="1"/>
              <a:t>conceptualizare</a:t>
            </a:r>
            <a:r>
              <a:rPr lang="en-US" dirty="0"/>
              <a:t>, </a:t>
            </a:r>
            <a:r>
              <a:rPr lang="en-US" dirty="0" err="1"/>
              <a:t>formulare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encodare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componentele</a:t>
            </a:r>
            <a:r>
              <a:rPr lang="en-US" dirty="0"/>
              <a:t> </a:t>
            </a:r>
            <a:r>
              <a:rPr lang="en-US" dirty="0" err="1"/>
              <a:t>vorbirii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Sunetele</a:t>
            </a:r>
            <a:r>
              <a:rPr lang="en-US" dirty="0"/>
              <a:t> </a:t>
            </a:r>
            <a:r>
              <a:rPr lang="en-US" dirty="0" err="1"/>
              <a:t>vorbirii</a:t>
            </a:r>
            <a:endParaRPr lang="en-US" dirty="0"/>
          </a:p>
          <a:p>
            <a:r>
              <a:rPr lang="en-US" dirty="0" err="1"/>
              <a:t>Cuvintele</a:t>
            </a:r>
            <a:endParaRPr lang="en-US" dirty="0"/>
          </a:p>
          <a:p>
            <a:r>
              <a:rPr lang="en-US" dirty="0" err="1"/>
              <a:t>Propozitiile</a:t>
            </a:r>
            <a:endParaRPr lang="en-US" dirty="0"/>
          </a:p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575F6D"/>
      </a:dk2>
      <a:lt2>
        <a:srgbClr val="DBFF05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2189</Words>
  <Application>Microsoft Office PowerPoint</Application>
  <PresentationFormat>Expunere pe ecran (4:3)</PresentationFormat>
  <Paragraphs>123</Paragraphs>
  <Slides>37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Comunicare si limbaj</vt:lpstr>
      <vt:lpstr>Definitie si modele explicative ale comunicarii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Limba si limbajul</vt:lpstr>
      <vt:lpstr>Prezentare PowerPoint</vt:lpstr>
      <vt:lpstr>Prezentare PowerPoint</vt:lpstr>
      <vt:lpstr>Prezentare PowerPoint</vt:lpstr>
      <vt:lpstr>Prezentare PowerPoint</vt:lpstr>
      <vt:lpstr>Prezentare PowerPoint</vt:lpstr>
      <vt:lpstr>Bazele neurofiziologice ale limbajului</vt:lpstr>
      <vt:lpstr>Prezentare PowerPoint</vt:lpstr>
      <vt:lpstr>Prezentare PowerPoint</vt:lpstr>
      <vt:lpstr>Prezentare PowerPoint</vt:lpstr>
      <vt:lpstr>Prezentare PowerPoint</vt:lpstr>
      <vt:lpstr>Producerea si intelegerea limbajului</vt:lpstr>
      <vt:lpstr>Prezentare PowerPoint</vt:lpstr>
      <vt:lpstr>Structura si componentele vorbirii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Comunicare si limbaj</dc:title>
  <dc:creator>Valentina</dc:creator>
  <cp:lastModifiedBy>valentina.constantin@outlook.com</cp:lastModifiedBy>
  <cp:revision>35</cp:revision>
  <dcterms:created xsi:type="dcterms:W3CDTF">2006-08-16T00:00:00Z</dcterms:created>
  <dcterms:modified xsi:type="dcterms:W3CDTF">2020-12-10T18:21:04Z</dcterms:modified>
</cp:coreProperties>
</file>